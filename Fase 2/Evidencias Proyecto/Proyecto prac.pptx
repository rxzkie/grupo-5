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57" r:id="rId3"/>
    <p:sldId id="286" r:id="rId4"/>
    <p:sldId id="258" r:id="rId5"/>
    <p:sldId id="259" r:id="rId6"/>
    <p:sldId id="287" r:id="rId7"/>
    <p:sldId id="285" r:id="rId8"/>
    <p:sldId id="284" r:id="rId9"/>
    <p:sldId id="281" r:id="rId10"/>
    <p:sldId id="282" r:id="rId11"/>
    <p:sldId id="283" r:id="rId12"/>
    <p:sldId id="294" r:id="rId13"/>
    <p:sldId id="271" r:id="rId14"/>
    <p:sldId id="270" r:id="rId15"/>
    <p:sldId id="274" r:id="rId16"/>
    <p:sldId id="289" r:id="rId17"/>
    <p:sldId id="261" r:id="rId18"/>
    <p:sldId id="273" r:id="rId19"/>
    <p:sldId id="277" r:id="rId20"/>
    <p:sldId id="280" r:id="rId21"/>
    <p:sldId id="272" r:id="rId22"/>
    <p:sldId id="276" r:id="rId23"/>
    <p:sldId id="278" r:id="rId24"/>
    <p:sldId id="290" r:id="rId25"/>
    <p:sldId id="263" r:id="rId26"/>
    <p:sldId id="288" r:id="rId27"/>
    <p:sldId id="279" r:id="rId28"/>
    <p:sldId id="291" r:id="rId29"/>
    <p:sldId id="264" r:id="rId30"/>
    <p:sldId id="293" r:id="rId3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Estilo temático 2 - Énfasis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Estilo temático 2 - Énfasis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Escritorio\Nueva%20carpeta%20(2)\BURNDOWN%20CHART%20final,final\Burndown_Sprint0_DIA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E:\Escritorio\Nueva%20carpeta%20(2)\BURNDOWN%20CHART%20final,final\Burndown_Sprint1_DIA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E:\Escritorio\Nueva%20carpeta%20(2)\BURNDOWN%20CHART%20final,final\Burndown_Sprint2_DIAS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E:\Escritorio\Nueva%20carpeta%20(2)\BURNDOWN%20CHART%20final,final\Burndown_Sprint3_DIA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CL"/>
              <a:t>Burndown – Sprint 0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Burndown!$E$2</c:f>
              <c:strCache>
                <c:ptCount val="1"/>
                <c:pt idx="0">
                  <c:v>Ideal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Burndown!$A$3:$A$23</c:f>
              <c:numCache>
                <c:formatCode>General</c:formatCod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numCache>
            </c:numRef>
          </c:cat>
          <c:val>
            <c:numRef>
              <c:f>Burndown!$E$3:$E$23</c:f>
              <c:numCache>
                <c:formatCode>General</c:formatCode>
                <c:ptCount val="21"/>
                <c:pt idx="0">
                  <c:v>24</c:v>
                </c:pt>
                <c:pt idx="1">
                  <c:v>22.799999999999997</c:v>
                </c:pt>
                <c:pt idx="2">
                  <c:v>21.6</c:v>
                </c:pt>
                <c:pt idx="3">
                  <c:v>20.399999999999999</c:v>
                </c:pt>
                <c:pt idx="4">
                  <c:v>19.200000000000003</c:v>
                </c:pt>
                <c:pt idx="5">
                  <c:v>18</c:v>
                </c:pt>
                <c:pt idx="6">
                  <c:v>16.799999999999997</c:v>
                </c:pt>
                <c:pt idx="7">
                  <c:v>15.600000000000001</c:v>
                </c:pt>
                <c:pt idx="8">
                  <c:v>14.399999999999999</c:v>
                </c:pt>
                <c:pt idx="9">
                  <c:v>13.200000000000001</c:v>
                </c:pt>
                <c:pt idx="10">
                  <c:v>12</c:v>
                </c:pt>
                <c:pt idx="11">
                  <c:v>10.799999999999999</c:v>
                </c:pt>
                <c:pt idx="12">
                  <c:v>9.6000000000000014</c:v>
                </c:pt>
                <c:pt idx="13">
                  <c:v>8.3999999999999986</c:v>
                </c:pt>
                <c:pt idx="14">
                  <c:v>7.2000000000000011</c:v>
                </c:pt>
                <c:pt idx="15">
                  <c:v>6</c:v>
                </c:pt>
                <c:pt idx="16">
                  <c:v>4.7999999999999989</c:v>
                </c:pt>
                <c:pt idx="17">
                  <c:v>3.6000000000000005</c:v>
                </c:pt>
                <c:pt idx="18">
                  <c:v>2.3999999999999995</c:v>
                </c:pt>
                <c:pt idx="19">
                  <c:v>1.2000000000000011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13-42E5-B23C-103B8588FD7F}"/>
            </c:ext>
          </c:extLst>
        </c:ser>
        <c:ser>
          <c:idx val="1"/>
          <c:order val="1"/>
          <c:tx>
            <c:strRef>
              <c:f>Burndown!$F$2</c:f>
              <c:strCache>
                <c:ptCount val="1"/>
                <c:pt idx="0">
                  <c:v>Real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Burndown!$A$3:$A$23</c:f>
              <c:numCache>
                <c:formatCode>General</c:formatCod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numCache>
            </c:numRef>
          </c:cat>
          <c:val>
            <c:numRef>
              <c:f>Burndown!$F$3:$F$23</c:f>
              <c:numCache>
                <c:formatCode>General</c:formatCode>
                <c:ptCount val="21"/>
                <c:pt idx="0">
                  <c:v>23</c:v>
                </c:pt>
                <c:pt idx="1">
                  <c:v>22</c:v>
                </c:pt>
                <c:pt idx="2">
                  <c:v>21</c:v>
                </c:pt>
                <c:pt idx="3">
                  <c:v>20</c:v>
                </c:pt>
                <c:pt idx="4">
                  <c:v>19</c:v>
                </c:pt>
                <c:pt idx="5">
                  <c:v>19</c:v>
                </c:pt>
                <c:pt idx="6">
                  <c:v>19</c:v>
                </c:pt>
                <c:pt idx="7">
                  <c:v>18</c:v>
                </c:pt>
                <c:pt idx="8">
                  <c:v>17</c:v>
                </c:pt>
                <c:pt idx="9">
                  <c:v>16</c:v>
                </c:pt>
                <c:pt idx="10">
                  <c:v>15</c:v>
                </c:pt>
                <c:pt idx="11">
                  <c:v>14</c:v>
                </c:pt>
                <c:pt idx="12">
                  <c:v>13</c:v>
                </c:pt>
                <c:pt idx="13">
                  <c:v>13</c:v>
                </c:pt>
                <c:pt idx="14">
                  <c:v>12</c:v>
                </c:pt>
                <c:pt idx="15">
                  <c:v>11</c:v>
                </c:pt>
                <c:pt idx="16">
                  <c:v>10</c:v>
                </c:pt>
                <c:pt idx="17">
                  <c:v>9</c:v>
                </c:pt>
                <c:pt idx="18">
                  <c:v>8</c:v>
                </c:pt>
                <c:pt idx="19">
                  <c:v>7</c:v>
                </c:pt>
                <c:pt idx="20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13-42E5-B23C-103B8588FD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Día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Horas restantes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CL"/>
              <a:t>Burndown – Sprint 1 – Backend Base (Sem 4–5)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Burndown!$E$2</c:f>
              <c:strCache>
                <c:ptCount val="1"/>
                <c:pt idx="0">
                  <c:v>Ideal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Burndown!$A$3:$A$16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cat>
          <c:val>
            <c:numRef>
              <c:f>Burndown!$E$3:$E$16</c:f>
              <c:numCache>
                <c:formatCode>General</c:formatCode>
                <c:ptCount val="14"/>
                <c:pt idx="0">
                  <c:v>6</c:v>
                </c:pt>
                <c:pt idx="1">
                  <c:v>5.5384615384615383</c:v>
                </c:pt>
                <c:pt idx="2">
                  <c:v>5.0769230769230766</c:v>
                </c:pt>
                <c:pt idx="3">
                  <c:v>4.615384615384615</c:v>
                </c:pt>
                <c:pt idx="4">
                  <c:v>4.1538461538461533</c:v>
                </c:pt>
                <c:pt idx="5">
                  <c:v>3.6923076923076925</c:v>
                </c:pt>
                <c:pt idx="6">
                  <c:v>3.2307692307692308</c:v>
                </c:pt>
                <c:pt idx="7">
                  <c:v>2.7692307692307692</c:v>
                </c:pt>
                <c:pt idx="8">
                  <c:v>2.3076923076923075</c:v>
                </c:pt>
                <c:pt idx="9">
                  <c:v>1.8461538461538463</c:v>
                </c:pt>
                <c:pt idx="10">
                  <c:v>1.3846153846153844</c:v>
                </c:pt>
                <c:pt idx="11">
                  <c:v>0.92307692307692313</c:v>
                </c:pt>
                <c:pt idx="12">
                  <c:v>0.46153846153846123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7D-4161-A91B-1240F17D0427}"/>
            </c:ext>
          </c:extLst>
        </c:ser>
        <c:ser>
          <c:idx val="1"/>
          <c:order val="1"/>
          <c:tx>
            <c:strRef>
              <c:f>Burndown!$F$2</c:f>
              <c:strCache>
                <c:ptCount val="1"/>
                <c:pt idx="0">
                  <c:v>Real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Burndown!$A$3:$A$16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cat>
          <c:val>
            <c:numRef>
              <c:f>Burndown!$F$3:$F$16</c:f>
              <c:numCache>
                <c:formatCode>General</c:formatCode>
                <c:ptCount val="14"/>
                <c:pt idx="0">
                  <c:v>6</c:v>
                </c:pt>
                <c:pt idx="1">
                  <c:v>6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B7D-4161-A91B-1240F17D04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Día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Horas restantes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CL"/>
              <a:t>Burndown – Sprint 2 – Frontend (Sem 6–7)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Burndown!$E$2</c:f>
              <c:strCache>
                <c:ptCount val="1"/>
                <c:pt idx="0">
                  <c:v>Ideal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Burndown!$A$3:$A$16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cat>
          <c:val>
            <c:numRef>
              <c:f>Burndown!$E$3:$E$16</c:f>
              <c:numCache>
                <c:formatCode>General</c:formatCode>
                <c:ptCount val="14"/>
                <c:pt idx="0">
                  <c:v>65</c:v>
                </c:pt>
                <c:pt idx="1">
                  <c:v>60</c:v>
                </c:pt>
                <c:pt idx="2">
                  <c:v>55</c:v>
                </c:pt>
                <c:pt idx="3">
                  <c:v>49.999999999999993</c:v>
                </c:pt>
                <c:pt idx="4">
                  <c:v>45</c:v>
                </c:pt>
                <c:pt idx="5">
                  <c:v>40</c:v>
                </c:pt>
                <c:pt idx="6">
                  <c:v>35</c:v>
                </c:pt>
                <c:pt idx="7">
                  <c:v>30</c:v>
                </c:pt>
                <c:pt idx="8">
                  <c:v>24.999999999999996</c:v>
                </c:pt>
                <c:pt idx="9">
                  <c:v>20</c:v>
                </c:pt>
                <c:pt idx="10">
                  <c:v>14.999999999999996</c:v>
                </c:pt>
                <c:pt idx="11">
                  <c:v>10</c:v>
                </c:pt>
                <c:pt idx="12">
                  <c:v>4.9999999999999964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61-4EC7-8F37-7924070217BE}"/>
            </c:ext>
          </c:extLst>
        </c:ser>
        <c:ser>
          <c:idx val="1"/>
          <c:order val="1"/>
          <c:tx>
            <c:strRef>
              <c:f>Burndown!$F$2</c:f>
              <c:strCache>
                <c:ptCount val="1"/>
                <c:pt idx="0">
                  <c:v>Real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Burndown!$A$3:$A$16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cat>
          <c:val>
            <c:numRef>
              <c:f>Burndown!$F$3:$F$16</c:f>
              <c:numCache>
                <c:formatCode>General</c:formatCode>
                <c:ptCount val="14"/>
                <c:pt idx="0">
                  <c:v>62</c:v>
                </c:pt>
                <c:pt idx="1">
                  <c:v>59</c:v>
                </c:pt>
                <c:pt idx="2">
                  <c:v>56</c:v>
                </c:pt>
                <c:pt idx="3">
                  <c:v>56</c:v>
                </c:pt>
                <c:pt idx="4">
                  <c:v>56</c:v>
                </c:pt>
                <c:pt idx="5">
                  <c:v>56</c:v>
                </c:pt>
                <c:pt idx="6">
                  <c:v>56</c:v>
                </c:pt>
                <c:pt idx="7">
                  <c:v>48</c:v>
                </c:pt>
                <c:pt idx="8">
                  <c:v>40</c:v>
                </c:pt>
                <c:pt idx="9">
                  <c:v>32</c:v>
                </c:pt>
                <c:pt idx="10">
                  <c:v>24</c:v>
                </c:pt>
                <c:pt idx="11">
                  <c:v>16</c:v>
                </c:pt>
                <c:pt idx="12">
                  <c:v>8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61-4EC7-8F37-792407021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Día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Horas restantes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s-CL"/>
              <a:t>Burndown – Sprint 3 – Integración (Sem 8–10)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Burndown!$E$2</c:f>
              <c:strCache>
                <c:ptCount val="1"/>
                <c:pt idx="0">
                  <c:v>Ideal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Burndown!$A$3:$A$23</c:f>
              <c:numCache>
                <c:formatCode>General</c:formatCod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numCache>
            </c:numRef>
          </c:cat>
          <c:val>
            <c:numRef>
              <c:f>Burndown!$E$3:$E$23</c:f>
              <c:numCache>
                <c:formatCode>General</c:formatCode>
                <c:ptCount val="21"/>
                <c:pt idx="0">
                  <c:v>55</c:v>
                </c:pt>
                <c:pt idx="1">
                  <c:v>52.25</c:v>
                </c:pt>
                <c:pt idx="2">
                  <c:v>49.5</c:v>
                </c:pt>
                <c:pt idx="3">
                  <c:v>46.75</c:v>
                </c:pt>
                <c:pt idx="4">
                  <c:v>44</c:v>
                </c:pt>
                <c:pt idx="5">
                  <c:v>41.25</c:v>
                </c:pt>
                <c:pt idx="6">
                  <c:v>38.5</c:v>
                </c:pt>
                <c:pt idx="7">
                  <c:v>35.75</c:v>
                </c:pt>
                <c:pt idx="8">
                  <c:v>33</c:v>
                </c:pt>
                <c:pt idx="9">
                  <c:v>30.250000000000004</c:v>
                </c:pt>
                <c:pt idx="10">
                  <c:v>27.5</c:v>
                </c:pt>
                <c:pt idx="11">
                  <c:v>24.749999999999996</c:v>
                </c:pt>
                <c:pt idx="12">
                  <c:v>22</c:v>
                </c:pt>
                <c:pt idx="13">
                  <c:v>19.25</c:v>
                </c:pt>
                <c:pt idx="14">
                  <c:v>16.500000000000004</c:v>
                </c:pt>
                <c:pt idx="15">
                  <c:v>13.75</c:v>
                </c:pt>
                <c:pt idx="16">
                  <c:v>10.999999999999998</c:v>
                </c:pt>
                <c:pt idx="17">
                  <c:v>8.2500000000000018</c:v>
                </c:pt>
                <c:pt idx="18">
                  <c:v>5.4999999999999991</c:v>
                </c:pt>
                <c:pt idx="19">
                  <c:v>2.7500000000000027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61-4C8C-BD69-8D7DC508DDFD}"/>
            </c:ext>
          </c:extLst>
        </c:ser>
        <c:ser>
          <c:idx val="1"/>
          <c:order val="1"/>
          <c:tx>
            <c:strRef>
              <c:f>Burndown!$F$2</c:f>
              <c:strCache>
                <c:ptCount val="1"/>
                <c:pt idx="0">
                  <c:v>Real restante</c:v>
                </c:pt>
              </c:strCache>
            </c:strRef>
          </c:tx>
          <c:spPr>
            <a:ln>
              <a:prstDash val="solid"/>
            </a:ln>
          </c:spPr>
          <c:marker>
            <c:symbol val="none"/>
          </c:marker>
          <c:cat>
            <c:numRef>
              <c:f>Burndown!$A$3:$A$23</c:f>
              <c:numCache>
                <c:formatCode>General</c:formatCod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numCache>
            </c:numRef>
          </c:cat>
          <c:val>
            <c:numRef>
              <c:f>Burndown!$F$3:$F$23</c:f>
              <c:numCache>
                <c:formatCode>General</c:formatCode>
                <c:ptCount val="21"/>
                <c:pt idx="0">
                  <c:v>54</c:v>
                </c:pt>
                <c:pt idx="1">
                  <c:v>53</c:v>
                </c:pt>
                <c:pt idx="2">
                  <c:v>52</c:v>
                </c:pt>
                <c:pt idx="3">
                  <c:v>51</c:v>
                </c:pt>
                <c:pt idx="4">
                  <c:v>50</c:v>
                </c:pt>
                <c:pt idx="5">
                  <c:v>49</c:v>
                </c:pt>
                <c:pt idx="6">
                  <c:v>49</c:v>
                </c:pt>
                <c:pt idx="7">
                  <c:v>43</c:v>
                </c:pt>
                <c:pt idx="8">
                  <c:v>36</c:v>
                </c:pt>
                <c:pt idx="9">
                  <c:v>28</c:v>
                </c:pt>
                <c:pt idx="10">
                  <c:v>21</c:v>
                </c:pt>
                <c:pt idx="11">
                  <c:v>15</c:v>
                </c:pt>
                <c:pt idx="12">
                  <c:v>8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61-4C8C-BD69-8D7DC508DD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Día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0"/>
        <c:crosses val="autoZero"/>
        <c:auto val="0"/>
        <c:lblAlgn val="ctr"/>
        <c:lblOffset val="100"/>
        <c:noMultiLvlLbl val="0"/>
      </c:catAx>
      <c:valAx>
        <c:axId val="1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s-CL"/>
                  <a:t>Horas restantes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991C89-19AA-4F59-BE2D-728B2AAF5F67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DB62021-1FE1-4726-852A-D6CA88264B04}">
      <dgm:prSet/>
      <dgm:spPr/>
      <dgm:t>
        <a:bodyPr/>
        <a:lstStyle/>
        <a:p>
          <a:r>
            <a:rPr lang="es-MX"/>
            <a:t>El problema principal que enfrenta este proyecto está relacionado con la falta de comunicación confiable durante catástrofes naturales en Chile. Este desafío surge porque, ante emergencias como sismos, tsunamis, aluviones o erupciones volcánicas, suelen producirse cortes de electricidad, internet y telefonía móvil, dejando a comunidades enteras incomunicadas.</a:t>
          </a:r>
          <a:endParaRPr lang="en-US"/>
        </a:p>
      </dgm:t>
    </dgm:pt>
    <dgm:pt modelId="{AA755C30-D672-491E-8489-7D2F79E51E8C}" type="parTrans" cxnId="{A0F4C505-09CA-44E4-B1E2-9021266FE5BC}">
      <dgm:prSet/>
      <dgm:spPr/>
      <dgm:t>
        <a:bodyPr/>
        <a:lstStyle/>
        <a:p>
          <a:endParaRPr lang="en-US"/>
        </a:p>
      </dgm:t>
    </dgm:pt>
    <dgm:pt modelId="{D5451F48-0BDF-4C36-A7BF-3001BA1C6378}" type="sibTrans" cxnId="{A0F4C505-09CA-44E4-B1E2-9021266FE5BC}">
      <dgm:prSet/>
      <dgm:spPr/>
      <dgm:t>
        <a:bodyPr/>
        <a:lstStyle/>
        <a:p>
          <a:endParaRPr lang="en-US"/>
        </a:p>
      </dgm:t>
    </dgm:pt>
    <dgm:pt modelId="{1FA1D7B9-3FDC-45BF-9332-75CAD97BDCE2}">
      <dgm:prSet/>
      <dgm:spPr/>
      <dgm:t>
        <a:bodyPr/>
        <a:lstStyle/>
        <a:p>
          <a:r>
            <a:rPr lang="es-MX"/>
            <a:t>Además, la dependencia de los sistemas de alerta oficiales, que requieren infraestructura activa, compromete la rapidez y alcance de la información crítica, lo que puede generar descoordinación, retrasos en la respuesta y mayor vulnerabilidad para la población afectada.</a:t>
          </a:r>
          <a:endParaRPr lang="en-US"/>
        </a:p>
      </dgm:t>
    </dgm:pt>
    <dgm:pt modelId="{6AA6EFFC-ADC5-4AAA-9B2B-959EECCE5C12}" type="parTrans" cxnId="{C2DD0EF7-2F73-4BFD-BDFC-885323EAA3F6}">
      <dgm:prSet/>
      <dgm:spPr/>
      <dgm:t>
        <a:bodyPr/>
        <a:lstStyle/>
        <a:p>
          <a:endParaRPr lang="en-US"/>
        </a:p>
      </dgm:t>
    </dgm:pt>
    <dgm:pt modelId="{D3C7329B-42A5-4A3E-8894-C45AAB27E5F2}" type="sibTrans" cxnId="{C2DD0EF7-2F73-4BFD-BDFC-885323EAA3F6}">
      <dgm:prSet/>
      <dgm:spPr/>
      <dgm:t>
        <a:bodyPr/>
        <a:lstStyle/>
        <a:p>
          <a:endParaRPr lang="en-US"/>
        </a:p>
      </dgm:t>
    </dgm:pt>
    <dgm:pt modelId="{910AB431-F342-40B6-8359-A4CB9BD8BF6C}" type="pres">
      <dgm:prSet presAssocID="{E8991C89-19AA-4F59-BE2D-728B2AAF5F67}" presName="outerComposite" presStyleCnt="0">
        <dgm:presLayoutVars>
          <dgm:chMax val="5"/>
          <dgm:dir/>
          <dgm:resizeHandles val="exact"/>
        </dgm:presLayoutVars>
      </dgm:prSet>
      <dgm:spPr/>
    </dgm:pt>
    <dgm:pt modelId="{3709693F-6283-466B-A167-ACA110D1C901}" type="pres">
      <dgm:prSet presAssocID="{E8991C89-19AA-4F59-BE2D-728B2AAF5F67}" presName="dummyMaxCanvas" presStyleCnt="0">
        <dgm:presLayoutVars/>
      </dgm:prSet>
      <dgm:spPr/>
    </dgm:pt>
    <dgm:pt modelId="{8343A41D-D772-4C6A-BEC3-8540339310F7}" type="pres">
      <dgm:prSet presAssocID="{E8991C89-19AA-4F59-BE2D-728B2AAF5F67}" presName="TwoNodes_1" presStyleLbl="node1" presStyleIdx="0" presStyleCnt="2">
        <dgm:presLayoutVars>
          <dgm:bulletEnabled val="1"/>
        </dgm:presLayoutVars>
      </dgm:prSet>
      <dgm:spPr/>
    </dgm:pt>
    <dgm:pt modelId="{8E04B3D4-F2B0-471C-99D0-1CC1C23FB35F}" type="pres">
      <dgm:prSet presAssocID="{E8991C89-19AA-4F59-BE2D-728B2AAF5F67}" presName="TwoNodes_2" presStyleLbl="node1" presStyleIdx="1" presStyleCnt="2">
        <dgm:presLayoutVars>
          <dgm:bulletEnabled val="1"/>
        </dgm:presLayoutVars>
      </dgm:prSet>
      <dgm:spPr/>
    </dgm:pt>
    <dgm:pt modelId="{027479D2-A8A8-41F2-956F-AEC2F98BBDA1}" type="pres">
      <dgm:prSet presAssocID="{E8991C89-19AA-4F59-BE2D-728B2AAF5F67}" presName="TwoConn_1-2" presStyleLbl="fgAccFollowNode1" presStyleIdx="0" presStyleCnt="1">
        <dgm:presLayoutVars>
          <dgm:bulletEnabled val="1"/>
        </dgm:presLayoutVars>
      </dgm:prSet>
      <dgm:spPr/>
    </dgm:pt>
    <dgm:pt modelId="{0F79E487-A27C-418D-A2B7-E7CE12DD159F}" type="pres">
      <dgm:prSet presAssocID="{E8991C89-19AA-4F59-BE2D-728B2AAF5F67}" presName="TwoNodes_1_text" presStyleLbl="node1" presStyleIdx="1" presStyleCnt="2">
        <dgm:presLayoutVars>
          <dgm:bulletEnabled val="1"/>
        </dgm:presLayoutVars>
      </dgm:prSet>
      <dgm:spPr/>
    </dgm:pt>
    <dgm:pt modelId="{9B9A8485-E8ED-4E74-899C-C328C2368C24}" type="pres">
      <dgm:prSet presAssocID="{E8991C89-19AA-4F59-BE2D-728B2AAF5F67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A0F4C505-09CA-44E4-B1E2-9021266FE5BC}" srcId="{E8991C89-19AA-4F59-BE2D-728B2AAF5F67}" destId="{CDB62021-1FE1-4726-852A-D6CA88264B04}" srcOrd="0" destOrd="0" parTransId="{AA755C30-D672-491E-8489-7D2F79E51E8C}" sibTransId="{D5451F48-0BDF-4C36-A7BF-3001BA1C6378}"/>
    <dgm:cxn modelId="{FF9E1E13-75F0-42FC-AE79-6F36C3699C02}" type="presOf" srcId="{1FA1D7B9-3FDC-45BF-9332-75CAD97BDCE2}" destId="{9B9A8485-E8ED-4E74-899C-C328C2368C24}" srcOrd="1" destOrd="0" presId="urn:microsoft.com/office/officeart/2005/8/layout/vProcess5"/>
    <dgm:cxn modelId="{B17E1947-5436-467A-97E4-8621723661BE}" type="presOf" srcId="{1FA1D7B9-3FDC-45BF-9332-75CAD97BDCE2}" destId="{8E04B3D4-F2B0-471C-99D0-1CC1C23FB35F}" srcOrd="0" destOrd="0" presId="urn:microsoft.com/office/officeart/2005/8/layout/vProcess5"/>
    <dgm:cxn modelId="{C133A183-7443-4B7C-90D9-EE81EFA80C96}" type="presOf" srcId="{CDB62021-1FE1-4726-852A-D6CA88264B04}" destId="{0F79E487-A27C-418D-A2B7-E7CE12DD159F}" srcOrd="1" destOrd="0" presId="urn:microsoft.com/office/officeart/2005/8/layout/vProcess5"/>
    <dgm:cxn modelId="{9211729D-25E9-4339-A79A-6F57C8C2D177}" type="presOf" srcId="{CDB62021-1FE1-4726-852A-D6CA88264B04}" destId="{8343A41D-D772-4C6A-BEC3-8540339310F7}" srcOrd="0" destOrd="0" presId="urn:microsoft.com/office/officeart/2005/8/layout/vProcess5"/>
    <dgm:cxn modelId="{0CD7CCA9-5CAC-4109-A513-595D97FEFA43}" type="presOf" srcId="{E8991C89-19AA-4F59-BE2D-728B2AAF5F67}" destId="{910AB431-F342-40B6-8359-A4CB9BD8BF6C}" srcOrd="0" destOrd="0" presId="urn:microsoft.com/office/officeart/2005/8/layout/vProcess5"/>
    <dgm:cxn modelId="{C2DD0EF7-2F73-4BFD-BDFC-885323EAA3F6}" srcId="{E8991C89-19AA-4F59-BE2D-728B2AAF5F67}" destId="{1FA1D7B9-3FDC-45BF-9332-75CAD97BDCE2}" srcOrd="1" destOrd="0" parTransId="{6AA6EFFC-ADC5-4AAA-9B2B-959EECCE5C12}" sibTransId="{D3C7329B-42A5-4A3E-8894-C45AAB27E5F2}"/>
    <dgm:cxn modelId="{CB5735FA-E466-4CAA-90A1-3A0CB3843CCC}" type="presOf" srcId="{D5451F48-0BDF-4C36-A7BF-3001BA1C6378}" destId="{027479D2-A8A8-41F2-956F-AEC2F98BBDA1}" srcOrd="0" destOrd="0" presId="urn:microsoft.com/office/officeart/2005/8/layout/vProcess5"/>
    <dgm:cxn modelId="{29799F08-DB7F-41CD-A720-08EAD4F708D0}" type="presParOf" srcId="{910AB431-F342-40B6-8359-A4CB9BD8BF6C}" destId="{3709693F-6283-466B-A167-ACA110D1C901}" srcOrd="0" destOrd="0" presId="urn:microsoft.com/office/officeart/2005/8/layout/vProcess5"/>
    <dgm:cxn modelId="{0063C2B9-06FC-4175-9189-2E5FA28393E9}" type="presParOf" srcId="{910AB431-F342-40B6-8359-A4CB9BD8BF6C}" destId="{8343A41D-D772-4C6A-BEC3-8540339310F7}" srcOrd="1" destOrd="0" presId="urn:microsoft.com/office/officeart/2005/8/layout/vProcess5"/>
    <dgm:cxn modelId="{435B0B07-B376-4BE8-9F4A-CBC8998B0DEA}" type="presParOf" srcId="{910AB431-F342-40B6-8359-A4CB9BD8BF6C}" destId="{8E04B3D4-F2B0-471C-99D0-1CC1C23FB35F}" srcOrd="2" destOrd="0" presId="urn:microsoft.com/office/officeart/2005/8/layout/vProcess5"/>
    <dgm:cxn modelId="{F956DFEC-C660-4BB6-A073-0252BDDA04D6}" type="presParOf" srcId="{910AB431-F342-40B6-8359-A4CB9BD8BF6C}" destId="{027479D2-A8A8-41F2-956F-AEC2F98BBDA1}" srcOrd="3" destOrd="0" presId="urn:microsoft.com/office/officeart/2005/8/layout/vProcess5"/>
    <dgm:cxn modelId="{CE4C73D6-1691-4589-98BE-8CF920E309A6}" type="presParOf" srcId="{910AB431-F342-40B6-8359-A4CB9BD8BF6C}" destId="{0F79E487-A27C-418D-A2B7-E7CE12DD159F}" srcOrd="4" destOrd="0" presId="urn:microsoft.com/office/officeart/2005/8/layout/vProcess5"/>
    <dgm:cxn modelId="{890B8FA6-8708-4543-A6D4-308400ADA8F9}" type="presParOf" srcId="{910AB431-F342-40B6-8359-A4CB9BD8BF6C}" destId="{9B9A8485-E8ED-4E74-899C-C328C2368C24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D53BAD-FC14-4AFC-995B-F3551638C83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5AFCD5-1D7B-4C3C-BE07-1A5CD6B1A869}">
      <dgm:prSet/>
      <dgm:spPr/>
      <dgm:t>
        <a:bodyPr/>
        <a:lstStyle/>
        <a:p>
          <a:r>
            <a:rPr lang="es-MX"/>
            <a:t>👤 </a:t>
          </a:r>
          <a:r>
            <a:rPr lang="es-MX" b="1"/>
            <a:t>Ciudadano / Usuario:</a:t>
          </a:r>
          <a:br>
            <a:rPr lang="es-MX"/>
          </a:br>
          <a:r>
            <a:rPr lang="es-MX"/>
            <a:t>Necesita recibir alertas confiables sin conexión para proteger a su familia.</a:t>
          </a:r>
          <a:br>
            <a:rPr lang="es-MX"/>
          </a:br>
          <a:r>
            <a:rPr lang="es-MX"/>
            <a:t>➡️ </a:t>
          </a:r>
          <a:r>
            <a:rPr lang="es-MX" i="1"/>
            <a:t>Comunicación oportuna ante emergencias.</a:t>
          </a:r>
          <a:endParaRPr lang="en-US"/>
        </a:p>
      </dgm:t>
    </dgm:pt>
    <dgm:pt modelId="{6DF30CBB-928D-4AB6-A68A-31E4D0FB99D8}" type="parTrans" cxnId="{F78597F8-DC32-4DA8-A721-956FDACE4872}">
      <dgm:prSet/>
      <dgm:spPr/>
      <dgm:t>
        <a:bodyPr/>
        <a:lstStyle/>
        <a:p>
          <a:endParaRPr lang="en-US"/>
        </a:p>
      </dgm:t>
    </dgm:pt>
    <dgm:pt modelId="{2438662E-0C14-4F67-AE3E-EF30F714386C}" type="sibTrans" cxnId="{F78597F8-DC32-4DA8-A721-956FDACE4872}">
      <dgm:prSet/>
      <dgm:spPr/>
      <dgm:t>
        <a:bodyPr/>
        <a:lstStyle/>
        <a:p>
          <a:endParaRPr lang="en-US"/>
        </a:p>
      </dgm:t>
    </dgm:pt>
    <dgm:pt modelId="{A39C9D5F-CB77-46D1-9A6B-C9C002CF486E}">
      <dgm:prSet/>
      <dgm:spPr/>
      <dgm:t>
        <a:bodyPr/>
        <a:lstStyle/>
        <a:p>
          <a:r>
            <a:rPr lang="es-MX"/>
            <a:t>🏛️ </a:t>
          </a:r>
          <a:r>
            <a:rPr lang="es-MX" b="1"/>
            <a:t>Autoridad / Administrador:</a:t>
          </a:r>
          <a:br>
            <a:rPr lang="es-MX"/>
          </a:br>
          <a:r>
            <a:rPr lang="es-MX"/>
            <a:t>Requiere centralizar reportes y difundir información oficial.</a:t>
          </a:r>
          <a:br>
            <a:rPr lang="es-MX"/>
          </a:br>
          <a:r>
            <a:rPr lang="es-MX"/>
            <a:t>➡️ </a:t>
          </a:r>
          <a:r>
            <a:rPr lang="es-MX" i="1"/>
            <a:t>Gestión y coordinación eficiente en tiempo real.</a:t>
          </a:r>
          <a:endParaRPr lang="en-US"/>
        </a:p>
      </dgm:t>
    </dgm:pt>
    <dgm:pt modelId="{A96DBDA7-B047-48C5-8791-E974D313374A}" type="parTrans" cxnId="{4F738C7A-9551-4676-8151-A80AC8F7187F}">
      <dgm:prSet/>
      <dgm:spPr/>
      <dgm:t>
        <a:bodyPr/>
        <a:lstStyle/>
        <a:p>
          <a:endParaRPr lang="en-US"/>
        </a:p>
      </dgm:t>
    </dgm:pt>
    <dgm:pt modelId="{975724DE-A3F2-490A-B30F-D4EB995C4A6F}" type="sibTrans" cxnId="{4F738C7A-9551-4676-8151-A80AC8F7187F}">
      <dgm:prSet/>
      <dgm:spPr/>
      <dgm:t>
        <a:bodyPr/>
        <a:lstStyle/>
        <a:p>
          <a:endParaRPr lang="en-US"/>
        </a:p>
      </dgm:t>
    </dgm:pt>
    <dgm:pt modelId="{F5D7F5FC-6AA1-48DE-B326-5BAE30E2E971}">
      <dgm:prSet/>
      <dgm:spPr/>
      <dgm:t>
        <a:bodyPr/>
        <a:lstStyle/>
        <a:p>
          <a:r>
            <a:rPr lang="es-MX"/>
            <a:t>👪 </a:t>
          </a:r>
          <a:r>
            <a:rPr lang="es-MX" b="1"/>
            <a:t>Familiares a Distancia:</a:t>
          </a:r>
          <a:br>
            <a:rPr lang="es-MX"/>
          </a:br>
          <a:r>
            <a:rPr lang="es-MX"/>
            <a:t>Buscan comunicarse con seres queridos sin conectividad.</a:t>
          </a:r>
          <a:br>
            <a:rPr lang="es-MX"/>
          </a:br>
          <a:r>
            <a:rPr lang="es-MX"/>
            <a:t>➡️ </a:t>
          </a:r>
          <a:r>
            <a:rPr lang="es-MX" i="1"/>
            <a:t>Reducción de incertidumbre y conexión familiar en crisis.</a:t>
          </a:r>
          <a:endParaRPr lang="en-US"/>
        </a:p>
      </dgm:t>
    </dgm:pt>
    <dgm:pt modelId="{B7301126-F7B6-439D-8880-8C39AF77FFE8}" type="parTrans" cxnId="{E8EF92CE-E362-4DFE-9668-57FD802C99C3}">
      <dgm:prSet/>
      <dgm:spPr/>
      <dgm:t>
        <a:bodyPr/>
        <a:lstStyle/>
        <a:p>
          <a:endParaRPr lang="en-US"/>
        </a:p>
      </dgm:t>
    </dgm:pt>
    <dgm:pt modelId="{739BA9C4-11B6-4668-AD9F-E3AE996940B1}" type="sibTrans" cxnId="{E8EF92CE-E362-4DFE-9668-57FD802C99C3}">
      <dgm:prSet/>
      <dgm:spPr/>
      <dgm:t>
        <a:bodyPr/>
        <a:lstStyle/>
        <a:p>
          <a:endParaRPr lang="en-US"/>
        </a:p>
      </dgm:t>
    </dgm:pt>
    <dgm:pt modelId="{06228532-63D0-4CE2-8630-8D90354191F3}" type="pres">
      <dgm:prSet presAssocID="{9AD53BAD-FC14-4AFC-995B-F3551638C835}" presName="linear" presStyleCnt="0">
        <dgm:presLayoutVars>
          <dgm:animLvl val="lvl"/>
          <dgm:resizeHandles val="exact"/>
        </dgm:presLayoutVars>
      </dgm:prSet>
      <dgm:spPr/>
    </dgm:pt>
    <dgm:pt modelId="{C0ADF77D-DB93-4F24-928F-10056B9D7061}" type="pres">
      <dgm:prSet presAssocID="{A25AFCD5-1D7B-4C3C-BE07-1A5CD6B1A86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95D6EE7-BF15-4D92-99DD-83447714783D}" type="pres">
      <dgm:prSet presAssocID="{2438662E-0C14-4F67-AE3E-EF30F714386C}" presName="spacer" presStyleCnt="0"/>
      <dgm:spPr/>
    </dgm:pt>
    <dgm:pt modelId="{1737849C-6BC9-4C04-90B6-603555A91FB0}" type="pres">
      <dgm:prSet presAssocID="{A39C9D5F-CB77-46D1-9A6B-C9C002CF486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9853885-861A-43A4-9AF0-D9B8EC6298CC}" type="pres">
      <dgm:prSet presAssocID="{975724DE-A3F2-490A-B30F-D4EB995C4A6F}" presName="spacer" presStyleCnt="0"/>
      <dgm:spPr/>
    </dgm:pt>
    <dgm:pt modelId="{C7CD54AD-A52D-49BC-BD30-B6A76291D4E1}" type="pres">
      <dgm:prSet presAssocID="{F5D7F5FC-6AA1-48DE-B326-5BAE30E2E97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E690D0C-A1E4-497D-B55D-F0F7BCC7B1EC}" type="presOf" srcId="{A39C9D5F-CB77-46D1-9A6B-C9C002CF486E}" destId="{1737849C-6BC9-4C04-90B6-603555A91FB0}" srcOrd="0" destOrd="0" presId="urn:microsoft.com/office/officeart/2005/8/layout/vList2"/>
    <dgm:cxn modelId="{47846410-AE1E-4AA7-80DA-81C08960F66D}" type="presOf" srcId="{9AD53BAD-FC14-4AFC-995B-F3551638C835}" destId="{06228532-63D0-4CE2-8630-8D90354191F3}" srcOrd="0" destOrd="0" presId="urn:microsoft.com/office/officeart/2005/8/layout/vList2"/>
    <dgm:cxn modelId="{1101F76A-E22C-47F7-8AB4-3FE5A9555BA4}" type="presOf" srcId="{A25AFCD5-1D7B-4C3C-BE07-1A5CD6B1A869}" destId="{C0ADF77D-DB93-4F24-928F-10056B9D7061}" srcOrd="0" destOrd="0" presId="urn:microsoft.com/office/officeart/2005/8/layout/vList2"/>
    <dgm:cxn modelId="{4F738C7A-9551-4676-8151-A80AC8F7187F}" srcId="{9AD53BAD-FC14-4AFC-995B-F3551638C835}" destId="{A39C9D5F-CB77-46D1-9A6B-C9C002CF486E}" srcOrd="1" destOrd="0" parTransId="{A96DBDA7-B047-48C5-8791-E974D313374A}" sibTransId="{975724DE-A3F2-490A-B30F-D4EB995C4A6F}"/>
    <dgm:cxn modelId="{E8EF92CE-E362-4DFE-9668-57FD802C99C3}" srcId="{9AD53BAD-FC14-4AFC-995B-F3551638C835}" destId="{F5D7F5FC-6AA1-48DE-B326-5BAE30E2E971}" srcOrd="2" destOrd="0" parTransId="{B7301126-F7B6-439D-8880-8C39AF77FFE8}" sibTransId="{739BA9C4-11B6-4668-AD9F-E3AE996940B1}"/>
    <dgm:cxn modelId="{3588F5E8-A419-4D7A-9EE1-312CACC9D897}" type="presOf" srcId="{F5D7F5FC-6AA1-48DE-B326-5BAE30E2E971}" destId="{C7CD54AD-A52D-49BC-BD30-B6A76291D4E1}" srcOrd="0" destOrd="0" presId="urn:microsoft.com/office/officeart/2005/8/layout/vList2"/>
    <dgm:cxn modelId="{F78597F8-DC32-4DA8-A721-956FDACE4872}" srcId="{9AD53BAD-FC14-4AFC-995B-F3551638C835}" destId="{A25AFCD5-1D7B-4C3C-BE07-1A5CD6B1A869}" srcOrd="0" destOrd="0" parTransId="{6DF30CBB-928D-4AB6-A68A-31E4D0FB99D8}" sibTransId="{2438662E-0C14-4F67-AE3E-EF30F714386C}"/>
    <dgm:cxn modelId="{409DC7E2-9ADE-4175-9F11-6330D1EC4B36}" type="presParOf" srcId="{06228532-63D0-4CE2-8630-8D90354191F3}" destId="{C0ADF77D-DB93-4F24-928F-10056B9D7061}" srcOrd="0" destOrd="0" presId="urn:microsoft.com/office/officeart/2005/8/layout/vList2"/>
    <dgm:cxn modelId="{B4B19FB0-3501-4FCC-8D67-4A2F3EAB6ED3}" type="presParOf" srcId="{06228532-63D0-4CE2-8630-8D90354191F3}" destId="{D95D6EE7-BF15-4D92-99DD-83447714783D}" srcOrd="1" destOrd="0" presId="urn:microsoft.com/office/officeart/2005/8/layout/vList2"/>
    <dgm:cxn modelId="{25FDC85E-86DE-4E9B-AF56-2D8E7B558437}" type="presParOf" srcId="{06228532-63D0-4CE2-8630-8D90354191F3}" destId="{1737849C-6BC9-4C04-90B6-603555A91FB0}" srcOrd="2" destOrd="0" presId="urn:microsoft.com/office/officeart/2005/8/layout/vList2"/>
    <dgm:cxn modelId="{B638B6D7-575E-4A5B-AD37-EDBAD504999E}" type="presParOf" srcId="{06228532-63D0-4CE2-8630-8D90354191F3}" destId="{09853885-861A-43A4-9AF0-D9B8EC6298CC}" srcOrd="3" destOrd="0" presId="urn:microsoft.com/office/officeart/2005/8/layout/vList2"/>
    <dgm:cxn modelId="{D395E7FF-6AAD-4A1C-A3D5-86450DBF5CCE}" type="presParOf" srcId="{06228532-63D0-4CE2-8630-8D90354191F3}" destId="{C7CD54AD-A52D-49BC-BD30-B6A76291D4E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43A41D-D772-4C6A-BEC3-8540339310F7}">
      <dsp:nvSpPr>
        <dsp:cNvPr id="0" name=""/>
        <dsp:cNvSpPr/>
      </dsp:nvSpPr>
      <dsp:spPr>
        <a:xfrm>
          <a:off x="0" y="0"/>
          <a:ext cx="9288654" cy="18867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El problema principal que enfrenta este proyecto está relacionado con la falta de comunicación confiable durante catástrofes naturales en Chile. Este desafío surge porque, ante emergencias como sismos, tsunamis, aluviones o erupciones volcánicas, suelen producirse cortes de electricidad, internet y telefonía móvil, dejando a comunidades enteras incomunicadas.</a:t>
          </a:r>
          <a:endParaRPr lang="en-US" sz="1900" kern="1200"/>
        </a:p>
      </dsp:txBody>
      <dsp:txXfrm>
        <a:off x="55261" y="55261"/>
        <a:ext cx="7338539" cy="1776240"/>
      </dsp:txXfrm>
    </dsp:sp>
    <dsp:sp modelId="{8E04B3D4-F2B0-471C-99D0-1CC1C23FB35F}">
      <dsp:nvSpPr>
        <dsp:cNvPr id="0" name=""/>
        <dsp:cNvSpPr/>
      </dsp:nvSpPr>
      <dsp:spPr>
        <a:xfrm>
          <a:off x="1639174" y="2306042"/>
          <a:ext cx="9288654" cy="18867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Además, la dependencia de los sistemas de alerta oficiales, que requieren infraestructura activa, compromete la rapidez y alcance de la información crítica, lo que puede generar descoordinación, retrasos en la respuesta y mayor vulnerabilidad para la población afectada.</a:t>
          </a:r>
          <a:endParaRPr lang="en-US" sz="1900" kern="1200"/>
        </a:p>
      </dsp:txBody>
      <dsp:txXfrm>
        <a:off x="1694435" y="2361303"/>
        <a:ext cx="6312562" cy="1776240"/>
      </dsp:txXfrm>
    </dsp:sp>
    <dsp:sp modelId="{027479D2-A8A8-41F2-956F-AEC2F98BBDA1}">
      <dsp:nvSpPr>
        <dsp:cNvPr id="0" name=""/>
        <dsp:cNvSpPr/>
      </dsp:nvSpPr>
      <dsp:spPr>
        <a:xfrm>
          <a:off x="8062259" y="1483204"/>
          <a:ext cx="1226395" cy="12263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338198" y="1483204"/>
        <a:ext cx="674517" cy="922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DF77D-DB93-4F24-928F-10056B9D7061}">
      <dsp:nvSpPr>
        <dsp:cNvPr id="0" name=""/>
        <dsp:cNvSpPr/>
      </dsp:nvSpPr>
      <dsp:spPr>
        <a:xfrm>
          <a:off x="0" y="141958"/>
          <a:ext cx="5372501" cy="1198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👤 </a:t>
          </a:r>
          <a:r>
            <a:rPr lang="es-MX" sz="1600" b="1" kern="1200"/>
            <a:t>Ciudadano / Usuario:</a:t>
          </a:r>
          <a:br>
            <a:rPr lang="es-MX" sz="1600" kern="1200"/>
          </a:br>
          <a:r>
            <a:rPr lang="es-MX" sz="1600" kern="1200"/>
            <a:t>Necesita recibir alertas confiables sin conexión para proteger a su familia.</a:t>
          </a:r>
          <a:br>
            <a:rPr lang="es-MX" sz="1600" kern="1200"/>
          </a:br>
          <a:r>
            <a:rPr lang="es-MX" sz="1600" kern="1200"/>
            <a:t>➡️ </a:t>
          </a:r>
          <a:r>
            <a:rPr lang="es-MX" sz="1600" i="1" kern="1200"/>
            <a:t>Comunicación oportuna ante emergencias.</a:t>
          </a:r>
          <a:endParaRPr lang="en-US" sz="1600" kern="1200"/>
        </a:p>
      </dsp:txBody>
      <dsp:txXfrm>
        <a:off x="58485" y="200443"/>
        <a:ext cx="5255531" cy="1081110"/>
      </dsp:txXfrm>
    </dsp:sp>
    <dsp:sp modelId="{1737849C-6BC9-4C04-90B6-603555A91FB0}">
      <dsp:nvSpPr>
        <dsp:cNvPr id="0" name=""/>
        <dsp:cNvSpPr/>
      </dsp:nvSpPr>
      <dsp:spPr>
        <a:xfrm>
          <a:off x="0" y="1386119"/>
          <a:ext cx="5372501" cy="1198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🏛️ </a:t>
          </a:r>
          <a:r>
            <a:rPr lang="es-MX" sz="1600" b="1" kern="1200"/>
            <a:t>Autoridad / Administrador:</a:t>
          </a:r>
          <a:br>
            <a:rPr lang="es-MX" sz="1600" kern="1200"/>
          </a:br>
          <a:r>
            <a:rPr lang="es-MX" sz="1600" kern="1200"/>
            <a:t>Requiere centralizar reportes y difundir información oficial.</a:t>
          </a:r>
          <a:br>
            <a:rPr lang="es-MX" sz="1600" kern="1200"/>
          </a:br>
          <a:r>
            <a:rPr lang="es-MX" sz="1600" kern="1200"/>
            <a:t>➡️ </a:t>
          </a:r>
          <a:r>
            <a:rPr lang="es-MX" sz="1600" i="1" kern="1200"/>
            <a:t>Gestión y coordinación eficiente en tiempo real.</a:t>
          </a:r>
          <a:endParaRPr lang="en-US" sz="1600" kern="1200"/>
        </a:p>
      </dsp:txBody>
      <dsp:txXfrm>
        <a:off x="58485" y="1444604"/>
        <a:ext cx="5255531" cy="1081110"/>
      </dsp:txXfrm>
    </dsp:sp>
    <dsp:sp modelId="{C7CD54AD-A52D-49BC-BD30-B6A76291D4E1}">
      <dsp:nvSpPr>
        <dsp:cNvPr id="0" name=""/>
        <dsp:cNvSpPr/>
      </dsp:nvSpPr>
      <dsp:spPr>
        <a:xfrm>
          <a:off x="0" y="2630279"/>
          <a:ext cx="5372501" cy="1198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👪 </a:t>
          </a:r>
          <a:r>
            <a:rPr lang="es-MX" sz="1600" b="1" kern="1200"/>
            <a:t>Familiares a Distancia:</a:t>
          </a:r>
          <a:br>
            <a:rPr lang="es-MX" sz="1600" kern="1200"/>
          </a:br>
          <a:r>
            <a:rPr lang="es-MX" sz="1600" kern="1200"/>
            <a:t>Buscan comunicarse con seres queridos sin conectividad.</a:t>
          </a:r>
          <a:br>
            <a:rPr lang="es-MX" sz="1600" kern="1200"/>
          </a:br>
          <a:r>
            <a:rPr lang="es-MX" sz="1600" kern="1200"/>
            <a:t>➡️ </a:t>
          </a:r>
          <a:r>
            <a:rPr lang="es-MX" sz="1600" i="1" kern="1200"/>
            <a:t>Reducción de incertidumbre y conexión familiar en crisis.</a:t>
          </a:r>
          <a:endParaRPr lang="en-US" sz="1600" kern="1200"/>
        </a:p>
      </dsp:txBody>
      <dsp:txXfrm>
        <a:off x="58485" y="2688764"/>
        <a:ext cx="5255531" cy="10811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89DB9-9FB1-D2FD-F76B-44BC6FF68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641B2E-E941-349B-B935-011406C9C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49F7F9-2EBA-8605-8095-71660EAA9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F1C68-410E-4664-8164-80C8596AED3A}" type="datetimeFigureOut">
              <a:rPr lang="es-CL" smtClean="0"/>
              <a:t>16-10-2025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9A26ED-B4A7-9A8A-3F60-F7095B33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69EFDF-67D2-17CB-F477-AF516D45A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AF0B-0DD9-4EB5-8593-D033C99C3F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2215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153B0E-434F-0440-1F40-C2C4BCD1B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54A254-2557-E497-3FE6-8E8D00C86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597EE6-846F-B02E-AD89-B2D93D9E4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F1C68-410E-4664-8164-80C8596AED3A}" type="datetimeFigureOut">
              <a:rPr lang="es-CL" smtClean="0"/>
              <a:t>16-10-2025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6FBE82-622B-12D0-4FBB-A9C722C06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E3CDD5-A42C-42D4-0B0E-949A2081F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AF0B-0DD9-4EB5-8593-D033C99C3F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049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CCFC3-0785-02B4-BE73-D7B7E8951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7E5963-51F9-0025-DFD5-9D9248F67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9CF3F2-FA9F-96B0-42ED-AC1442BC3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F1C68-410E-4664-8164-80C8596AED3A}" type="datetimeFigureOut">
              <a:rPr lang="es-CL" smtClean="0"/>
              <a:t>16-10-2025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CFF1CF-890D-F95E-917F-C2934ABCA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719826-4854-2243-17D4-B2E1AFFAC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AF0B-0DD9-4EB5-8593-D033C99C3F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2956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EF614-8DFF-66AF-AF9F-256E0263D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9179DC-2CD0-8A37-C5BF-D7C80567B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841F23-7D72-64AB-E102-0D68A734B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05E6BA-3C86-F7FC-9657-1511B4F52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F1C68-410E-4664-8164-80C8596AED3A}" type="datetimeFigureOut">
              <a:rPr lang="es-CL" smtClean="0"/>
              <a:t>16-10-2025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31CE12-3F19-C2DD-0B07-B3F50B27D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ADF2F7-2E09-78F6-E4F1-8EF1A995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AF0B-0DD9-4EB5-8593-D033C99C3F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4651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D237E-8007-B759-66F8-7035C488E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8F1F2D-34BB-5595-4187-6F1729764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BA6C57D-05CF-D942-11F7-4864973CB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4A994AE-FC21-C76F-A5DA-BD8F6691C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797BC47-ED04-CF47-D54E-A5E76E0D6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DB35978-68DC-610E-20A7-EA25B21FD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F1C68-410E-4664-8164-80C8596AED3A}" type="datetimeFigureOut">
              <a:rPr lang="es-CL" smtClean="0"/>
              <a:t>16-10-2025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18FE11E-FC30-72E0-B48B-5AD4E2B7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84DC02-4DC6-6F80-3E86-B12C4E1C8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AF0B-0DD9-4EB5-8593-D033C99C3F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618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B3525-B61A-9937-1AF9-8E69AE823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479BC2-2C51-80A6-D384-7C9B2EAE0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F1C68-410E-4664-8164-80C8596AED3A}" type="datetimeFigureOut">
              <a:rPr lang="es-CL" smtClean="0"/>
              <a:t>16-10-2025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4DF95AD-F882-B9DC-218F-BA964FE69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B59E1FB-3270-2E5F-8964-69AD23C9E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AF0B-0DD9-4EB5-8593-D033C99C3F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13581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2918E56-F895-F1C0-2471-631D7C05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F1C68-410E-4664-8164-80C8596AED3A}" type="datetimeFigureOut">
              <a:rPr lang="es-CL" smtClean="0"/>
              <a:t>16-10-2025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94DD4D7-86AE-A3B8-6EE9-17D4C8A35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D4296C-FB1A-90C8-8C0A-AF9C15F2E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AF0B-0DD9-4EB5-8593-D033C99C3F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2373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8A0A2-15B3-05EE-6961-E1DAE1C51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9A7258-1EF5-F2C3-B951-66F4C8A8B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7C3ABE-DCFA-4E92-1581-41B3F05F4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DC3D9F-EA6A-0234-FA51-A64ADAF00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F1C68-410E-4664-8164-80C8596AED3A}" type="datetimeFigureOut">
              <a:rPr lang="es-CL" smtClean="0"/>
              <a:t>16-10-2025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6198F2-1887-4679-24F0-837DB83F6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1F7E94-53B8-DDF2-3F69-28C4652CB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AF0B-0DD9-4EB5-8593-D033C99C3F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9942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B8E0A-4F2B-DAAD-8BE8-CC96FD628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0F8BA2B-98EE-9FC4-2237-C8D1DE5395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3C8A81-8BED-FEDE-59DA-8BE1FD233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D90A2F-6EBA-1283-90F1-DF42FBA10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F1C68-410E-4664-8164-80C8596AED3A}" type="datetimeFigureOut">
              <a:rPr lang="es-CL" smtClean="0"/>
              <a:t>16-10-2025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D51763-CA6F-A769-1814-604F87A2B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DC5E2E-149C-D84F-EB2D-5D8153A4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AF0B-0DD9-4EB5-8593-D033C99C3F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255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ED648-6C00-3D21-292E-3C53CBB74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04E47A-54BD-0A0F-CCA8-60C7B1341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64E992-E7B7-C918-D4E5-DCE5AA34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F1C68-410E-4664-8164-80C8596AED3A}" type="datetimeFigureOut">
              <a:rPr lang="es-CL" smtClean="0"/>
              <a:t>16-10-2025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572E66-B3F6-1282-AAC0-B1124914C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D0D5E7-7563-8D35-48F2-A7486B09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AF0B-0DD9-4EB5-8593-D033C99C3F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189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043171-B978-7969-0272-84A9B6C80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10F205-C5E1-61FE-B100-8147E2699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9E11D1-F70E-33C3-E491-844B46582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F1C68-410E-4664-8164-80C8596AED3A}" type="datetimeFigureOut">
              <a:rPr lang="es-CL" smtClean="0"/>
              <a:t>16-10-2025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CC5108-2C56-B4E7-7E2B-51CDDB17E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537206-02A2-52FD-2675-1CECFE543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2AF0B-0DD9-4EB5-8593-D033C99C3F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4767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10D0-A755-F936-3712-64E1E8C80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4772B0-BEE5-FDDA-FB1C-7D9DEF853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E6E626-AEE5-B79E-ED09-46AE70494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BF1C68-410E-4664-8164-80C8596AED3A}" type="datetimeFigureOut">
              <a:rPr lang="es-CL" smtClean="0"/>
              <a:t>16-10-2025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6A5E2C-20A0-D5EC-B8DA-3759EF72D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2D94F4-33C6-85A6-8CBC-59C981EE6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62AF0B-0DD9-4EB5-8593-D033C99C3F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96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magen que contiene exterior, hombre, viejo, mujer&#10;&#10;El contenido generado por IA puede ser incorrecto.">
            <a:extLst>
              <a:ext uri="{FF2B5EF4-FFF2-40B4-BE49-F238E27FC236}">
                <a16:creationId xmlns:a16="http://schemas.microsoft.com/office/drawing/2014/main" id="{15C959AB-4220-5A8B-5366-CD0F57A8A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21" r="663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87EB31-07D9-4A7D-4439-97C37BE0C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9122" y="668100"/>
            <a:ext cx="3369234" cy="3447832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Proyecto </a:t>
            </a:r>
          </a:p>
          <a:p>
            <a:pPr marL="0" indent="0" algn="ctr">
              <a:buNone/>
            </a:pPr>
            <a:r>
              <a:rPr lang="en-US" sz="3600" dirty="0"/>
              <a:t>P.R.A.C</a:t>
            </a:r>
          </a:p>
          <a:p>
            <a:endParaRPr lang="en-US" sz="2000" dirty="0"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r>
              <a:rPr lang="es-MX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 Resiliente de Comunicación y Alerta en Catástrofes</a:t>
            </a:r>
            <a:endParaRPr lang="es-MX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br>
              <a:rPr lang="es-MX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lang="es-MX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000" dirty="0"/>
          </a:p>
        </p:txBody>
      </p:sp>
      <p:sp>
        <p:nvSpPr>
          <p:cNvPr id="6" name="Google Shape;85;p1">
            <a:extLst>
              <a:ext uri="{FF2B5EF4-FFF2-40B4-BE49-F238E27FC236}">
                <a16:creationId xmlns:a16="http://schemas.microsoft.com/office/drawing/2014/main" id="{00034A39-5AE6-4FD4-9F7A-1F0943C89C11}"/>
              </a:ext>
            </a:extLst>
          </p:cNvPr>
          <p:cNvSpPr/>
          <p:nvPr/>
        </p:nvSpPr>
        <p:spPr>
          <a:xfrm>
            <a:off x="9048910" y="3968496"/>
            <a:ext cx="1667858" cy="1798093"/>
          </a:xfrm>
          <a:custGeom>
            <a:avLst/>
            <a:gdLst/>
            <a:ahLst/>
            <a:cxnLst/>
            <a:rect l="l" t="t" r="r" b="b"/>
            <a:pathLst>
              <a:path w="2202872" h="2727833" extrusionOk="0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33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548D4F-601C-85BD-D505-45674CAAA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Tabla de contenidos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37014B1-3EDF-699A-E33F-3188E348B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557840"/>
              </p:ext>
            </p:extLst>
          </p:nvPr>
        </p:nvGraphicFramePr>
        <p:xfrm>
          <a:off x="4241442" y="1362240"/>
          <a:ext cx="7700622" cy="355323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533087">
                  <a:extLst>
                    <a:ext uri="{9D8B030D-6E8A-4147-A177-3AD203B41FA5}">
                      <a16:colId xmlns:a16="http://schemas.microsoft.com/office/drawing/2014/main" val="166073315"/>
                    </a:ext>
                  </a:extLst>
                </a:gridCol>
                <a:gridCol w="3935689">
                  <a:extLst>
                    <a:ext uri="{9D8B030D-6E8A-4147-A177-3AD203B41FA5}">
                      <a16:colId xmlns:a16="http://schemas.microsoft.com/office/drawing/2014/main" val="1614123358"/>
                    </a:ext>
                  </a:extLst>
                </a:gridCol>
                <a:gridCol w="816290">
                  <a:extLst>
                    <a:ext uri="{9D8B030D-6E8A-4147-A177-3AD203B41FA5}">
                      <a16:colId xmlns:a16="http://schemas.microsoft.com/office/drawing/2014/main" val="1378541771"/>
                    </a:ext>
                  </a:extLst>
                </a:gridCol>
                <a:gridCol w="2415556">
                  <a:extLst>
                    <a:ext uri="{9D8B030D-6E8A-4147-A177-3AD203B41FA5}">
                      <a16:colId xmlns:a16="http://schemas.microsoft.com/office/drawing/2014/main" val="4236660028"/>
                    </a:ext>
                  </a:extLst>
                </a:gridCol>
              </a:tblGrid>
              <a:tr h="5922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1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100" u="none" strike="noStrike">
                          <a:effectLst/>
                        </a:rPr>
                        <a:t>Equipo de trabajo y Roles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7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Product Backlog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1084070"/>
                  </a:ext>
                </a:extLst>
              </a:tr>
              <a:tr h="5922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2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Contexto del Proyecto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8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Carta Gantt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44851198"/>
                  </a:ext>
                </a:extLst>
              </a:tr>
              <a:tr h="5922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3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Problemática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9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Presupuesto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10132318"/>
                  </a:ext>
                </a:extLst>
              </a:tr>
              <a:tr h="5922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4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Necesidad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10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Tablero Kanban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5078487"/>
                  </a:ext>
                </a:extLst>
              </a:tr>
              <a:tr h="5922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5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Arquitectura del Sistema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11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Sprints de Desarrollo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3685009"/>
                  </a:ext>
                </a:extLst>
              </a:tr>
              <a:tr h="5922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6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Metodología de Trabajo (Scrum)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>
                          <a:effectLst/>
                        </a:rPr>
                        <a:t>12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u="none" strike="noStrike" dirty="0">
                          <a:effectLst/>
                        </a:rPr>
                        <a:t>Demostración del Producto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0874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540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FCD04-E9F9-C234-AB4E-E6621AFE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             Equipo de trabajo- Roles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8C98EBA-295C-FEBB-03FE-12DDFB3700A1}"/>
              </a:ext>
            </a:extLst>
          </p:cNvPr>
          <p:cNvSpPr txBox="1"/>
          <p:nvPr/>
        </p:nvSpPr>
        <p:spPr>
          <a:xfrm>
            <a:off x="666705" y="4723473"/>
            <a:ext cx="23561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Renzo </a:t>
            </a:r>
            <a:r>
              <a:rPr lang="es-CL" dirty="0" err="1"/>
              <a:t>Rios</a:t>
            </a:r>
            <a:endParaRPr lang="es-CL" dirty="0"/>
          </a:p>
          <a:p>
            <a:pPr algn="ctr"/>
            <a:r>
              <a:rPr lang="es-CL" dirty="0" err="1"/>
              <a:t>Development</a:t>
            </a:r>
            <a:r>
              <a:rPr lang="es-CL" dirty="0"/>
              <a:t> </a:t>
            </a:r>
            <a:r>
              <a:rPr lang="es-CL" dirty="0" err="1"/>
              <a:t>Team</a:t>
            </a:r>
            <a:r>
              <a:rPr lang="es-CL" dirty="0"/>
              <a:t> (DT)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2566EBA-8CCD-A1A2-3D54-CB0DA195D284}"/>
              </a:ext>
            </a:extLst>
          </p:cNvPr>
          <p:cNvSpPr txBox="1"/>
          <p:nvPr/>
        </p:nvSpPr>
        <p:spPr>
          <a:xfrm>
            <a:off x="7793729" y="4865523"/>
            <a:ext cx="235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Carlos De </a:t>
            </a:r>
            <a:r>
              <a:rPr lang="es-CL" dirty="0" err="1"/>
              <a:t>ferrai</a:t>
            </a:r>
            <a:endParaRPr lang="es-CL" dirty="0"/>
          </a:p>
          <a:p>
            <a:pPr algn="ctr"/>
            <a:r>
              <a:rPr lang="es-CL" dirty="0" err="1"/>
              <a:t>Product</a:t>
            </a:r>
            <a:r>
              <a:rPr lang="es-CL" dirty="0"/>
              <a:t> </a:t>
            </a:r>
            <a:r>
              <a:rPr lang="es-CL" dirty="0" err="1"/>
              <a:t>Owner</a:t>
            </a:r>
            <a:r>
              <a:rPr lang="es-CL" dirty="0"/>
              <a:t>(PO)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66CD0DC-6321-EF84-E54E-991E02C9E07A}"/>
              </a:ext>
            </a:extLst>
          </p:cNvPr>
          <p:cNvSpPr txBox="1"/>
          <p:nvPr/>
        </p:nvSpPr>
        <p:spPr>
          <a:xfrm>
            <a:off x="4297919" y="4403858"/>
            <a:ext cx="235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Claudio Escobar</a:t>
            </a:r>
          </a:p>
          <a:p>
            <a:pPr algn="ctr"/>
            <a:r>
              <a:rPr lang="es-CL" dirty="0"/>
              <a:t>Scrum Master(SM)</a:t>
            </a:r>
          </a:p>
        </p:txBody>
      </p:sp>
      <p:pic>
        <p:nvPicPr>
          <p:cNvPr id="23" name="Imagen 22" descr="Imagen en blanco y negro de un joven con una playera de color negro&#10;&#10;El contenido generado por IA puede ser incorrecto.">
            <a:extLst>
              <a:ext uri="{FF2B5EF4-FFF2-40B4-BE49-F238E27FC236}">
                <a16:creationId xmlns:a16="http://schemas.microsoft.com/office/drawing/2014/main" id="{F9871E8B-C1BA-2160-3AA9-CF6A681CB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498" y="2253053"/>
            <a:ext cx="1368565" cy="222011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757B0689-F827-CB49-454D-7A2E54CE8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161" y="1690688"/>
            <a:ext cx="1751814" cy="2311422"/>
          </a:xfrm>
          <a:prstGeom prst="rect">
            <a:avLst/>
          </a:prstGeom>
        </p:spPr>
      </p:pic>
      <p:sp>
        <p:nvSpPr>
          <p:cNvPr id="26" name="Rectángulo 25">
            <a:extLst>
              <a:ext uri="{FF2B5EF4-FFF2-40B4-BE49-F238E27FC236}">
                <a16:creationId xmlns:a16="http://schemas.microsoft.com/office/drawing/2014/main" id="{3309EB3D-3F75-C631-4B09-D8D5BD204208}"/>
              </a:ext>
            </a:extLst>
          </p:cNvPr>
          <p:cNvSpPr/>
          <p:nvPr/>
        </p:nvSpPr>
        <p:spPr>
          <a:xfrm>
            <a:off x="10343949" y="0"/>
            <a:ext cx="1848051" cy="68580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7" name="Google Shape;85;p1">
            <a:extLst>
              <a:ext uri="{FF2B5EF4-FFF2-40B4-BE49-F238E27FC236}">
                <a16:creationId xmlns:a16="http://schemas.microsoft.com/office/drawing/2014/main" id="{8658B9D8-C0AE-12DD-298A-55FCEF3B2B79}"/>
              </a:ext>
            </a:extLst>
          </p:cNvPr>
          <p:cNvSpPr/>
          <p:nvPr/>
        </p:nvSpPr>
        <p:spPr>
          <a:xfrm>
            <a:off x="10702123" y="365125"/>
            <a:ext cx="1303354" cy="1576413"/>
          </a:xfrm>
          <a:custGeom>
            <a:avLst/>
            <a:gdLst/>
            <a:ahLst/>
            <a:cxnLst/>
            <a:rect l="l" t="t" r="r" b="b"/>
            <a:pathLst>
              <a:path w="2202872" h="2727833" extrusionOk="0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5197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0E6B73-DCBA-9B41-ADA1-36C164A1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s-CL" sz="4000"/>
              <a:t>Contexto del proyecto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790F88-3F68-5BE5-BC9D-E74C3559C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s-MX" sz="1900">
                <a:latin typeface="Arial"/>
                <a:ea typeface="Arial"/>
                <a:cs typeface="Arial"/>
                <a:sym typeface="Arial"/>
              </a:rPr>
              <a:t>Este proyecto </a:t>
            </a:r>
            <a:r>
              <a:rPr lang="es-MX" sz="1900"/>
              <a:t>está</a:t>
            </a:r>
            <a:r>
              <a:rPr lang="es-MX" sz="1900">
                <a:latin typeface="Arial"/>
                <a:ea typeface="Arial"/>
                <a:cs typeface="Arial"/>
                <a:sym typeface="Arial"/>
              </a:rPr>
              <a:t> enfocado en </a:t>
            </a:r>
            <a:r>
              <a:rPr lang="es-MX" sz="1900"/>
              <a:t>cubrir a </a:t>
            </a:r>
            <a:r>
              <a:rPr lang="es-MX" sz="1900">
                <a:latin typeface="Arial"/>
                <a:ea typeface="Arial"/>
                <a:cs typeface="Arial"/>
                <a:sym typeface="Arial"/>
              </a:rPr>
              <a:t>Chile </a:t>
            </a:r>
            <a:r>
              <a:rPr lang="es-MX" sz="1900"/>
              <a:t>que es</a:t>
            </a:r>
            <a:r>
              <a:rPr lang="es-MX" sz="1900">
                <a:latin typeface="Arial"/>
                <a:ea typeface="Arial"/>
                <a:cs typeface="Arial"/>
                <a:sym typeface="Arial"/>
              </a:rPr>
              <a:t> un país altamente expuesto a fenómenos naturales debido a su geografía y diversidad climática. A lo largo de su territorio ocurren con frecuencia sismos, erupciones volcánicas, aluviones, temporales y marejadas, lo que genera un escenario de constante riesgo para la población y equi</a:t>
            </a:r>
            <a:r>
              <a:rPr lang="es-MX" sz="1900"/>
              <a:t>pos de emergencia y </a:t>
            </a:r>
            <a:r>
              <a:rPr lang="es-MX" sz="1900">
                <a:latin typeface="Arial"/>
                <a:ea typeface="Arial"/>
                <a:cs typeface="Arial"/>
                <a:sym typeface="Arial"/>
              </a:rPr>
              <a:t>. Esta realidad exige una preparación continua y sistemas de información confiables que permitan fortalecer la resiliencia frente a emergencias y desastres.</a:t>
            </a:r>
          </a:p>
          <a:p>
            <a:endParaRPr lang="es-CL" sz="1900"/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n 4" descr="Imagen que contiene tabla, hombre, sostener, pantalla&#10;&#10;El contenido generado por IA puede ser incorrecto.">
            <a:extLst>
              <a:ext uri="{FF2B5EF4-FFF2-40B4-BE49-F238E27FC236}">
                <a16:creationId xmlns:a16="http://schemas.microsoft.com/office/drawing/2014/main" id="{D6A70E68-2019-6D0C-9D41-14516F7FD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967" y="2053032"/>
            <a:ext cx="4170530" cy="278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111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D419F7-9517-9D69-A3E5-3ABE3A593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PROBLEMATICA</a:t>
            </a:r>
            <a:endParaRPr lang="es-CL" sz="4000">
              <a:solidFill>
                <a:srgbClr val="FFFFFF"/>
              </a:solidFill>
            </a:endParaRPr>
          </a:p>
        </p:txBody>
      </p:sp>
      <p:graphicFrame>
        <p:nvGraphicFramePr>
          <p:cNvPr id="16" name="Marcador de contenido 2">
            <a:extLst>
              <a:ext uri="{FF2B5EF4-FFF2-40B4-BE49-F238E27FC236}">
                <a16:creationId xmlns:a16="http://schemas.microsoft.com/office/drawing/2014/main" id="{97A381FB-7E20-699A-1F9B-E73949BF9E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727998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4E79CBAE-0568-D3E5-FEB2-FFEF708DE4DE}"/>
              </a:ext>
            </a:extLst>
          </p:cNvPr>
          <p:cNvSpPr/>
          <p:nvPr/>
        </p:nvSpPr>
        <p:spPr>
          <a:xfrm>
            <a:off x="10763943" y="-16450"/>
            <a:ext cx="1303354" cy="1576413"/>
          </a:xfrm>
          <a:custGeom>
            <a:avLst/>
            <a:gdLst/>
            <a:ahLst/>
            <a:cxnLst/>
            <a:rect l="l" t="t" r="r" b="b"/>
            <a:pathLst>
              <a:path w="2202872" h="2727833" extrusionOk="0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558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565CDDDE-9762-289F-8EAD-E9393871E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669" y="2755712"/>
            <a:ext cx="4626700" cy="2577115"/>
          </a:xfrm>
          <a:prstGeom prst="rect">
            <a:avLst/>
          </a:prstGeom>
        </p:spPr>
      </p:pic>
      <p:sp>
        <p:nvSpPr>
          <p:cNvPr id="5" name="Google Shape;85;p1">
            <a:extLst>
              <a:ext uri="{FF2B5EF4-FFF2-40B4-BE49-F238E27FC236}">
                <a16:creationId xmlns:a16="http://schemas.microsoft.com/office/drawing/2014/main" id="{026DDBA8-A847-E879-1333-AB61D7F8CE2D}"/>
              </a:ext>
            </a:extLst>
          </p:cNvPr>
          <p:cNvSpPr/>
          <p:nvPr/>
        </p:nvSpPr>
        <p:spPr>
          <a:xfrm>
            <a:off x="10590207" y="39431"/>
            <a:ext cx="1303354" cy="1576413"/>
          </a:xfrm>
          <a:custGeom>
            <a:avLst/>
            <a:gdLst/>
            <a:ahLst/>
            <a:cxnLst/>
            <a:rect l="l" t="t" r="r" b="b"/>
            <a:pathLst>
              <a:path w="2202872" h="2727833" extrusionOk="0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DA52EA5-7C29-6A8C-DC79-EF28454C8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" y="324822"/>
            <a:ext cx="10515600" cy="1325563"/>
          </a:xfrm>
        </p:spPr>
        <p:txBody>
          <a:bodyPr/>
          <a:lstStyle/>
          <a:p>
            <a:r>
              <a:rPr lang="es-CL" dirty="0"/>
              <a:t>                                   Necesidad</a:t>
            </a:r>
          </a:p>
        </p:txBody>
      </p:sp>
      <p:graphicFrame>
        <p:nvGraphicFramePr>
          <p:cNvPr id="11" name="CuadroTexto 8">
            <a:extLst>
              <a:ext uri="{FF2B5EF4-FFF2-40B4-BE49-F238E27FC236}">
                <a16:creationId xmlns:a16="http://schemas.microsoft.com/office/drawing/2014/main" id="{1935CA31-E736-BC71-BBAB-09BC5A2816FA}"/>
              </a:ext>
            </a:extLst>
          </p:cNvPr>
          <p:cNvGraphicFramePr/>
          <p:nvPr/>
        </p:nvGraphicFramePr>
        <p:xfrm>
          <a:off x="5455920" y="1650385"/>
          <a:ext cx="5372501" cy="3970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7714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321E83-0F5C-4F54-945D-2ABE44A7C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arquitectura</a:t>
            </a:r>
          </a:p>
        </p:txBody>
      </p:sp>
      <p:pic>
        <p:nvPicPr>
          <p:cNvPr id="4" name="Google Shape;291;p11" title="Diagrama en blanco(1).png">
            <a:extLst>
              <a:ext uri="{FF2B5EF4-FFF2-40B4-BE49-F238E27FC236}">
                <a16:creationId xmlns:a16="http://schemas.microsoft.com/office/drawing/2014/main" id="{E8735B5A-9921-45FE-41FC-D19CB45A3DE1}"/>
              </a:ext>
            </a:extLst>
          </p:cNvPr>
          <p:cNvPicPr preferRelativeResize="0"/>
          <p:nvPr/>
        </p:nvPicPr>
        <p:blipFill rotWithShape="1">
          <a:blip r:embed="rId2"/>
          <a:stretch/>
        </p:blipFill>
        <p:spPr>
          <a:xfrm>
            <a:off x="1174282" y="1966293"/>
            <a:ext cx="10116151" cy="44521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976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CDC6F3-CB42-BCB2-815C-60437D56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dirty="0" err="1">
                <a:solidFill>
                  <a:srgbClr val="FFFFFF"/>
                </a:solidFill>
              </a:rPr>
              <a:t>metodologia</a:t>
            </a:r>
            <a:endParaRPr lang="es-CL" sz="4000" dirty="0">
              <a:solidFill>
                <a:srgbClr val="FFFFFF"/>
              </a:solidFill>
            </a:endParaRP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123EBF9-F69D-661C-7E86-92F1ECFE2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8542" y="2259164"/>
            <a:ext cx="7536582" cy="4353517"/>
          </a:xfrm>
          <a:custGeom>
            <a:avLst/>
            <a:gdLst/>
            <a:ahLst/>
            <a:cxnLst/>
            <a:rect l="l" t="t" r="r" b="b"/>
            <a:pathLst>
              <a:path w="11301259" h="6356958" extrusionOk="0">
                <a:moveTo>
                  <a:pt x="0" y="0"/>
                </a:moveTo>
                <a:lnTo>
                  <a:pt x="11301258" y="0"/>
                </a:lnTo>
                <a:lnTo>
                  <a:pt x="113012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8" name="Google Shape;85;p1">
            <a:extLst>
              <a:ext uri="{FF2B5EF4-FFF2-40B4-BE49-F238E27FC236}">
                <a16:creationId xmlns:a16="http://schemas.microsoft.com/office/drawing/2014/main" id="{6A12CD80-A794-BA51-22AE-5E6C9EB60D97}"/>
              </a:ext>
            </a:extLst>
          </p:cNvPr>
          <p:cNvSpPr/>
          <p:nvPr/>
        </p:nvSpPr>
        <p:spPr>
          <a:xfrm>
            <a:off x="10483905" y="1622745"/>
            <a:ext cx="1303354" cy="1576413"/>
          </a:xfrm>
          <a:custGeom>
            <a:avLst/>
            <a:gdLst/>
            <a:ahLst/>
            <a:cxnLst/>
            <a:rect l="l" t="t" r="r" b="b"/>
            <a:pathLst>
              <a:path w="2202872" h="2727833" extrusionOk="0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0065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957429D-A007-D560-7CBD-AF410578D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Product Backlog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FA2B38D8-2C3E-278D-7159-3557D4CDE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745" y="1908976"/>
            <a:ext cx="11294688" cy="4076688"/>
          </a:xfrm>
          <a:prstGeom prst="rect">
            <a:avLst/>
          </a:prstGeom>
        </p:spPr>
      </p:pic>
      <p:sp>
        <p:nvSpPr>
          <p:cNvPr id="11" name="Google Shape;85;p1">
            <a:extLst>
              <a:ext uri="{FF2B5EF4-FFF2-40B4-BE49-F238E27FC236}">
                <a16:creationId xmlns:a16="http://schemas.microsoft.com/office/drawing/2014/main" id="{A3E7CBDE-DF04-00F0-FDE9-D2878FF0AFF6}"/>
              </a:ext>
            </a:extLst>
          </p:cNvPr>
          <p:cNvSpPr/>
          <p:nvPr/>
        </p:nvSpPr>
        <p:spPr>
          <a:xfrm>
            <a:off x="10590207" y="39431"/>
            <a:ext cx="1303354" cy="1576413"/>
          </a:xfrm>
          <a:custGeom>
            <a:avLst/>
            <a:gdLst/>
            <a:ahLst/>
            <a:cxnLst/>
            <a:rect l="l" t="t" r="r" b="b"/>
            <a:pathLst>
              <a:path w="2202872" h="2727833" extrusionOk="0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254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BFEC3-6A44-1C71-C075-70820C920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112" y="1752940"/>
            <a:ext cx="10515600" cy="1325563"/>
          </a:xfrm>
        </p:spPr>
        <p:txBody>
          <a:bodyPr/>
          <a:lstStyle/>
          <a:p>
            <a:r>
              <a:rPr lang="es-CL" dirty="0"/>
              <a:t>Carta Gantt</a:t>
            </a:r>
          </a:p>
        </p:txBody>
      </p:sp>
      <p:pic>
        <p:nvPicPr>
          <p:cNvPr id="5" name="Marcador de contenido 4" descr="Imagen que contiene interior, tabla, verde, cocina&#10;&#10;El contenido generado por IA puede ser incorrecto.">
            <a:extLst>
              <a:ext uri="{FF2B5EF4-FFF2-40B4-BE49-F238E27FC236}">
                <a16:creationId xmlns:a16="http://schemas.microsoft.com/office/drawing/2014/main" id="{45F2269A-07CC-55C1-1F79-2A82635D5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39" y="365125"/>
            <a:ext cx="8881197" cy="6376280"/>
          </a:xfr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02467F9-1EBB-E4FC-2D7E-346ABF7D3AA4}"/>
              </a:ext>
            </a:extLst>
          </p:cNvPr>
          <p:cNvSpPr/>
          <p:nvPr/>
        </p:nvSpPr>
        <p:spPr>
          <a:xfrm>
            <a:off x="10158308" y="0"/>
            <a:ext cx="2033691" cy="68580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Google Shape;85;p1">
            <a:extLst>
              <a:ext uri="{FF2B5EF4-FFF2-40B4-BE49-F238E27FC236}">
                <a16:creationId xmlns:a16="http://schemas.microsoft.com/office/drawing/2014/main" id="{8C1857A5-8CE1-E3F3-7D9B-2014A7E24971}"/>
              </a:ext>
            </a:extLst>
          </p:cNvPr>
          <p:cNvSpPr/>
          <p:nvPr/>
        </p:nvSpPr>
        <p:spPr>
          <a:xfrm>
            <a:off x="10560907" y="270826"/>
            <a:ext cx="1303354" cy="1576413"/>
          </a:xfrm>
          <a:custGeom>
            <a:avLst/>
            <a:gdLst/>
            <a:ahLst/>
            <a:cxnLst/>
            <a:rect l="l" t="t" r="r" b="b"/>
            <a:pathLst>
              <a:path w="2202872" h="2727833" extrusionOk="0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7192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75127-5BA4-D907-2922-2843C2B01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" y="324822"/>
            <a:ext cx="10515600" cy="1325563"/>
          </a:xfrm>
        </p:spPr>
        <p:txBody>
          <a:bodyPr/>
          <a:lstStyle/>
          <a:p>
            <a:r>
              <a:rPr lang="es-CL" dirty="0"/>
              <a:t>                          Presupuesto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E5EEF70-491C-FEA9-863E-2D6DCDCFB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861" y="1650385"/>
            <a:ext cx="8188099" cy="4772204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79B27F6-BB4E-ACAD-18AB-C8C9319FA5D0}"/>
              </a:ext>
            </a:extLst>
          </p:cNvPr>
          <p:cNvSpPr/>
          <p:nvPr/>
        </p:nvSpPr>
        <p:spPr>
          <a:xfrm>
            <a:off x="10343949" y="0"/>
            <a:ext cx="1848051" cy="68580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Google Shape;85;p1">
            <a:extLst>
              <a:ext uri="{FF2B5EF4-FFF2-40B4-BE49-F238E27FC236}">
                <a16:creationId xmlns:a16="http://schemas.microsoft.com/office/drawing/2014/main" id="{393877FA-5AC3-1C4D-47D8-9A16B83196FD}"/>
              </a:ext>
            </a:extLst>
          </p:cNvPr>
          <p:cNvSpPr/>
          <p:nvPr/>
        </p:nvSpPr>
        <p:spPr>
          <a:xfrm>
            <a:off x="10616297" y="148076"/>
            <a:ext cx="1303354" cy="1576413"/>
          </a:xfrm>
          <a:custGeom>
            <a:avLst/>
            <a:gdLst/>
            <a:ahLst/>
            <a:cxnLst/>
            <a:rect l="l" t="t" r="r" b="b"/>
            <a:pathLst>
              <a:path w="2202872" h="2727833" extrusionOk="0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2260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5F7E33B-4E52-1249-2957-971A62AD6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s-CL" sz="4000" dirty="0">
                <a:solidFill>
                  <a:srgbClr val="FFFFFF"/>
                </a:solidFill>
              </a:rPr>
              <a:t>Tablero </a:t>
            </a:r>
            <a:r>
              <a:rPr lang="es-CL" sz="4000" dirty="0" err="1">
                <a:solidFill>
                  <a:srgbClr val="FFFFFF"/>
                </a:solidFill>
              </a:rPr>
              <a:t>kanban</a:t>
            </a:r>
            <a:endParaRPr lang="es-CL" sz="4000" dirty="0">
              <a:solidFill>
                <a:srgbClr val="FFFFFF"/>
              </a:solidFill>
            </a:endParaRPr>
          </a:p>
        </p:txBody>
      </p:sp>
      <p:pic>
        <p:nvPicPr>
          <p:cNvPr id="11" name="Imagen 10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378ABABB-CB8F-393B-0398-A906DDABA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91" y="1575461"/>
            <a:ext cx="11100818" cy="5245134"/>
          </a:xfrm>
          <a:prstGeom prst="rect">
            <a:avLst/>
          </a:prstGeom>
        </p:spPr>
      </p:pic>
      <p:pic>
        <p:nvPicPr>
          <p:cNvPr id="12" name="Marcador de contenido 8" descr="Interfaz de usuario gráfica, Texto, Aplicación, Correo electrónico, Teams&#10;&#10;El contenido generado por IA puede ser incorrecto.">
            <a:extLst>
              <a:ext uri="{FF2B5EF4-FFF2-40B4-BE49-F238E27FC236}">
                <a16:creationId xmlns:a16="http://schemas.microsoft.com/office/drawing/2014/main" id="{E5F778C2-E382-F4FF-9DCD-EE1BCA0B1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914" y="5084106"/>
            <a:ext cx="4600354" cy="135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702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E482FE70-AE6B-7DA5-0D63-7039314AB0A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>
                <a:solidFill>
                  <a:schemeClr val="bg1"/>
                </a:solidFill>
              </a:rPr>
              <a:t>Sprint 0 – Fase 1: Planificación y </a:t>
            </a:r>
            <a:r>
              <a:rPr lang="es-MX" dirty="0" err="1">
                <a:solidFill>
                  <a:schemeClr val="bg1"/>
                </a:solidFill>
              </a:rPr>
              <a:t>Setup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F43B9579-89A4-ACA4-F758-ED89B42359D1}"/>
              </a:ext>
            </a:extLst>
          </p:cNvPr>
          <p:cNvSpPr txBox="1">
            <a:spLocks/>
          </p:cNvSpPr>
          <p:nvPr/>
        </p:nvSpPr>
        <p:spPr>
          <a:xfrm>
            <a:off x="1614041" y="1839428"/>
            <a:ext cx="10515600" cy="486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dirty="0"/>
              <a:t>Semanas 1–3</a:t>
            </a:r>
            <a:br>
              <a:rPr lang="es-MX" dirty="0"/>
            </a:br>
            <a:r>
              <a:rPr lang="es-MX" dirty="0"/>
              <a:t>Planificación, estructura base y entorno.</a:t>
            </a:r>
          </a:p>
          <a:p>
            <a:r>
              <a:rPr lang="es-MX" dirty="0"/>
              <a:t>Objetivo  : Preparar el entorno de desarrollo, definir la estructura del proyecto, roles del equipo y los lineamientos técnicos iniciales.</a:t>
            </a:r>
          </a:p>
          <a:p>
            <a:pPr marL="0" indent="0" algn="ctr">
              <a:buNone/>
            </a:pPr>
            <a:r>
              <a:rPr lang="es-MX" dirty="0"/>
              <a:t>Tareas relevantes :</a:t>
            </a:r>
            <a:endParaRPr lang="es-CL" dirty="0"/>
          </a:p>
          <a:p>
            <a:endParaRPr lang="es-CL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C173019-5B38-181E-671D-9ED024F7DE13}"/>
              </a:ext>
            </a:extLst>
          </p:cNvPr>
          <p:cNvSpPr/>
          <p:nvPr/>
        </p:nvSpPr>
        <p:spPr>
          <a:xfrm>
            <a:off x="2971800" y="4708842"/>
            <a:ext cx="2532888" cy="170992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Configuración de entorno </a:t>
            </a:r>
            <a:r>
              <a:rPr lang="es-MX" dirty="0" err="1"/>
              <a:t>Flutter</a:t>
            </a:r>
            <a:r>
              <a:rPr lang="es-MX" dirty="0"/>
              <a:t> y dependencias</a:t>
            </a:r>
            <a:endParaRPr lang="es-CL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5BC423C-C98A-9AFB-C707-D7FBF7FB5FB9}"/>
              </a:ext>
            </a:extLst>
          </p:cNvPr>
          <p:cNvSpPr/>
          <p:nvPr/>
        </p:nvSpPr>
        <p:spPr>
          <a:xfrm>
            <a:off x="6095995" y="4699381"/>
            <a:ext cx="2395728" cy="1609979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Estructuración del proyecto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FAD02F0-52C6-8CAA-21F9-3145470EAE24}"/>
              </a:ext>
            </a:extLst>
          </p:cNvPr>
          <p:cNvSpPr/>
          <p:nvPr/>
        </p:nvSpPr>
        <p:spPr>
          <a:xfrm>
            <a:off x="9003787" y="4818253"/>
            <a:ext cx="2075688" cy="1491107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Definición de roles y ceremonias Scrum</a:t>
            </a:r>
            <a:endParaRPr lang="es-CL" dirty="0"/>
          </a:p>
        </p:txBody>
      </p:sp>
      <p:sp>
        <p:nvSpPr>
          <p:cNvPr id="13" name="Google Shape;85;p1">
            <a:extLst>
              <a:ext uri="{FF2B5EF4-FFF2-40B4-BE49-F238E27FC236}">
                <a16:creationId xmlns:a16="http://schemas.microsoft.com/office/drawing/2014/main" id="{92C8FF69-7F72-3F0F-F178-803FA8DF45B7}"/>
              </a:ext>
            </a:extLst>
          </p:cNvPr>
          <p:cNvSpPr/>
          <p:nvPr/>
        </p:nvSpPr>
        <p:spPr>
          <a:xfrm>
            <a:off x="10546228" y="55644"/>
            <a:ext cx="1376578" cy="1557603"/>
          </a:xfrm>
          <a:custGeom>
            <a:avLst/>
            <a:gdLst/>
            <a:ahLst/>
            <a:cxnLst/>
            <a:rect l="l" t="t" r="r" b="b"/>
            <a:pathLst>
              <a:path w="2202872" h="2727833" extrusionOk="0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5813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FFDF47-08C0-0CB9-D423-35C07F876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Sprint 0 backlog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1323C99-0F5E-54CC-5738-D33D8AF91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974206"/>
            <a:ext cx="11754614" cy="2350921"/>
          </a:xfrm>
          <a:prstGeom prst="rect">
            <a:avLst/>
          </a:prstGeom>
        </p:spPr>
      </p:pic>
      <p:sp>
        <p:nvSpPr>
          <p:cNvPr id="6" name="Google Shape;85;p1">
            <a:extLst>
              <a:ext uri="{FF2B5EF4-FFF2-40B4-BE49-F238E27FC236}">
                <a16:creationId xmlns:a16="http://schemas.microsoft.com/office/drawing/2014/main" id="{93CF43B3-FACC-BC0C-638B-317357EA2422}"/>
              </a:ext>
            </a:extLst>
          </p:cNvPr>
          <p:cNvSpPr/>
          <p:nvPr/>
        </p:nvSpPr>
        <p:spPr>
          <a:xfrm>
            <a:off x="10828255" y="230194"/>
            <a:ext cx="962692" cy="1113919"/>
          </a:xfrm>
          <a:custGeom>
            <a:avLst/>
            <a:gdLst/>
            <a:ahLst/>
            <a:cxnLst/>
            <a:rect l="l" t="t" r="r" b="b"/>
            <a:pathLst>
              <a:path w="2202872" h="2727833" extrusionOk="0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4366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EF824B-553D-3AB7-F280-7AC1DCAE4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dirty="0">
                <a:solidFill>
                  <a:srgbClr val="FFFFFF"/>
                </a:solidFill>
              </a:rPr>
              <a:t>Sprint 0 </a:t>
            </a:r>
            <a:r>
              <a:rPr lang="es-CL" sz="4000" dirty="0" err="1">
                <a:solidFill>
                  <a:srgbClr val="FFFFFF"/>
                </a:solidFill>
              </a:rPr>
              <a:t>Burndown</a:t>
            </a:r>
            <a:r>
              <a:rPr lang="es-CL" sz="4000" dirty="0">
                <a:solidFill>
                  <a:srgbClr val="FFFFFF"/>
                </a:solidFill>
              </a:rPr>
              <a:t> chart</a:t>
            </a:r>
          </a:p>
        </p:txBody>
      </p:sp>
      <p:graphicFrame>
        <p:nvGraphicFramePr>
          <p:cNvPr id="4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5153561"/>
              </p:ext>
            </p:extLst>
          </p:nvPr>
        </p:nvGraphicFramePr>
        <p:xfrm>
          <a:off x="283464" y="1853275"/>
          <a:ext cx="11567160" cy="43959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85;p1">
            <a:extLst>
              <a:ext uri="{FF2B5EF4-FFF2-40B4-BE49-F238E27FC236}">
                <a16:creationId xmlns:a16="http://schemas.microsoft.com/office/drawing/2014/main" id="{A64D1D36-BA6E-5CDF-7292-E5661E0D86DF}"/>
              </a:ext>
            </a:extLst>
          </p:cNvPr>
          <p:cNvSpPr/>
          <p:nvPr/>
        </p:nvSpPr>
        <p:spPr>
          <a:xfrm>
            <a:off x="10706412" y="1590741"/>
            <a:ext cx="1376578" cy="1557603"/>
          </a:xfrm>
          <a:custGeom>
            <a:avLst/>
            <a:gdLst/>
            <a:ahLst/>
            <a:cxnLst/>
            <a:rect l="l" t="t" r="r" b="b"/>
            <a:pathLst>
              <a:path w="2202872" h="2727833" extrusionOk="0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7505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A1114-8180-C287-2358-BFB01FD53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544570-D921-243F-27EA-153635209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27777D-AB84-BDB2-534A-B69112FA4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125C80-A829-40BD-659A-FC0F435D7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BAE312-1601-BC41-3320-C67880EAD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602CA8-4FB9-7037-D80D-48F9583C3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E3C0E7-CA62-208E-7800-FFF93858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Sprint 0 impediment log</a:t>
            </a:r>
            <a:endParaRPr lang="es-CL" sz="4000" dirty="0">
              <a:solidFill>
                <a:srgbClr val="FFFFFF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2F7DB8-9DA2-7B8E-BED3-2F58063BF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545" y="1802034"/>
            <a:ext cx="8106906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58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97A76-5E9C-241C-3EE0-61B6542FF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Sprint 1 – </a:t>
            </a:r>
            <a:r>
              <a:rPr lang="es-CL" dirty="0" err="1"/>
              <a:t>Backend</a:t>
            </a:r>
            <a:r>
              <a:rPr lang="es-CL" dirty="0"/>
              <a:t> Base (API REST + DB)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4040B7-0D33-3E84-A525-B58160748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9462"/>
          </a:xfrm>
        </p:spPr>
        <p:txBody>
          <a:bodyPr/>
          <a:lstStyle/>
          <a:p>
            <a:r>
              <a:rPr lang="es-MX" dirty="0"/>
              <a:t>Semanas 4–5</a:t>
            </a:r>
            <a:br>
              <a:rPr lang="es-MX" dirty="0"/>
            </a:br>
            <a:r>
              <a:rPr lang="es-MX" dirty="0"/>
              <a:t>Implementar </a:t>
            </a:r>
            <a:r>
              <a:rPr lang="es-MX" dirty="0" err="1"/>
              <a:t>backend</a:t>
            </a:r>
            <a:r>
              <a:rPr lang="es-MX" dirty="0"/>
              <a:t> y DB local.</a:t>
            </a:r>
          </a:p>
          <a:p>
            <a:r>
              <a:rPr lang="es-MX" dirty="0" err="1"/>
              <a:t>Descripcion</a:t>
            </a:r>
            <a:r>
              <a:rPr lang="es-MX" dirty="0"/>
              <a:t>: Se implementará una API REST con </a:t>
            </a:r>
            <a:r>
              <a:rPr lang="es-MX" dirty="0" err="1"/>
              <a:t>endpoints</a:t>
            </a:r>
            <a:r>
              <a:rPr lang="es-MX" dirty="0"/>
              <a:t> CRUD para administrar alertas, permitiendo su integración con otras aplicaciones y garantizando respuestas en formato JSON.</a:t>
            </a:r>
          </a:p>
          <a:p>
            <a:endParaRPr lang="es-MX" dirty="0"/>
          </a:p>
          <a:p>
            <a:pPr algn="ctr"/>
            <a:r>
              <a:rPr lang="es-MX" dirty="0"/>
              <a:t>Tareas relevantes :</a:t>
            </a:r>
            <a:endParaRPr lang="es-CL" dirty="0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5003817-18B1-1EC1-0BA5-DCC0F75BB53A}"/>
              </a:ext>
            </a:extLst>
          </p:cNvPr>
          <p:cNvSpPr/>
          <p:nvPr/>
        </p:nvSpPr>
        <p:spPr>
          <a:xfrm>
            <a:off x="2066544" y="5278311"/>
            <a:ext cx="2194560" cy="107962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Diseño del modelo de datos</a:t>
            </a:r>
            <a:endParaRPr lang="es-CL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015808F-5744-AD77-279B-21EC60ACF55F}"/>
              </a:ext>
            </a:extLst>
          </p:cNvPr>
          <p:cNvSpPr/>
          <p:nvPr/>
        </p:nvSpPr>
        <p:spPr>
          <a:xfrm>
            <a:off x="5074920" y="5278311"/>
            <a:ext cx="2286000" cy="1079627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Configurar conexión con base de datos</a:t>
            </a:r>
            <a:endParaRPr lang="es-CL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BE452CA9-0493-2615-D639-6178F3FA3D1C}"/>
              </a:ext>
            </a:extLst>
          </p:cNvPr>
          <p:cNvSpPr/>
          <p:nvPr/>
        </p:nvSpPr>
        <p:spPr>
          <a:xfrm>
            <a:off x="8074152" y="5278310"/>
            <a:ext cx="2286000" cy="1079627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 </a:t>
            </a:r>
            <a:r>
              <a:rPr lang="es-CL" dirty="0"/>
              <a:t>Seguridad y autenticación básica</a:t>
            </a:r>
          </a:p>
        </p:txBody>
      </p:sp>
    </p:spTree>
    <p:extLst>
      <p:ext uri="{BB962C8B-B14F-4D97-AF65-F5344CB8AC3E}">
        <p14:creationId xmlns:p14="http://schemas.microsoft.com/office/powerpoint/2010/main" val="3961526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FCAD18-536E-2213-6CD2-C10D3CDF3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Sprint 1 backlog</a:t>
            </a:r>
            <a:endParaRPr lang="es-CL" sz="4000" dirty="0">
              <a:solidFill>
                <a:srgbClr val="FFFFFF"/>
              </a:solidFill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4D21669-CE81-CB23-ADA7-79360D49EA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577" y="3234088"/>
            <a:ext cx="11776842" cy="148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024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D9C79A-C88B-49A3-FAEF-E7150E87F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D491CA-AE84-AE6E-6C8A-98181B9D1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00A17B-FF4C-AF3E-68E2-3FBD71EB6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45FF45-8D57-1C3F-5A97-B78450214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61946A-06DC-A68A-0088-E01887328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EF014C-BE68-ACB5-FE38-A55452EE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B54F1F-FE21-0E14-3477-F0B990C92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dirty="0">
                <a:solidFill>
                  <a:srgbClr val="FFFFFF"/>
                </a:solidFill>
              </a:rPr>
              <a:t>Sprint 1 </a:t>
            </a:r>
            <a:r>
              <a:rPr lang="es-CL" sz="4000" dirty="0" err="1">
                <a:solidFill>
                  <a:srgbClr val="FFFFFF"/>
                </a:solidFill>
              </a:rPr>
              <a:t>Burndown</a:t>
            </a:r>
            <a:r>
              <a:rPr lang="es-CL" sz="4000" dirty="0">
                <a:solidFill>
                  <a:srgbClr val="FFFFFF"/>
                </a:solidFill>
              </a:rPr>
              <a:t> chart</a:t>
            </a:r>
          </a:p>
        </p:txBody>
      </p:sp>
      <p:sp>
        <p:nvSpPr>
          <p:cNvPr id="6" name="Google Shape;85;p1">
            <a:extLst>
              <a:ext uri="{FF2B5EF4-FFF2-40B4-BE49-F238E27FC236}">
                <a16:creationId xmlns:a16="http://schemas.microsoft.com/office/drawing/2014/main" id="{83A9B6F6-CB53-5C81-7F7E-4651F60EBA41}"/>
              </a:ext>
            </a:extLst>
          </p:cNvPr>
          <p:cNvSpPr/>
          <p:nvPr/>
        </p:nvSpPr>
        <p:spPr>
          <a:xfrm>
            <a:off x="10706412" y="1590741"/>
            <a:ext cx="1376578" cy="1557603"/>
          </a:xfrm>
          <a:custGeom>
            <a:avLst/>
            <a:gdLst/>
            <a:ahLst/>
            <a:cxnLst/>
            <a:rect l="l" t="t" r="r" b="b"/>
            <a:pathLst>
              <a:path w="2202872" h="2727833" extrusionOk="0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66474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44088A-00BC-FF51-D224-26D0FD5A4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66EB40-E1F6-5C52-8B39-3D9169761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FD28F2-AE7A-B2A7-EE6B-938F82827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858993-9FE8-1E77-5AB9-7886B5394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9E02CD-876A-CC7E-FC86-3D184E3B6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4C0E78-66C0-DBCC-1FD9-A9331423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581030-3692-7679-D83F-6DBE176A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Sprint 1 impediment log</a:t>
            </a:r>
            <a:endParaRPr lang="es-CL" sz="4000" dirty="0">
              <a:solidFill>
                <a:srgbClr val="FFFFFF"/>
              </a:solidFill>
            </a:endParaRP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CF46B56D-6342-327B-15E6-CA88AAE0F7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7591" y="1891970"/>
            <a:ext cx="9347573" cy="467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175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7712D1-0C53-B034-C568-BDD29D60F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dirty="0">
                <a:solidFill>
                  <a:schemeClr val="bg1"/>
                </a:solidFill>
              </a:rPr>
              <a:t>Sprint 2 – </a:t>
            </a:r>
            <a:r>
              <a:rPr lang="es-CL" sz="4000" dirty="0" err="1">
                <a:solidFill>
                  <a:schemeClr val="bg1"/>
                </a:solidFill>
              </a:rPr>
              <a:t>Frontend</a:t>
            </a:r>
            <a:r>
              <a:rPr lang="es-CL" sz="4000" dirty="0">
                <a:solidFill>
                  <a:schemeClr val="bg1"/>
                </a:solidFill>
              </a:rPr>
              <a:t> Móvil (App Base)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C1804C4A-EDBF-1FE0-DDA9-F910ED684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L" sz="2000" dirty="0"/>
              <a:t>Semanas 6–7</a:t>
            </a:r>
            <a:br>
              <a:rPr lang="es-CL" sz="2000" dirty="0"/>
            </a:br>
            <a:r>
              <a:rPr lang="es-CL" sz="2000" dirty="0"/>
              <a:t>Diseñar e implementar la interfaz.</a:t>
            </a:r>
          </a:p>
          <a:p>
            <a:r>
              <a:rPr lang="es-CL" sz="2000" dirty="0" err="1"/>
              <a:t>Descripcion</a:t>
            </a:r>
            <a:r>
              <a:rPr lang="es-CL" sz="2000" dirty="0"/>
              <a:t>:</a:t>
            </a:r>
            <a:r>
              <a:rPr lang="es-MX" sz="2000" dirty="0"/>
              <a:t> Las tareas de </a:t>
            </a:r>
            <a:r>
              <a:rPr lang="es-MX" sz="2000" dirty="0" err="1"/>
              <a:t>Riverpod</a:t>
            </a:r>
            <a:r>
              <a:rPr lang="es-MX" sz="2000" dirty="0"/>
              <a:t>, </a:t>
            </a:r>
            <a:r>
              <a:rPr lang="es-MX" sz="2000" dirty="0" err="1"/>
              <a:t>LoginPage</a:t>
            </a:r>
            <a:r>
              <a:rPr lang="es-MX" sz="2000" dirty="0"/>
              <a:t>, </a:t>
            </a:r>
            <a:r>
              <a:rPr lang="es-MX" sz="2000" dirty="0" err="1"/>
              <a:t>HomePage</a:t>
            </a:r>
            <a:r>
              <a:rPr lang="es-MX" sz="2000" dirty="0"/>
              <a:t> y estado de sesión reflejan el entregable del “</a:t>
            </a:r>
            <a:r>
              <a:rPr lang="es-MX" sz="2000" dirty="0" err="1"/>
              <a:t>frontend</a:t>
            </a:r>
            <a:r>
              <a:rPr lang="es-MX" sz="2000" dirty="0"/>
              <a:t> base conectado al </a:t>
            </a:r>
            <a:r>
              <a:rPr lang="es-MX" sz="2000" dirty="0" err="1"/>
              <a:t>backend</a:t>
            </a:r>
            <a:r>
              <a:rPr lang="es-MX" sz="2000" dirty="0"/>
              <a:t>”.</a:t>
            </a:r>
          </a:p>
          <a:p>
            <a:endParaRPr lang="es-MX" sz="2000" dirty="0"/>
          </a:p>
          <a:p>
            <a:r>
              <a:rPr lang="es-MX" sz="2000" dirty="0"/>
              <a:t>Historias de usuario: Necesito que el sistema funcione online y offline (</a:t>
            </a:r>
            <a:r>
              <a:rPr lang="es-MX" sz="2000" dirty="0" err="1"/>
              <a:t>LoRa</a:t>
            </a:r>
            <a:r>
              <a:rPr lang="es-MX" sz="2000" dirty="0"/>
              <a:t> </a:t>
            </a:r>
            <a:r>
              <a:rPr lang="es-MX" sz="2000" dirty="0" err="1"/>
              <a:t>Mesh</a:t>
            </a:r>
            <a:r>
              <a:rPr lang="es-MX" sz="2000" dirty="0"/>
              <a:t>).</a:t>
            </a:r>
            <a:endParaRPr lang="es-CL" sz="2000" dirty="0"/>
          </a:p>
          <a:p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388554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307511-DA16-D07E-A513-522A01359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00A5F-1383-C7C7-F88D-29B40234D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E69211-13FE-1554-9014-32C0DD009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7AA1FE-46CC-78E4-09D5-CC9360EE3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9DE08-4076-9A5C-4E23-FD2B6668A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E0E64C-50D5-877C-8ADF-7ACB09E50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30A239-46AC-D25F-DC16-D431153C0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Sprint 2 backlog</a:t>
            </a:r>
            <a:endParaRPr lang="es-CL" sz="4000" dirty="0">
              <a:solidFill>
                <a:srgbClr val="FFFFFF"/>
              </a:solidFill>
            </a:endParaRP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57CDFD44-ACA6-BB39-BDD1-D4F27F9EA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598" y="3349242"/>
            <a:ext cx="11538799" cy="100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068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DD4F06-0B57-C445-E349-02980A76A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ED0585-5A95-F2E2-9A3C-1C2C5749F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820F1D-6CD5-EE67-C8F3-E9F3C1916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0F6F41-7640-376E-F523-B7017FDF5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D8E493-53D3-27FA-9DCB-FA8EC3BC9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5123D7-DD12-3022-9E18-9AB7D8AF0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84AA97-86D0-D647-9269-ADA365C4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dirty="0">
                <a:solidFill>
                  <a:srgbClr val="FFFFFF"/>
                </a:solidFill>
              </a:rPr>
              <a:t>Sprint 2 </a:t>
            </a:r>
            <a:r>
              <a:rPr lang="es-CL" sz="4000" dirty="0" err="1">
                <a:solidFill>
                  <a:srgbClr val="FFFFFF"/>
                </a:solidFill>
              </a:rPr>
              <a:t>Burndown</a:t>
            </a:r>
            <a:r>
              <a:rPr lang="es-CL" sz="4000" dirty="0">
                <a:solidFill>
                  <a:srgbClr val="FFFFFF"/>
                </a:solidFill>
              </a:rPr>
              <a:t> chart</a:t>
            </a:r>
          </a:p>
        </p:txBody>
      </p:sp>
      <p:sp>
        <p:nvSpPr>
          <p:cNvPr id="6" name="Google Shape;85;p1">
            <a:extLst>
              <a:ext uri="{FF2B5EF4-FFF2-40B4-BE49-F238E27FC236}">
                <a16:creationId xmlns:a16="http://schemas.microsoft.com/office/drawing/2014/main" id="{8E55C7F4-5240-40CB-5286-0E72928AB55B}"/>
              </a:ext>
            </a:extLst>
          </p:cNvPr>
          <p:cNvSpPr/>
          <p:nvPr/>
        </p:nvSpPr>
        <p:spPr>
          <a:xfrm>
            <a:off x="10706412" y="1590741"/>
            <a:ext cx="1376578" cy="1557603"/>
          </a:xfrm>
          <a:custGeom>
            <a:avLst/>
            <a:gdLst/>
            <a:ahLst/>
            <a:cxnLst/>
            <a:rect l="l" t="t" r="r" b="b"/>
            <a:pathLst>
              <a:path w="2202872" h="2727833" extrusionOk="0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13588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E5BEB3-4883-6DBC-C28E-5784E50C2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88E24B-C22F-D287-580D-E80BE0AD9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AB8642-CCD3-F971-8677-51A6DEECF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96B69D-8000-EF86-9A18-2EB5DD5C4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AC63F3-EC6D-B6E4-575C-1C98EFEE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F79E88-DFC5-8F37-80E6-B8059012B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545609-63A9-102E-3A84-9B52773B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Sprint 2 impediment log</a:t>
            </a:r>
            <a:endParaRPr lang="es-CL" sz="4000" dirty="0">
              <a:solidFill>
                <a:srgbClr val="FFFFFF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30DF1E-2EF5-EC06-4F7B-A18F207B6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9" y="1885279"/>
            <a:ext cx="9175107" cy="467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130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F7E57-C3D9-E7DE-C719-6CE76A946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Sprint 3 – Integración </a:t>
            </a:r>
            <a:r>
              <a:rPr lang="es-CL" dirty="0" err="1"/>
              <a:t>LoRa</a:t>
            </a:r>
            <a:r>
              <a:rPr lang="es-CL" dirty="0"/>
              <a:t> </a:t>
            </a:r>
            <a:r>
              <a:rPr lang="es-CL" dirty="0" err="1"/>
              <a:t>Mesh</a:t>
            </a:r>
            <a:r>
              <a:rPr lang="es-CL" dirty="0"/>
              <a:t> / 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CC41DA-6070-79DB-70CF-207C7D79D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Semana 8-9</a:t>
            </a:r>
          </a:p>
          <a:p>
            <a:r>
              <a:rPr lang="es-CL" dirty="0"/>
              <a:t>integración </a:t>
            </a:r>
            <a:r>
              <a:rPr lang="es-CL" dirty="0" err="1"/>
              <a:t>LoRa</a:t>
            </a:r>
            <a:r>
              <a:rPr lang="es-CL" dirty="0"/>
              <a:t> </a:t>
            </a:r>
            <a:r>
              <a:rPr lang="es-CL" dirty="0" err="1"/>
              <a:t>Mesh</a:t>
            </a:r>
            <a:r>
              <a:rPr lang="es-CL" dirty="0"/>
              <a:t> / BLE</a:t>
            </a:r>
          </a:p>
          <a:p>
            <a:r>
              <a:rPr lang="es-CL" dirty="0" err="1"/>
              <a:t>Descripcion</a:t>
            </a:r>
            <a:r>
              <a:rPr lang="es-CL" dirty="0"/>
              <a:t> : </a:t>
            </a:r>
            <a:r>
              <a:rPr lang="es-MX" dirty="0"/>
              <a:t>Implementar la </a:t>
            </a:r>
            <a:r>
              <a:rPr lang="es-MX" b="1" dirty="0"/>
              <a:t>conectividad local y mensajería offline</a:t>
            </a:r>
            <a:r>
              <a:rPr lang="es-MX" dirty="0"/>
              <a:t> utilizando tecnologías </a:t>
            </a:r>
            <a:r>
              <a:rPr lang="es-MX" b="1" dirty="0" err="1"/>
              <a:t>LoRa</a:t>
            </a:r>
            <a:r>
              <a:rPr lang="es-MX" b="1" dirty="0"/>
              <a:t> </a:t>
            </a:r>
            <a:r>
              <a:rPr lang="es-MX" b="1" dirty="0" err="1"/>
              <a:t>Mesh</a:t>
            </a:r>
            <a:r>
              <a:rPr lang="es-MX" dirty="0"/>
              <a:t> y </a:t>
            </a:r>
            <a:r>
              <a:rPr lang="es-MX" b="1" dirty="0"/>
              <a:t>Bluetooth Low Energy (BLE)</a:t>
            </a:r>
            <a:r>
              <a:rPr lang="es-MX" dirty="0"/>
              <a:t>,</a:t>
            </a:r>
          </a:p>
          <a:p>
            <a:endParaRPr lang="es-MX" dirty="0"/>
          </a:p>
          <a:p>
            <a:r>
              <a:rPr lang="es-MX" dirty="0"/>
              <a:t>Historias de usuario:</a:t>
            </a:r>
            <a:r>
              <a:rPr lang="es-CL" dirty="0"/>
              <a:t>Necesito comunicarme con mis seres queridos en zonas afectadas.</a:t>
            </a:r>
          </a:p>
        </p:txBody>
      </p:sp>
    </p:spTree>
    <p:extLst>
      <p:ext uri="{BB962C8B-B14F-4D97-AF65-F5344CB8AC3E}">
        <p14:creationId xmlns:p14="http://schemas.microsoft.com/office/powerpoint/2010/main" val="1012589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608B34-637B-97A0-086F-6AF8F1941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1A4B0BB-B567-0F14-9EC9-9C8B8AD0D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998ACC-0B6E-3B1F-B619-78F2EB9FD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CFAB70-AC51-0A09-1E27-C67E3F80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52A3BE-BBA1-FDCB-ECE1-AC59D2808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303530-ABA9-46B0-C7B0-70E2854AB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5E142B-3373-371F-3265-B88CCC8B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Sprint 3 backlog</a:t>
            </a:r>
            <a:endParaRPr lang="es-CL" sz="4000" dirty="0">
              <a:solidFill>
                <a:srgbClr val="FFFFFF"/>
              </a:solidFill>
            </a:endParaRP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ED78D314-78D1-B349-5D4F-AE47379C4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583" y="3199720"/>
            <a:ext cx="11860830" cy="102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5010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4E0DA0-0125-94E2-32EC-171D779E9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30A05C8-6728-A853-B921-C8BD8FC8F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82C786-9023-6977-263F-B6D5C0FB7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C62701-AFB6-3FC7-7065-1D8664E7B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277D6D-3EF9-FFCD-1924-3902C3DE5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B5F8E4-32B1-D6C5-7713-BB6693E00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324350-68F1-F516-F3A1-2652D1EE3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L" sz="4000" dirty="0">
                <a:solidFill>
                  <a:srgbClr val="FFFFFF"/>
                </a:solidFill>
              </a:rPr>
              <a:t>Sprint 3 </a:t>
            </a:r>
            <a:r>
              <a:rPr lang="es-CL" sz="4000" dirty="0" err="1">
                <a:solidFill>
                  <a:srgbClr val="FFFFFF"/>
                </a:solidFill>
              </a:rPr>
              <a:t>Burndown</a:t>
            </a:r>
            <a:r>
              <a:rPr lang="es-CL" sz="4000" dirty="0">
                <a:solidFill>
                  <a:srgbClr val="FFFFFF"/>
                </a:solidFill>
              </a:rPr>
              <a:t> chart</a:t>
            </a:r>
          </a:p>
        </p:txBody>
      </p:sp>
      <p:sp>
        <p:nvSpPr>
          <p:cNvPr id="6" name="Google Shape;85;p1">
            <a:extLst>
              <a:ext uri="{FF2B5EF4-FFF2-40B4-BE49-F238E27FC236}">
                <a16:creationId xmlns:a16="http://schemas.microsoft.com/office/drawing/2014/main" id="{1CABD65E-BA0D-87EE-C891-AA63D371B84A}"/>
              </a:ext>
            </a:extLst>
          </p:cNvPr>
          <p:cNvSpPr/>
          <p:nvPr/>
        </p:nvSpPr>
        <p:spPr>
          <a:xfrm>
            <a:off x="10706412" y="1590741"/>
            <a:ext cx="1376578" cy="1557603"/>
          </a:xfrm>
          <a:custGeom>
            <a:avLst/>
            <a:gdLst/>
            <a:ahLst/>
            <a:cxnLst/>
            <a:rect l="l" t="t" r="r" b="b"/>
            <a:pathLst>
              <a:path w="2202872" h="2727833" extrusionOk="0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04731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B23E39-E484-015A-E667-6F3E62E80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E8685A-52E4-419D-99E2-144AEFE35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77D587-A3F4-D2D3-A4BC-951A69E62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E480AC-E497-7EFC-F7D4-60EFBF78B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911ECE-C006-1C04-3613-41BEB7E35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A88326-2B06-8B8B-C9D5-39F5610B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997C02-42AD-51D9-6D4D-50100EECA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Sprint 3 impediment log</a:t>
            </a:r>
            <a:endParaRPr lang="es-CL" sz="4000" dirty="0">
              <a:solidFill>
                <a:srgbClr val="FFFFFF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A28474E-E132-1296-7E1D-FBD85797E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43" y="1748942"/>
            <a:ext cx="10097909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433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AAA03D-7324-863C-20FF-EF98C53BD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                         Demostración </a:t>
            </a:r>
          </a:p>
        </p:txBody>
      </p:sp>
      <p:sp>
        <p:nvSpPr>
          <p:cNvPr id="6" name="Google Shape;85;p1">
            <a:extLst>
              <a:ext uri="{FF2B5EF4-FFF2-40B4-BE49-F238E27FC236}">
                <a16:creationId xmlns:a16="http://schemas.microsoft.com/office/drawing/2014/main" id="{6991DA6B-FFB5-9939-E22F-05D47418FC46}"/>
              </a:ext>
            </a:extLst>
          </p:cNvPr>
          <p:cNvSpPr/>
          <p:nvPr/>
        </p:nvSpPr>
        <p:spPr>
          <a:xfrm>
            <a:off x="4077012" y="2151531"/>
            <a:ext cx="2360364" cy="2792680"/>
          </a:xfrm>
          <a:custGeom>
            <a:avLst/>
            <a:gdLst/>
            <a:ahLst/>
            <a:cxnLst/>
            <a:rect l="l" t="t" r="r" b="b"/>
            <a:pathLst>
              <a:path w="2202872" h="2727833" extrusionOk="0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C6F8221-D810-7A41-B1EE-7F9F1594EFC6}"/>
              </a:ext>
            </a:extLst>
          </p:cNvPr>
          <p:cNvSpPr/>
          <p:nvPr/>
        </p:nvSpPr>
        <p:spPr>
          <a:xfrm>
            <a:off x="10343949" y="0"/>
            <a:ext cx="1848051" cy="68580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950CD53E-41CF-557E-2DF2-2A196CD3B3FC}"/>
              </a:ext>
            </a:extLst>
          </p:cNvPr>
          <p:cNvSpPr/>
          <p:nvPr/>
        </p:nvSpPr>
        <p:spPr>
          <a:xfrm>
            <a:off x="10661601" y="242533"/>
            <a:ext cx="1384398" cy="1448155"/>
          </a:xfrm>
          <a:custGeom>
            <a:avLst/>
            <a:gdLst/>
            <a:ahLst/>
            <a:cxnLst/>
            <a:rect l="l" t="t" r="r" b="b"/>
            <a:pathLst>
              <a:path w="2202872" h="2727833" extrusionOk="0">
                <a:moveTo>
                  <a:pt x="0" y="0"/>
                </a:moveTo>
                <a:lnTo>
                  <a:pt x="2202872" y="0"/>
                </a:lnTo>
                <a:lnTo>
                  <a:pt x="2202872" y="2727833"/>
                </a:lnTo>
                <a:lnTo>
                  <a:pt x="0" y="272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93915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7A37243C-A403-1E9E-120E-80617F787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s-CL" dirty="0">
                <a:solidFill>
                  <a:schemeClr val="bg1"/>
                </a:solidFill>
              </a:rPr>
              <a:t>Conclusión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9212A1-C331-A50B-D45E-71BF01DD55D4}"/>
              </a:ext>
            </a:extLst>
          </p:cNvPr>
          <p:cNvSpPr txBox="1"/>
          <p:nvPr/>
        </p:nvSpPr>
        <p:spPr>
          <a:xfrm>
            <a:off x="1408176" y="2048256"/>
            <a:ext cx="2816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Carlos de </a:t>
            </a:r>
            <a:r>
              <a:rPr lang="es-CL" dirty="0" err="1">
                <a:solidFill>
                  <a:schemeClr val="bg1"/>
                </a:solidFill>
              </a:rPr>
              <a:t>ferrari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9E07CC9-4777-008B-3F53-876678900259}"/>
              </a:ext>
            </a:extLst>
          </p:cNvPr>
          <p:cNvSpPr txBox="1"/>
          <p:nvPr/>
        </p:nvSpPr>
        <p:spPr>
          <a:xfrm>
            <a:off x="4700016" y="2130552"/>
            <a:ext cx="28163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Claudio Escobar</a:t>
            </a:r>
          </a:p>
          <a:p>
            <a:endParaRPr lang="es-CL" dirty="0">
              <a:solidFill>
                <a:schemeClr val="bg1"/>
              </a:solidFill>
            </a:endParaRPr>
          </a:p>
          <a:p>
            <a:r>
              <a:rPr lang="es-CL" dirty="0">
                <a:solidFill>
                  <a:schemeClr val="bg1"/>
                </a:solidFill>
              </a:rPr>
              <a:t>Nuestro proyecto, aparte de ser innovador por implementar diversas tecnologías, permite compensar un problema , que afecta a las comunidades mas alejadas. Permitiendo la conectividad de una manera mas accesible y de una manera mas acorde a los nuevos tiempos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045F7E4-A70B-4497-E61C-C8AE5AE9D3F0}"/>
              </a:ext>
            </a:extLst>
          </p:cNvPr>
          <p:cNvSpPr txBox="1"/>
          <p:nvPr/>
        </p:nvSpPr>
        <p:spPr>
          <a:xfrm>
            <a:off x="8473440" y="2145792"/>
            <a:ext cx="2816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Renzo </a:t>
            </a:r>
            <a:r>
              <a:rPr lang="es-CL" dirty="0" err="1">
                <a:solidFill>
                  <a:schemeClr val="bg1"/>
                </a:solidFill>
              </a:rPr>
              <a:t>rios</a:t>
            </a:r>
            <a:endParaRPr lang="es-CL" dirty="0">
              <a:solidFill>
                <a:schemeClr val="bg1"/>
              </a:solidFill>
            </a:endParaRPr>
          </a:p>
          <a:p>
            <a:endParaRPr lang="es-C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7125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742</Words>
  <Application>Microsoft Office PowerPoint</Application>
  <PresentationFormat>Panorámica</PresentationFormat>
  <Paragraphs>109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Tema de Office</vt:lpstr>
      <vt:lpstr>Presentación de PowerPoint</vt:lpstr>
      <vt:lpstr>Tabla de contenidos</vt:lpstr>
      <vt:lpstr>             Equipo de trabajo- Roles</vt:lpstr>
      <vt:lpstr>Contexto del proyecto </vt:lpstr>
      <vt:lpstr>PROBLEMATICA</vt:lpstr>
      <vt:lpstr>                                   Necesidad</vt:lpstr>
      <vt:lpstr>arquitectura</vt:lpstr>
      <vt:lpstr>metodologia</vt:lpstr>
      <vt:lpstr>Product Backlog</vt:lpstr>
      <vt:lpstr>Carta Gantt</vt:lpstr>
      <vt:lpstr>                          Presupuesto</vt:lpstr>
      <vt:lpstr>Tablero kanban</vt:lpstr>
      <vt:lpstr>Presentación de PowerPoint</vt:lpstr>
      <vt:lpstr>Sprint 0 backlog</vt:lpstr>
      <vt:lpstr>Sprint 0 Burndown chart</vt:lpstr>
      <vt:lpstr>Sprint 0 impediment log</vt:lpstr>
      <vt:lpstr>Sprint 1 – Backend Base (API REST + DB)</vt:lpstr>
      <vt:lpstr>Sprint 1 backlog</vt:lpstr>
      <vt:lpstr>Sprint 1 Burndown chart</vt:lpstr>
      <vt:lpstr>Sprint 1 impediment log</vt:lpstr>
      <vt:lpstr>Sprint 2 – Frontend Móvil (App Base)</vt:lpstr>
      <vt:lpstr>Sprint 2 backlog</vt:lpstr>
      <vt:lpstr>Sprint 2 Burndown chart</vt:lpstr>
      <vt:lpstr>Sprint 2 impediment log</vt:lpstr>
      <vt:lpstr>Sprint 3 – Integración LoRa Mesh / BLE</vt:lpstr>
      <vt:lpstr>Sprint 3 backlog</vt:lpstr>
      <vt:lpstr>Sprint 3 Burndown chart</vt:lpstr>
      <vt:lpstr>Sprint 3 impediment log</vt:lpstr>
      <vt:lpstr>                         Demostración 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claudio Escobar</dc:creator>
  <cp:lastModifiedBy>claudio Escobar</cp:lastModifiedBy>
  <cp:revision>4</cp:revision>
  <dcterms:created xsi:type="dcterms:W3CDTF">2025-10-16T01:58:34Z</dcterms:created>
  <dcterms:modified xsi:type="dcterms:W3CDTF">2025-10-16T15:22:35Z</dcterms:modified>
</cp:coreProperties>
</file>