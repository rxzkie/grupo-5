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80" r:id="rId4"/>
    <p:sldId id="310" r:id="rId5"/>
    <p:sldId id="273" r:id="rId6"/>
    <p:sldId id="259" r:id="rId7"/>
    <p:sldId id="260" r:id="rId8"/>
    <p:sldId id="277" r:id="rId9"/>
    <p:sldId id="276" r:id="rId10"/>
    <p:sldId id="275" r:id="rId11"/>
    <p:sldId id="278" r:id="rId12"/>
    <p:sldId id="279" r:id="rId13"/>
    <p:sldId id="312" r:id="rId14"/>
    <p:sldId id="282" r:id="rId15"/>
    <p:sldId id="262" r:id="rId16"/>
    <p:sldId id="284" r:id="rId17"/>
    <p:sldId id="290" r:id="rId18"/>
    <p:sldId id="286" r:id="rId19"/>
    <p:sldId id="287" r:id="rId20"/>
    <p:sldId id="289" r:id="rId21"/>
    <p:sldId id="291" r:id="rId22"/>
    <p:sldId id="288" r:id="rId23"/>
    <p:sldId id="292" r:id="rId24"/>
    <p:sldId id="294" r:id="rId25"/>
    <p:sldId id="298" r:id="rId26"/>
    <p:sldId id="293" r:id="rId27"/>
    <p:sldId id="295" r:id="rId28"/>
    <p:sldId id="297" r:id="rId29"/>
    <p:sldId id="301" r:id="rId30"/>
    <p:sldId id="296" r:id="rId31"/>
    <p:sldId id="299" r:id="rId32"/>
    <p:sldId id="302" r:id="rId33"/>
    <p:sldId id="303" r:id="rId34"/>
    <p:sldId id="300" r:id="rId35"/>
    <p:sldId id="304" r:id="rId36"/>
    <p:sldId id="306" r:id="rId37"/>
    <p:sldId id="308" r:id="rId38"/>
    <p:sldId id="307" r:id="rId39"/>
    <p:sldId id="305" r:id="rId40"/>
    <p:sldId id="313" r:id="rId41"/>
    <p:sldId id="314" r:id="rId42"/>
    <p:sldId id="311" r:id="rId43"/>
    <p:sldId id="271" r:id="rId44"/>
    <p:sldId id="270" r:id="rId45"/>
  </p:sldIdLst>
  <p:sldSz cx="18288000" cy="10287000"/>
  <p:notesSz cx="6858000" cy="9144000"/>
  <p:embeddedFontLst>
    <p:embeddedFont>
      <p:font typeface="DM Sans" pitchFamily="2" charset="0"/>
      <p:regular r:id="rId46"/>
      <p:bold r:id="rId47"/>
      <p:italic r:id="rId48"/>
      <p:boldItalic r:id="rId49"/>
    </p:embeddedFont>
    <p:embeddedFont>
      <p:font typeface="Garet Bold" panose="020B0604020202020204" charset="0"/>
      <p:regular r:id="rId50"/>
    </p:embeddedFont>
    <p:embeddedFont>
      <p:font typeface="Libre Franklin" pitchFamily="2" charset="0"/>
      <p:regular r:id="rId51"/>
      <p:bold r:id="rId52"/>
      <p:italic r:id="rId53"/>
      <p:boldItalic r:id="rId54"/>
    </p:embeddedFont>
    <p:embeddedFont>
      <p:font typeface="Montserrat" panose="00000500000000000000" pitchFamily="2" charset="0"/>
      <p:regular r:id="rId55"/>
      <p:bold r:id="rId56"/>
      <p:italic r:id="rId57"/>
      <p:boldItalic r:id="rId58"/>
    </p:embeddedFont>
    <p:embeddedFont>
      <p:font typeface="Montserrat Bold" panose="00000800000000000000" charset="0"/>
      <p:bold r:id="rId59"/>
    </p:embeddedFont>
    <p:embeddedFont>
      <p:font typeface="Muli Heavy" panose="020B0604020202020204" charset="0"/>
      <p:regular r:id="rId60"/>
    </p:embeddedFont>
    <p:embeddedFont>
      <p:font typeface="Poppins" panose="00000500000000000000" pitchFamily="2" charset="0"/>
      <p:regular r:id="rId61"/>
      <p:bold r:id="rId62"/>
      <p:italic r:id="rId63"/>
      <p:boldItalic r:id="rId64"/>
    </p:embeddedFont>
    <p:embeddedFont>
      <p:font typeface="TT Interphases" panose="020B0604020202020204" charset="0"/>
      <p:regular r:id="rId65"/>
    </p:embeddedFont>
    <p:embeddedFont>
      <p:font typeface="TT Interphases Bold" panose="020B0604020202020204" charset="0"/>
      <p:regular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63" Type="http://schemas.openxmlformats.org/officeDocument/2006/relationships/font" Target="fonts/font18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66" Type="http://schemas.openxmlformats.org/officeDocument/2006/relationships/font" Target="fonts/font21.fntdata"/><Relationship Id="rId5" Type="http://schemas.openxmlformats.org/officeDocument/2006/relationships/slide" Target="slides/slide4.xml"/><Relationship Id="rId61" Type="http://schemas.openxmlformats.org/officeDocument/2006/relationships/font" Target="fonts/font1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font" Target="fonts/font19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font" Target="fonts/font17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5.fntdata"/><Relationship Id="rId55" Type="http://schemas.openxmlformats.org/officeDocument/2006/relationships/font" Target="fonts/font10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Escritorio\evudencias\BURNDOWN%20CHART%20final,final\Burndown_Sprint4_DIA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Escritorio\evudencias\BURNDOWN%20CHART%20final,final\Burndown_Sprint5_DIA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L"/>
              <a:t>Burndown – Sprint 4 – Integración (Sem 11–13)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Burndown!$E$2</c:f>
              <c:strCache>
                <c:ptCount val="1"/>
                <c:pt idx="0">
                  <c:v>Ideal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Burndown!$E$3:$E$16</c:f>
              <c:numCache>
                <c:formatCode>General</c:formatCode>
                <c:ptCount val="14"/>
                <c:pt idx="0">
                  <c:v>30</c:v>
                </c:pt>
                <c:pt idx="1">
                  <c:v>27.7</c:v>
                </c:pt>
                <c:pt idx="2">
                  <c:v>25.4</c:v>
                </c:pt>
                <c:pt idx="3">
                  <c:v>23.1</c:v>
                </c:pt>
                <c:pt idx="4">
                  <c:v>20.8</c:v>
                </c:pt>
                <c:pt idx="5">
                  <c:v>18.5</c:v>
                </c:pt>
                <c:pt idx="6">
                  <c:v>16.2</c:v>
                </c:pt>
                <c:pt idx="7">
                  <c:v>13.9</c:v>
                </c:pt>
                <c:pt idx="8">
                  <c:v>11.6</c:v>
                </c:pt>
                <c:pt idx="9">
                  <c:v>9.3000000000000007</c:v>
                </c:pt>
                <c:pt idx="10">
                  <c:v>7</c:v>
                </c:pt>
                <c:pt idx="11">
                  <c:v>4.7</c:v>
                </c:pt>
                <c:pt idx="12">
                  <c:v>2.4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44-4759-B38D-5D24CD2D7AEC}"/>
            </c:ext>
          </c:extLst>
        </c:ser>
        <c:ser>
          <c:idx val="1"/>
          <c:order val="1"/>
          <c:tx>
            <c:strRef>
              <c:f>Burndown!$F$2</c:f>
              <c:strCache>
                <c:ptCount val="1"/>
                <c:pt idx="0">
                  <c:v>Real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Burndown!$F$3:$F$16</c:f>
              <c:numCache>
                <c:formatCode>General</c:formatCode>
                <c:ptCount val="14"/>
                <c:pt idx="0">
                  <c:v>30</c:v>
                </c:pt>
                <c:pt idx="1">
                  <c:v>29</c:v>
                </c:pt>
                <c:pt idx="2">
                  <c:v>28</c:v>
                </c:pt>
                <c:pt idx="3">
                  <c:v>27</c:v>
                </c:pt>
                <c:pt idx="4">
                  <c:v>25</c:v>
                </c:pt>
                <c:pt idx="5">
                  <c:v>23</c:v>
                </c:pt>
                <c:pt idx="6">
                  <c:v>21</c:v>
                </c:pt>
                <c:pt idx="7">
                  <c:v>18</c:v>
                </c:pt>
                <c:pt idx="8">
                  <c:v>14</c:v>
                </c:pt>
                <c:pt idx="9">
                  <c:v>10</c:v>
                </c:pt>
                <c:pt idx="10">
                  <c:v>7</c:v>
                </c:pt>
                <c:pt idx="11">
                  <c:v>4</c:v>
                </c:pt>
                <c:pt idx="12">
                  <c:v>2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44-4759-B38D-5D24CD2D7A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Día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Horas restantes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L"/>
              <a:t>Burndown – Sprint 5 – Pruebas finales (Sem 14-16)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Burndown!$E$2</c:f>
              <c:strCache>
                <c:ptCount val="1"/>
                <c:pt idx="0">
                  <c:v>Ideal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Burndown!$E$3:$E$16</c:f>
              <c:numCache>
                <c:formatCode>General</c:formatCode>
                <c:ptCount val="14"/>
                <c:pt idx="0">
                  <c:v>30</c:v>
                </c:pt>
                <c:pt idx="1">
                  <c:v>27.7</c:v>
                </c:pt>
                <c:pt idx="2">
                  <c:v>25.4</c:v>
                </c:pt>
                <c:pt idx="3">
                  <c:v>23.1</c:v>
                </c:pt>
                <c:pt idx="4">
                  <c:v>20.8</c:v>
                </c:pt>
                <c:pt idx="5">
                  <c:v>18.5</c:v>
                </c:pt>
                <c:pt idx="6">
                  <c:v>16.2</c:v>
                </c:pt>
                <c:pt idx="7">
                  <c:v>13.9</c:v>
                </c:pt>
                <c:pt idx="8">
                  <c:v>11.6</c:v>
                </c:pt>
                <c:pt idx="9">
                  <c:v>9.3000000000000007</c:v>
                </c:pt>
                <c:pt idx="10">
                  <c:v>7</c:v>
                </c:pt>
                <c:pt idx="11">
                  <c:v>4.7</c:v>
                </c:pt>
                <c:pt idx="12">
                  <c:v>2.4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21-4E81-BB67-508CE650EE69}"/>
            </c:ext>
          </c:extLst>
        </c:ser>
        <c:ser>
          <c:idx val="1"/>
          <c:order val="1"/>
          <c:tx>
            <c:strRef>
              <c:f>Burndown!$F$2</c:f>
              <c:strCache>
                <c:ptCount val="1"/>
                <c:pt idx="0">
                  <c:v>Real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Burndown!$F$3:$F$16</c:f>
              <c:numCache>
                <c:formatCode>General</c:formatCode>
                <c:ptCount val="14"/>
                <c:pt idx="0">
                  <c:v>30</c:v>
                </c:pt>
                <c:pt idx="1">
                  <c:v>30</c:v>
                </c:pt>
                <c:pt idx="2">
                  <c:v>29</c:v>
                </c:pt>
                <c:pt idx="3">
                  <c:v>28</c:v>
                </c:pt>
                <c:pt idx="4">
                  <c:v>27</c:v>
                </c:pt>
                <c:pt idx="5">
                  <c:v>25</c:v>
                </c:pt>
                <c:pt idx="6">
                  <c:v>24</c:v>
                </c:pt>
                <c:pt idx="7">
                  <c:v>21</c:v>
                </c:pt>
                <c:pt idx="8">
                  <c:v>18</c:v>
                </c:pt>
                <c:pt idx="9">
                  <c:v>15</c:v>
                </c:pt>
                <c:pt idx="10">
                  <c:v>12</c:v>
                </c:pt>
                <c:pt idx="11">
                  <c:v>8</c:v>
                </c:pt>
                <c:pt idx="12">
                  <c:v>3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21-4E81-BB67-508CE650EE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Día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Horas restantes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18.png"/><Relationship Id="rId4" Type="http://schemas.openxmlformats.org/officeDocument/2006/relationships/image" Target="../media/image23.sv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 rot="2376901">
            <a:off x="6025872" y="-1562825"/>
            <a:ext cx="13552631" cy="21642251"/>
            <a:chOff x="0" y="0"/>
            <a:chExt cx="3569417" cy="57000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69417" cy="5700017"/>
            </a:xfrm>
            <a:custGeom>
              <a:avLst/>
              <a:gdLst/>
              <a:ahLst/>
              <a:cxnLst/>
              <a:rect l="l" t="t" r="r" b="b"/>
              <a:pathLst>
                <a:path w="3569417" h="5700017">
                  <a:moveTo>
                    <a:pt x="0" y="0"/>
                  </a:moveTo>
                  <a:lnTo>
                    <a:pt x="3569417" y="0"/>
                  </a:lnTo>
                  <a:lnTo>
                    <a:pt x="3569417" y="5700017"/>
                  </a:lnTo>
                  <a:lnTo>
                    <a:pt x="0" y="5700017"/>
                  </a:ln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569417" cy="57381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195769" y="3915744"/>
            <a:ext cx="11896462" cy="210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69"/>
              </a:lnSpc>
            </a:pPr>
            <a:r>
              <a:rPr lang="en-US" sz="8800" b="1" spc="292" dirty="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PROYECTO P.R.A.C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57021" y="8097981"/>
            <a:ext cx="8305800" cy="10497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31"/>
              </a:lnSpc>
              <a:spcBef>
                <a:spcPct val="0"/>
              </a:spcBef>
            </a:pPr>
            <a:r>
              <a:rPr lang="en-US" sz="2022" b="1" dirty="0">
                <a:solidFill>
                  <a:schemeClr val="bg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Carlos de Ferrari </a:t>
            </a:r>
            <a:endParaRPr lang="es-MX" sz="2022" b="1" dirty="0">
              <a:solidFill>
                <a:schemeClr val="bg1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marL="0" lvl="0" indent="0" algn="ctr">
              <a:lnSpc>
                <a:spcPts val="2831"/>
              </a:lnSpc>
              <a:spcBef>
                <a:spcPct val="0"/>
              </a:spcBef>
            </a:pPr>
            <a:r>
              <a:rPr lang="es-MX" sz="2022" b="1" dirty="0">
                <a:solidFill>
                  <a:schemeClr val="bg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Claudio Escobar</a:t>
            </a:r>
          </a:p>
          <a:p>
            <a:pPr marL="0" lvl="0" indent="0" algn="ctr">
              <a:lnSpc>
                <a:spcPts val="2831"/>
              </a:lnSpc>
              <a:spcBef>
                <a:spcPct val="0"/>
              </a:spcBef>
            </a:pPr>
            <a:r>
              <a:rPr lang="es-MX" sz="2022" b="1" dirty="0">
                <a:solidFill>
                  <a:schemeClr val="bg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Renzo </a:t>
            </a:r>
            <a:r>
              <a:rPr lang="es-MX" sz="2022" b="1" dirty="0" err="1">
                <a:solidFill>
                  <a:schemeClr val="bg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rios</a:t>
            </a:r>
            <a:endParaRPr lang="en-US" sz="2022" b="1" dirty="0">
              <a:solidFill>
                <a:schemeClr val="bg1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891578" y="6369591"/>
            <a:ext cx="7636686" cy="241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</a:rPr>
              <a:t>Plataforma Resiliente de Comunicación y Alerta en Catástrofes</a:t>
            </a:r>
          </a:p>
          <a:p>
            <a:br>
              <a:rPr lang="es-MX" sz="4800" dirty="0"/>
            </a:br>
            <a:endParaRPr lang="en-US" sz="4519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pic>
        <p:nvPicPr>
          <p:cNvPr id="19" name="Imagen 18" descr="Logotipo&#10;&#10;El contenido generado por IA puede ser incorrecto.">
            <a:extLst>
              <a:ext uri="{FF2B5EF4-FFF2-40B4-BE49-F238E27FC236}">
                <a16:creationId xmlns:a16="http://schemas.microsoft.com/office/drawing/2014/main" id="{BE6EF40A-40EF-0249-3BB9-CD21DB4A7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704548"/>
            <a:ext cx="4113618" cy="34795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 rot="5400000">
            <a:off x="5388255" y="-5802390"/>
            <a:ext cx="7656149" cy="2189178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774"/>
              </a:lnSpc>
            </a:pPr>
            <a:endParaRPr/>
          </a:p>
        </p:txBody>
      </p:sp>
      <p:sp>
        <p:nvSpPr>
          <p:cNvPr id="55" name="Freeform 2">
            <a:extLst>
              <a:ext uri="{FF2B5EF4-FFF2-40B4-BE49-F238E27FC236}">
                <a16:creationId xmlns:a16="http://schemas.microsoft.com/office/drawing/2014/main" id="{0CBD6A56-6130-2EE8-D806-BE7EC98641DF}"/>
              </a:ext>
            </a:extLst>
          </p:cNvPr>
          <p:cNvSpPr/>
          <p:nvPr/>
        </p:nvSpPr>
        <p:spPr>
          <a:xfrm>
            <a:off x="-1187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56" name="TextBox 6">
            <a:extLst>
              <a:ext uri="{FF2B5EF4-FFF2-40B4-BE49-F238E27FC236}">
                <a16:creationId xmlns:a16="http://schemas.microsoft.com/office/drawing/2014/main" id="{E00423A7-10B0-B6E2-D874-C4C8FB9BC917}"/>
              </a:ext>
            </a:extLst>
          </p:cNvPr>
          <p:cNvSpPr txBox="1"/>
          <p:nvPr/>
        </p:nvSpPr>
        <p:spPr>
          <a:xfrm>
            <a:off x="6477000" y="935265"/>
            <a:ext cx="4520777" cy="119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51"/>
              </a:lnSpc>
              <a:spcBef>
                <a:spcPct val="0"/>
              </a:spcBef>
            </a:pPr>
            <a:r>
              <a:rPr lang="en-US" sz="7621" b="1" spc="144" dirty="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ÍNDICE</a:t>
            </a:r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C61DDD12-B2E5-07D6-BE79-77697B1329BC}"/>
              </a:ext>
            </a:extLst>
          </p:cNvPr>
          <p:cNvSpPr txBox="1"/>
          <p:nvPr/>
        </p:nvSpPr>
        <p:spPr>
          <a:xfrm>
            <a:off x="4372571" y="5264255"/>
            <a:ext cx="3810000" cy="6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 u="none" strike="noStrike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Problematica</a:t>
            </a:r>
            <a:endParaRPr lang="en-US" sz="4001" u="none" strike="noStrike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58" name="TextBox 8">
            <a:extLst>
              <a:ext uri="{FF2B5EF4-FFF2-40B4-BE49-F238E27FC236}">
                <a16:creationId xmlns:a16="http://schemas.microsoft.com/office/drawing/2014/main" id="{C87B61FF-B63A-0290-A7C7-17AA100B0B68}"/>
              </a:ext>
            </a:extLst>
          </p:cNvPr>
          <p:cNvSpPr txBox="1"/>
          <p:nvPr/>
        </p:nvSpPr>
        <p:spPr>
          <a:xfrm>
            <a:off x="4372571" y="6247221"/>
            <a:ext cx="3810000" cy="6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 u="none" strike="noStrike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Necesidad</a:t>
            </a:r>
            <a:endParaRPr lang="en-US" sz="4001" u="none" strike="noStrike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59" name="TextBox 9">
            <a:extLst>
              <a:ext uri="{FF2B5EF4-FFF2-40B4-BE49-F238E27FC236}">
                <a16:creationId xmlns:a16="http://schemas.microsoft.com/office/drawing/2014/main" id="{6EFA8764-6478-66B1-ABCB-FB7B25B40FF9}"/>
              </a:ext>
            </a:extLst>
          </p:cNvPr>
          <p:cNvSpPr txBox="1"/>
          <p:nvPr/>
        </p:nvSpPr>
        <p:spPr>
          <a:xfrm>
            <a:off x="10077720" y="4292000"/>
            <a:ext cx="3810000" cy="6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 u="none" strike="noStrike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Carta </a:t>
            </a:r>
            <a:r>
              <a:rPr lang="en-US" sz="4001" u="none" strike="noStrike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gantt</a:t>
            </a:r>
            <a:endParaRPr lang="en-US" sz="4001" u="none" strike="noStrike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0" name="TextBox 10">
            <a:extLst>
              <a:ext uri="{FF2B5EF4-FFF2-40B4-BE49-F238E27FC236}">
                <a16:creationId xmlns:a16="http://schemas.microsoft.com/office/drawing/2014/main" id="{27C20B37-C5B6-2E9D-D388-B8597DDA5F3A}"/>
              </a:ext>
            </a:extLst>
          </p:cNvPr>
          <p:cNvSpPr txBox="1"/>
          <p:nvPr/>
        </p:nvSpPr>
        <p:spPr>
          <a:xfrm>
            <a:off x="10077720" y="3309034"/>
            <a:ext cx="381000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41"/>
              </a:lnSpc>
            </a:pPr>
            <a:r>
              <a:rPr lang="es-CL" sz="4000" dirty="0" err="1">
                <a:solidFill>
                  <a:schemeClr val="bg1"/>
                </a:solidFill>
                <a:latin typeface="TT Interphases" panose="020B0604020202020204" charset="0"/>
              </a:rPr>
              <a:t>Product</a:t>
            </a:r>
            <a:r>
              <a:rPr lang="es-CL" dirty="0">
                <a:solidFill>
                  <a:schemeClr val="bg1"/>
                </a:solidFill>
                <a:latin typeface="TT Interphases" panose="020B0604020202020204" charset="0"/>
              </a:rPr>
              <a:t> </a:t>
            </a:r>
            <a:r>
              <a:rPr lang="es-CL" sz="4000" dirty="0">
                <a:solidFill>
                  <a:schemeClr val="bg1"/>
                </a:solidFill>
                <a:latin typeface="TT Interphases" panose="020B0604020202020204" charset="0"/>
              </a:rPr>
              <a:t>Backlog</a:t>
            </a:r>
            <a:endParaRPr lang="en-US" sz="4000" u="none" strike="noStrike" dirty="0">
              <a:solidFill>
                <a:schemeClr val="bg1"/>
              </a:solidFill>
              <a:latin typeface="TT Interphases" panose="020B0604020202020204" charset="0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1" name="TextBox 11">
            <a:extLst>
              <a:ext uri="{FF2B5EF4-FFF2-40B4-BE49-F238E27FC236}">
                <a16:creationId xmlns:a16="http://schemas.microsoft.com/office/drawing/2014/main" id="{082162EC-01FB-D4D1-4B1D-6B8F92BD7A65}"/>
              </a:ext>
            </a:extLst>
          </p:cNvPr>
          <p:cNvSpPr txBox="1"/>
          <p:nvPr/>
        </p:nvSpPr>
        <p:spPr>
          <a:xfrm>
            <a:off x="4372570" y="3285574"/>
            <a:ext cx="423802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 u="none" strike="noStrike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Equipo de </a:t>
            </a:r>
            <a:r>
              <a:rPr lang="en-US" sz="4001" u="none" strike="noStrike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trabajo</a:t>
            </a:r>
            <a:r>
              <a:rPr lang="en-US" sz="4001" u="none" strike="noStrike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</a:p>
        </p:txBody>
      </p:sp>
      <p:sp>
        <p:nvSpPr>
          <p:cNvPr id="62" name="TextBox 12">
            <a:extLst>
              <a:ext uri="{FF2B5EF4-FFF2-40B4-BE49-F238E27FC236}">
                <a16:creationId xmlns:a16="http://schemas.microsoft.com/office/drawing/2014/main" id="{C6BA5E40-FA30-41F6-0C5C-D8FC6EBDA9C0}"/>
              </a:ext>
            </a:extLst>
          </p:cNvPr>
          <p:cNvSpPr txBox="1"/>
          <p:nvPr/>
        </p:nvSpPr>
        <p:spPr>
          <a:xfrm>
            <a:off x="4372571" y="4285144"/>
            <a:ext cx="3810000" cy="6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 u="none" strike="noStrike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contexto</a:t>
            </a:r>
            <a:endParaRPr lang="en-US" sz="4001" u="none" strike="noStrike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3" name="TextBox 13">
            <a:extLst>
              <a:ext uri="{FF2B5EF4-FFF2-40B4-BE49-F238E27FC236}">
                <a16:creationId xmlns:a16="http://schemas.microsoft.com/office/drawing/2014/main" id="{5F417529-1BD2-4EEE-0FEF-F5D2366BFB4F}"/>
              </a:ext>
            </a:extLst>
          </p:cNvPr>
          <p:cNvSpPr txBox="1"/>
          <p:nvPr/>
        </p:nvSpPr>
        <p:spPr>
          <a:xfrm>
            <a:off x="4396902" y="7230187"/>
            <a:ext cx="4390429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3600" u="none" strike="noStrike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Arquitectura</a:t>
            </a:r>
            <a:r>
              <a:rPr lang="en-US" sz="3600" u="none" strike="noStrike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</a:t>
            </a:r>
            <a:r>
              <a:rPr lang="en-US" sz="3600" u="none" strike="noStrike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sistema</a:t>
            </a:r>
            <a:endParaRPr lang="en-US" sz="3600" u="none" strike="noStrike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4" name="TextBox 14">
            <a:extLst>
              <a:ext uri="{FF2B5EF4-FFF2-40B4-BE49-F238E27FC236}">
                <a16:creationId xmlns:a16="http://schemas.microsoft.com/office/drawing/2014/main" id="{029BE421-8A48-592A-5D21-874F844921CF}"/>
              </a:ext>
            </a:extLst>
          </p:cNvPr>
          <p:cNvSpPr txBox="1"/>
          <p:nvPr/>
        </p:nvSpPr>
        <p:spPr>
          <a:xfrm>
            <a:off x="4386426" y="8732095"/>
            <a:ext cx="3810000" cy="6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 u="none" strike="noStrike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Procesos</a:t>
            </a:r>
            <a:endParaRPr lang="en-US" sz="4001" u="none" strike="noStrike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grpSp>
        <p:nvGrpSpPr>
          <p:cNvPr id="65" name="Group 15">
            <a:extLst>
              <a:ext uri="{FF2B5EF4-FFF2-40B4-BE49-F238E27FC236}">
                <a16:creationId xmlns:a16="http://schemas.microsoft.com/office/drawing/2014/main" id="{EC95D2D2-5212-09BA-B679-EC5C3FA85EC8}"/>
              </a:ext>
            </a:extLst>
          </p:cNvPr>
          <p:cNvGrpSpPr/>
          <p:nvPr/>
        </p:nvGrpSpPr>
        <p:grpSpPr>
          <a:xfrm>
            <a:off x="3483896" y="3281034"/>
            <a:ext cx="632635" cy="632635"/>
            <a:chOff x="0" y="0"/>
            <a:chExt cx="843514" cy="843514"/>
          </a:xfrm>
        </p:grpSpPr>
        <p:grpSp>
          <p:nvGrpSpPr>
            <p:cNvPr id="66" name="Group 16">
              <a:extLst>
                <a:ext uri="{FF2B5EF4-FFF2-40B4-BE49-F238E27FC236}">
                  <a16:creationId xmlns:a16="http://schemas.microsoft.com/office/drawing/2014/main" id="{5F562C40-76A7-425C-9302-135CA3C8C134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68" name="Freeform 17">
                <a:extLst>
                  <a:ext uri="{FF2B5EF4-FFF2-40B4-BE49-F238E27FC236}">
                    <a16:creationId xmlns:a16="http://schemas.microsoft.com/office/drawing/2014/main" id="{17595FE7-388B-55E9-2E91-C5A09177EA5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9" name="TextBox 18">
                <a:extLst>
                  <a:ext uri="{FF2B5EF4-FFF2-40B4-BE49-F238E27FC236}">
                    <a16:creationId xmlns:a16="http://schemas.microsoft.com/office/drawing/2014/main" id="{FFEE0BE9-2F26-C12E-EEE6-A23D79A4027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67" name="TextBox 19">
              <a:extLst>
                <a:ext uri="{FF2B5EF4-FFF2-40B4-BE49-F238E27FC236}">
                  <a16:creationId xmlns:a16="http://schemas.microsoft.com/office/drawing/2014/main" id="{1CA93519-9FA8-4361-8B2B-B00DD5B7DE6A}"/>
                </a:ext>
              </a:extLst>
            </p:cNvPr>
            <p:cNvSpPr txBox="1"/>
            <p:nvPr/>
          </p:nvSpPr>
          <p:spPr>
            <a:xfrm>
              <a:off x="223126" y="14143"/>
              <a:ext cx="397262" cy="74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 dirty="0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1</a:t>
              </a:r>
            </a:p>
          </p:txBody>
        </p:sp>
      </p:grpSp>
      <p:grpSp>
        <p:nvGrpSpPr>
          <p:cNvPr id="70" name="Group 20">
            <a:extLst>
              <a:ext uri="{FF2B5EF4-FFF2-40B4-BE49-F238E27FC236}">
                <a16:creationId xmlns:a16="http://schemas.microsoft.com/office/drawing/2014/main" id="{A304E3E9-D891-51A3-B79F-7923B04E5591}"/>
              </a:ext>
            </a:extLst>
          </p:cNvPr>
          <p:cNvGrpSpPr/>
          <p:nvPr/>
        </p:nvGrpSpPr>
        <p:grpSpPr>
          <a:xfrm>
            <a:off x="3476812" y="7469191"/>
            <a:ext cx="632635" cy="632635"/>
            <a:chOff x="0" y="0"/>
            <a:chExt cx="843514" cy="843514"/>
          </a:xfrm>
        </p:grpSpPr>
        <p:grpSp>
          <p:nvGrpSpPr>
            <p:cNvPr id="71" name="Group 21">
              <a:extLst>
                <a:ext uri="{FF2B5EF4-FFF2-40B4-BE49-F238E27FC236}">
                  <a16:creationId xmlns:a16="http://schemas.microsoft.com/office/drawing/2014/main" id="{8F38978D-132F-9CBA-41F9-2829809D6405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73" name="Freeform 22">
                <a:extLst>
                  <a:ext uri="{FF2B5EF4-FFF2-40B4-BE49-F238E27FC236}">
                    <a16:creationId xmlns:a16="http://schemas.microsoft.com/office/drawing/2014/main" id="{03050AA3-5488-4AB7-6DC0-7930E291DC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74" name="TextBox 23">
                <a:extLst>
                  <a:ext uri="{FF2B5EF4-FFF2-40B4-BE49-F238E27FC236}">
                    <a16:creationId xmlns:a16="http://schemas.microsoft.com/office/drawing/2014/main" id="{82814394-FD5F-4269-2BD6-D9C10028917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72" name="TextBox 24">
              <a:extLst>
                <a:ext uri="{FF2B5EF4-FFF2-40B4-BE49-F238E27FC236}">
                  <a16:creationId xmlns:a16="http://schemas.microsoft.com/office/drawing/2014/main" id="{CD269264-CD0F-E43E-955D-A7672E3FECA7}"/>
                </a:ext>
              </a:extLst>
            </p:cNvPr>
            <p:cNvSpPr txBox="1"/>
            <p:nvPr/>
          </p:nvSpPr>
          <p:spPr>
            <a:xfrm>
              <a:off x="223126" y="14143"/>
              <a:ext cx="397262" cy="74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5</a:t>
              </a:r>
            </a:p>
          </p:txBody>
        </p:sp>
      </p:grpSp>
      <p:grpSp>
        <p:nvGrpSpPr>
          <p:cNvPr id="75" name="Group 25">
            <a:extLst>
              <a:ext uri="{FF2B5EF4-FFF2-40B4-BE49-F238E27FC236}">
                <a16:creationId xmlns:a16="http://schemas.microsoft.com/office/drawing/2014/main" id="{5473FD54-50CC-BE07-2572-12AB48D37A99}"/>
              </a:ext>
            </a:extLst>
          </p:cNvPr>
          <p:cNvGrpSpPr/>
          <p:nvPr/>
        </p:nvGrpSpPr>
        <p:grpSpPr>
          <a:xfrm>
            <a:off x="3483896" y="4280604"/>
            <a:ext cx="632635" cy="632635"/>
            <a:chOff x="0" y="0"/>
            <a:chExt cx="843514" cy="843514"/>
          </a:xfrm>
        </p:grpSpPr>
        <p:grpSp>
          <p:nvGrpSpPr>
            <p:cNvPr id="76" name="Group 26">
              <a:extLst>
                <a:ext uri="{FF2B5EF4-FFF2-40B4-BE49-F238E27FC236}">
                  <a16:creationId xmlns:a16="http://schemas.microsoft.com/office/drawing/2014/main" id="{26EC74A4-4602-96C5-BC88-4D54B489FEE7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78" name="Freeform 27">
                <a:extLst>
                  <a:ext uri="{FF2B5EF4-FFF2-40B4-BE49-F238E27FC236}">
                    <a16:creationId xmlns:a16="http://schemas.microsoft.com/office/drawing/2014/main" id="{100FE11B-2235-7290-0CC3-08D17D33D64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79" name="TextBox 28">
                <a:extLst>
                  <a:ext uri="{FF2B5EF4-FFF2-40B4-BE49-F238E27FC236}">
                    <a16:creationId xmlns:a16="http://schemas.microsoft.com/office/drawing/2014/main" id="{99B9DFA5-71A4-7EB1-AB99-CF67A3A8B67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77" name="TextBox 29">
              <a:extLst>
                <a:ext uri="{FF2B5EF4-FFF2-40B4-BE49-F238E27FC236}">
                  <a16:creationId xmlns:a16="http://schemas.microsoft.com/office/drawing/2014/main" id="{194CC065-59E8-8F53-2AF1-F60AE789A58B}"/>
                </a:ext>
              </a:extLst>
            </p:cNvPr>
            <p:cNvSpPr txBox="1"/>
            <p:nvPr/>
          </p:nvSpPr>
          <p:spPr>
            <a:xfrm>
              <a:off x="223126" y="14143"/>
              <a:ext cx="397262" cy="74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2</a:t>
              </a:r>
            </a:p>
          </p:txBody>
        </p:sp>
      </p:grpSp>
      <p:grpSp>
        <p:nvGrpSpPr>
          <p:cNvPr id="80" name="Group 30">
            <a:extLst>
              <a:ext uri="{FF2B5EF4-FFF2-40B4-BE49-F238E27FC236}">
                <a16:creationId xmlns:a16="http://schemas.microsoft.com/office/drawing/2014/main" id="{048912DD-BED0-6D58-7C99-B2F34B665501}"/>
              </a:ext>
            </a:extLst>
          </p:cNvPr>
          <p:cNvGrpSpPr/>
          <p:nvPr/>
        </p:nvGrpSpPr>
        <p:grpSpPr>
          <a:xfrm>
            <a:off x="3476812" y="8719102"/>
            <a:ext cx="632635" cy="632635"/>
            <a:chOff x="0" y="0"/>
            <a:chExt cx="843514" cy="843514"/>
          </a:xfrm>
        </p:grpSpPr>
        <p:grpSp>
          <p:nvGrpSpPr>
            <p:cNvPr id="81" name="Group 31">
              <a:extLst>
                <a:ext uri="{FF2B5EF4-FFF2-40B4-BE49-F238E27FC236}">
                  <a16:creationId xmlns:a16="http://schemas.microsoft.com/office/drawing/2014/main" id="{0EB92AD1-B46D-0F1A-B16B-5342DA9D8F05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83" name="Freeform 32">
                <a:extLst>
                  <a:ext uri="{FF2B5EF4-FFF2-40B4-BE49-F238E27FC236}">
                    <a16:creationId xmlns:a16="http://schemas.microsoft.com/office/drawing/2014/main" id="{E6929DB8-65EF-3463-D81D-B6B17BDB2A6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4" name="TextBox 33">
                <a:extLst>
                  <a:ext uri="{FF2B5EF4-FFF2-40B4-BE49-F238E27FC236}">
                    <a16:creationId xmlns:a16="http://schemas.microsoft.com/office/drawing/2014/main" id="{E3CF2756-1139-836A-DA90-8218FAFBED3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82" name="TextBox 34">
              <a:extLst>
                <a:ext uri="{FF2B5EF4-FFF2-40B4-BE49-F238E27FC236}">
                  <a16:creationId xmlns:a16="http://schemas.microsoft.com/office/drawing/2014/main" id="{D3EACA46-EF10-3CC9-2E0D-5A0BAC0AB4E2}"/>
                </a:ext>
              </a:extLst>
            </p:cNvPr>
            <p:cNvSpPr txBox="1"/>
            <p:nvPr/>
          </p:nvSpPr>
          <p:spPr>
            <a:xfrm>
              <a:off x="223126" y="14143"/>
              <a:ext cx="397262" cy="74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6</a:t>
              </a:r>
            </a:p>
          </p:txBody>
        </p:sp>
      </p:grpSp>
      <p:grpSp>
        <p:nvGrpSpPr>
          <p:cNvPr id="85" name="Group 35">
            <a:extLst>
              <a:ext uri="{FF2B5EF4-FFF2-40B4-BE49-F238E27FC236}">
                <a16:creationId xmlns:a16="http://schemas.microsoft.com/office/drawing/2014/main" id="{E7445609-8725-9F0A-61FC-ACA66464E7FF}"/>
              </a:ext>
            </a:extLst>
          </p:cNvPr>
          <p:cNvGrpSpPr/>
          <p:nvPr/>
        </p:nvGrpSpPr>
        <p:grpSpPr>
          <a:xfrm>
            <a:off x="3483896" y="5280174"/>
            <a:ext cx="632635" cy="632635"/>
            <a:chOff x="0" y="0"/>
            <a:chExt cx="843514" cy="843514"/>
          </a:xfrm>
        </p:grpSpPr>
        <p:grpSp>
          <p:nvGrpSpPr>
            <p:cNvPr id="86" name="Group 36">
              <a:extLst>
                <a:ext uri="{FF2B5EF4-FFF2-40B4-BE49-F238E27FC236}">
                  <a16:creationId xmlns:a16="http://schemas.microsoft.com/office/drawing/2014/main" id="{A18D649E-9526-C26C-A638-89F418154E6C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88" name="Freeform 37">
                <a:extLst>
                  <a:ext uri="{FF2B5EF4-FFF2-40B4-BE49-F238E27FC236}">
                    <a16:creationId xmlns:a16="http://schemas.microsoft.com/office/drawing/2014/main" id="{8F7DEACB-13BB-BB85-49BB-C32C732CAC0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9" name="TextBox 38">
                <a:extLst>
                  <a:ext uri="{FF2B5EF4-FFF2-40B4-BE49-F238E27FC236}">
                    <a16:creationId xmlns:a16="http://schemas.microsoft.com/office/drawing/2014/main" id="{23657782-EAE5-ECAA-9910-18DA325E8F2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87" name="TextBox 39">
              <a:extLst>
                <a:ext uri="{FF2B5EF4-FFF2-40B4-BE49-F238E27FC236}">
                  <a16:creationId xmlns:a16="http://schemas.microsoft.com/office/drawing/2014/main" id="{08FA5126-0593-1AB8-7EC6-C77504E3C668}"/>
                </a:ext>
              </a:extLst>
            </p:cNvPr>
            <p:cNvSpPr txBox="1"/>
            <p:nvPr/>
          </p:nvSpPr>
          <p:spPr>
            <a:xfrm>
              <a:off x="223126" y="14143"/>
              <a:ext cx="397262" cy="74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3</a:t>
              </a:r>
            </a:p>
          </p:txBody>
        </p:sp>
      </p:grpSp>
      <p:grpSp>
        <p:nvGrpSpPr>
          <p:cNvPr id="90" name="Group 40">
            <a:extLst>
              <a:ext uri="{FF2B5EF4-FFF2-40B4-BE49-F238E27FC236}">
                <a16:creationId xmlns:a16="http://schemas.microsoft.com/office/drawing/2014/main" id="{1DFE1E91-5EC7-199C-6EBC-8A745EE4B2F3}"/>
              </a:ext>
            </a:extLst>
          </p:cNvPr>
          <p:cNvGrpSpPr/>
          <p:nvPr/>
        </p:nvGrpSpPr>
        <p:grpSpPr>
          <a:xfrm>
            <a:off x="9181961" y="3324953"/>
            <a:ext cx="632635" cy="632635"/>
            <a:chOff x="0" y="0"/>
            <a:chExt cx="843514" cy="843514"/>
          </a:xfrm>
        </p:grpSpPr>
        <p:grpSp>
          <p:nvGrpSpPr>
            <p:cNvPr id="91" name="Group 41">
              <a:extLst>
                <a:ext uri="{FF2B5EF4-FFF2-40B4-BE49-F238E27FC236}">
                  <a16:creationId xmlns:a16="http://schemas.microsoft.com/office/drawing/2014/main" id="{2CDBDC0C-DA7E-DEA0-A48E-3A9A9361ED42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93" name="Freeform 42">
                <a:extLst>
                  <a:ext uri="{FF2B5EF4-FFF2-40B4-BE49-F238E27FC236}">
                    <a16:creationId xmlns:a16="http://schemas.microsoft.com/office/drawing/2014/main" id="{13506187-2132-9EBF-C9C1-FD9F974B9A1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94" name="TextBox 43">
                <a:extLst>
                  <a:ext uri="{FF2B5EF4-FFF2-40B4-BE49-F238E27FC236}">
                    <a16:creationId xmlns:a16="http://schemas.microsoft.com/office/drawing/2014/main" id="{1ED94121-0C24-A414-E198-5F25EDBFEE7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92" name="TextBox 44">
              <a:extLst>
                <a:ext uri="{FF2B5EF4-FFF2-40B4-BE49-F238E27FC236}">
                  <a16:creationId xmlns:a16="http://schemas.microsoft.com/office/drawing/2014/main" id="{DFE0EFFB-2F8A-F07B-8F19-A0D0CC2C5FFC}"/>
                </a:ext>
              </a:extLst>
            </p:cNvPr>
            <p:cNvSpPr txBox="1"/>
            <p:nvPr/>
          </p:nvSpPr>
          <p:spPr>
            <a:xfrm>
              <a:off x="223126" y="14143"/>
              <a:ext cx="397262" cy="74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7</a:t>
              </a:r>
            </a:p>
          </p:txBody>
        </p:sp>
      </p:grpSp>
      <p:grpSp>
        <p:nvGrpSpPr>
          <p:cNvPr id="95" name="Group 45">
            <a:extLst>
              <a:ext uri="{FF2B5EF4-FFF2-40B4-BE49-F238E27FC236}">
                <a16:creationId xmlns:a16="http://schemas.microsoft.com/office/drawing/2014/main" id="{AD2535F0-0B45-A44E-97D7-09B70CCD3B9A}"/>
              </a:ext>
            </a:extLst>
          </p:cNvPr>
          <p:cNvGrpSpPr/>
          <p:nvPr/>
        </p:nvGrpSpPr>
        <p:grpSpPr>
          <a:xfrm>
            <a:off x="3483896" y="6279745"/>
            <a:ext cx="632635" cy="632635"/>
            <a:chOff x="0" y="0"/>
            <a:chExt cx="843514" cy="843514"/>
          </a:xfrm>
        </p:grpSpPr>
        <p:grpSp>
          <p:nvGrpSpPr>
            <p:cNvPr id="96" name="Group 46">
              <a:extLst>
                <a:ext uri="{FF2B5EF4-FFF2-40B4-BE49-F238E27FC236}">
                  <a16:creationId xmlns:a16="http://schemas.microsoft.com/office/drawing/2014/main" id="{71106292-1E02-1D24-EB99-EB7BB5DB373C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98" name="Freeform 47">
                <a:extLst>
                  <a:ext uri="{FF2B5EF4-FFF2-40B4-BE49-F238E27FC236}">
                    <a16:creationId xmlns:a16="http://schemas.microsoft.com/office/drawing/2014/main" id="{74F5F87C-DDE0-ABB6-74BB-AFC0359AB6B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99" name="TextBox 48">
                <a:extLst>
                  <a:ext uri="{FF2B5EF4-FFF2-40B4-BE49-F238E27FC236}">
                    <a16:creationId xmlns:a16="http://schemas.microsoft.com/office/drawing/2014/main" id="{46324C3D-2528-E342-C57D-27393FC12CF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97" name="TextBox 49">
              <a:extLst>
                <a:ext uri="{FF2B5EF4-FFF2-40B4-BE49-F238E27FC236}">
                  <a16:creationId xmlns:a16="http://schemas.microsoft.com/office/drawing/2014/main" id="{9B85208C-D1AE-D0C1-0999-FCD6E69FC7B4}"/>
                </a:ext>
              </a:extLst>
            </p:cNvPr>
            <p:cNvSpPr txBox="1"/>
            <p:nvPr/>
          </p:nvSpPr>
          <p:spPr>
            <a:xfrm>
              <a:off x="223126" y="14143"/>
              <a:ext cx="397262" cy="74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 dirty="0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4</a:t>
              </a:r>
            </a:p>
          </p:txBody>
        </p:sp>
      </p:grpSp>
      <p:grpSp>
        <p:nvGrpSpPr>
          <p:cNvPr id="100" name="Group 50">
            <a:extLst>
              <a:ext uri="{FF2B5EF4-FFF2-40B4-BE49-F238E27FC236}">
                <a16:creationId xmlns:a16="http://schemas.microsoft.com/office/drawing/2014/main" id="{D0212F57-0FE6-AB21-1C9F-166CF2CAF489}"/>
              </a:ext>
            </a:extLst>
          </p:cNvPr>
          <p:cNvGrpSpPr/>
          <p:nvPr/>
        </p:nvGrpSpPr>
        <p:grpSpPr>
          <a:xfrm>
            <a:off x="9181961" y="4324524"/>
            <a:ext cx="632635" cy="632635"/>
            <a:chOff x="0" y="0"/>
            <a:chExt cx="843514" cy="843514"/>
          </a:xfrm>
        </p:grpSpPr>
        <p:grpSp>
          <p:nvGrpSpPr>
            <p:cNvPr id="101" name="Group 51">
              <a:extLst>
                <a:ext uri="{FF2B5EF4-FFF2-40B4-BE49-F238E27FC236}">
                  <a16:creationId xmlns:a16="http://schemas.microsoft.com/office/drawing/2014/main" id="{9BB057DF-2ADD-C2CC-0B2B-2582F95F2F99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103" name="Freeform 52">
                <a:extLst>
                  <a:ext uri="{FF2B5EF4-FFF2-40B4-BE49-F238E27FC236}">
                    <a16:creationId xmlns:a16="http://schemas.microsoft.com/office/drawing/2014/main" id="{8ABEB197-183F-5CC9-3449-4BC7E60B030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4" name="TextBox 53">
                <a:extLst>
                  <a:ext uri="{FF2B5EF4-FFF2-40B4-BE49-F238E27FC236}">
                    <a16:creationId xmlns:a16="http://schemas.microsoft.com/office/drawing/2014/main" id="{D4868306-4EF3-4861-1F16-E77E3766C12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102" name="TextBox 54">
              <a:extLst>
                <a:ext uri="{FF2B5EF4-FFF2-40B4-BE49-F238E27FC236}">
                  <a16:creationId xmlns:a16="http://schemas.microsoft.com/office/drawing/2014/main" id="{6E9018FB-E7B8-E668-2ADA-22BFDAC268B5}"/>
                </a:ext>
              </a:extLst>
            </p:cNvPr>
            <p:cNvSpPr txBox="1"/>
            <p:nvPr/>
          </p:nvSpPr>
          <p:spPr>
            <a:xfrm>
              <a:off x="223126" y="14143"/>
              <a:ext cx="397262" cy="74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8</a:t>
              </a:r>
            </a:p>
          </p:txBody>
        </p:sp>
      </p:grpSp>
      <p:sp>
        <p:nvSpPr>
          <p:cNvPr id="105" name="TextBox 9">
            <a:extLst>
              <a:ext uri="{FF2B5EF4-FFF2-40B4-BE49-F238E27FC236}">
                <a16:creationId xmlns:a16="http://schemas.microsoft.com/office/drawing/2014/main" id="{8E4F40D2-C297-BEE9-83C0-A47F66199B65}"/>
              </a:ext>
            </a:extLst>
          </p:cNvPr>
          <p:cNvSpPr txBox="1"/>
          <p:nvPr/>
        </p:nvSpPr>
        <p:spPr>
          <a:xfrm>
            <a:off x="10027880" y="6329413"/>
            <a:ext cx="3810000" cy="6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 u="none" strike="noStrike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Tablero</a:t>
            </a:r>
            <a:r>
              <a:rPr lang="en-US" sz="4001" u="none" strike="noStrike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kanban</a:t>
            </a:r>
          </a:p>
        </p:txBody>
      </p:sp>
      <p:sp>
        <p:nvSpPr>
          <p:cNvPr id="106" name="TextBox 10">
            <a:extLst>
              <a:ext uri="{FF2B5EF4-FFF2-40B4-BE49-F238E27FC236}">
                <a16:creationId xmlns:a16="http://schemas.microsoft.com/office/drawing/2014/main" id="{D5AA78A3-D048-B21E-9657-B6C58E4976B8}"/>
              </a:ext>
            </a:extLst>
          </p:cNvPr>
          <p:cNvSpPr txBox="1"/>
          <p:nvPr/>
        </p:nvSpPr>
        <p:spPr>
          <a:xfrm>
            <a:off x="10027880" y="5346447"/>
            <a:ext cx="3810000" cy="6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 u="none" strike="noStrike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Presupuesto</a:t>
            </a:r>
            <a:endParaRPr lang="en-US" sz="4001" u="none" strike="noStrike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grpSp>
        <p:nvGrpSpPr>
          <p:cNvPr id="107" name="Group 40">
            <a:extLst>
              <a:ext uri="{FF2B5EF4-FFF2-40B4-BE49-F238E27FC236}">
                <a16:creationId xmlns:a16="http://schemas.microsoft.com/office/drawing/2014/main" id="{9C94D7D0-AE5E-136E-3A70-ED6F2C2F3519}"/>
              </a:ext>
            </a:extLst>
          </p:cNvPr>
          <p:cNvGrpSpPr/>
          <p:nvPr/>
        </p:nvGrpSpPr>
        <p:grpSpPr>
          <a:xfrm>
            <a:off x="9132121" y="5362366"/>
            <a:ext cx="632635" cy="632635"/>
            <a:chOff x="0" y="0"/>
            <a:chExt cx="843514" cy="843514"/>
          </a:xfrm>
        </p:grpSpPr>
        <p:grpSp>
          <p:nvGrpSpPr>
            <p:cNvPr id="108" name="Group 41">
              <a:extLst>
                <a:ext uri="{FF2B5EF4-FFF2-40B4-BE49-F238E27FC236}">
                  <a16:creationId xmlns:a16="http://schemas.microsoft.com/office/drawing/2014/main" id="{83BFD975-5C3A-CFC2-D40C-76E2D42B7964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110" name="Freeform 42">
                <a:extLst>
                  <a:ext uri="{FF2B5EF4-FFF2-40B4-BE49-F238E27FC236}">
                    <a16:creationId xmlns:a16="http://schemas.microsoft.com/office/drawing/2014/main" id="{4273C918-9FC3-853A-D996-59931F18ABE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1" name="TextBox 43">
                <a:extLst>
                  <a:ext uri="{FF2B5EF4-FFF2-40B4-BE49-F238E27FC236}">
                    <a16:creationId xmlns:a16="http://schemas.microsoft.com/office/drawing/2014/main" id="{59949493-9960-41A9-B765-FE175F98B83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109" name="TextBox 44">
              <a:extLst>
                <a:ext uri="{FF2B5EF4-FFF2-40B4-BE49-F238E27FC236}">
                  <a16:creationId xmlns:a16="http://schemas.microsoft.com/office/drawing/2014/main" id="{F5E8F700-4C9C-A8C1-9845-761C8D3B8488}"/>
                </a:ext>
              </a:extLst>
            </p:cNvPr>
            <p:cNvSpPr txBox="1"/>
            <p:nvPr/>
          </p:nvSpPr>
          <p:spPr>
            <a:xfrm>
              <a:off x="223126" y="14143"/>
              <a:ext cx="397262" cy="756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 dirty="0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9</a:t>
              </a:r>
            </a:p>
          </p:txBody>
        </p:sp>
      </p:grpSp>
      <p:grpSp>
        <p:nvGrpSpPr>
          <p:cNvPr id="112" name="Group 50">
            <a:extLst>
              <a:ext uri="{FF2B5EF4-FFF2-40B4-BE49-F238E27FC236}">
                <a16:creationId xmlns:a16="http://schemas.microsoft.com/office/drawing/2014/main" id="{CD7CB925-C75D-2993-41BE-6E72DA4AED1A}"/>
              </a:ext>
            </a:extLst>
          </p:cNvPr>
          <p:cNvGrpSpPr/>
          <p:nvPr/>
        </p:nvGrpSpPr>
        <p:grpSpPr>
          <a:xfrm>
            <a:off x="9132121" y="6361937"/>
            <a:ext cx="632635" cy="632635"/>
            <a:chOff x="0" y="0"/>
            <a:chExt cx="843514" cy="843514"/>
          </a:xfrm>
        </p:grpSpPr>
        <p:grpSp>
          <p:nvGrpSpPr>
            <p:cNvPr id="113" name="Group 51">
              <a:extLst>
                <a:ext uri="{FF2B5EF4-FFF2-40B4-BE49-F238E27FC236}">
                  <a16:creationId xmlns:a16="http://schemas.microsoft.com/office/drawing/2014/main" id="{24EFC19B-678F-E835-9A8C-7A9062F38716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115" name="Freeform 52">
                <a:extLst>
                  <a:ext uri="{FF2B5EF4-FFF2-40B4-BE49-F238E27FC236}">
                    <a16:creationId xmlns:a16="http://schemas.microsoft.com/office/drawing/2014/main" id="{F8570BE9-CEDF-D8A3-0A15-9F76E5449AC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6" name="TextBox 53">
                <a:extLst>
                  <a:ext uri="{FF2B5EF4-FFF2-40B4-BE49-F238E27FC236}">
                    <a16:creationId xmlns:a16="http://schemas.microsoft.com/office/drawing/2014/main" id="{32F67571-92E7-753A-482D-FA45AA009E5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114" name="TextBox 54">
              <a:extLst>
                <a:ext uri="{FF2B5EF4-FFF2-40B4-BE49-F238E27FC236}">
                  <a16:creationId xmlns:a16="http://schemas.microsoft.com/office/drawing/2014/main" id="{000D2122-5BD4-3D25-2503-3A339BAFADAC}"/>
                </a:ext>
              </a:extLst>
            </p:cNvPr>
            <p:cNvSpPr txBox="1"/>
            <p:nvPr/>
          </p:nvSpPr>
          <p:spPr>
            <a:xfrm>
              <a:off x="112277" y="16304"/>
              <a:ext cx="644711" cy="7565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 dirty="0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10</a:t>
              </a:r>
            </a:p>
          </p:txBody>
        </p:sp>
      </p:grpSp>
      <p:sp>
        <p:nvSpPr>
          <p:cNvPr id="117" name="TextBox 9">
            <a:extLst>
              <a:ext uri="{FF2B5EF4-FFF2-40B4-BE49-F238E27FC236}">
                <a16:creationId xmlns:a16="http://schemas.microsoft.com/office/drawing/2014/main" id="{8C1FA47B-E271-61BA-7667-B220E6DA4617}"/>
              </a:ext>
            </a:extLst>
          </p:cNvPr>
          <p:cNvSpPr txBox="1"/>
          <p:nvPr/>
        </p:nvSpPr>
        <p:spPr>
          <a:xfrm>
            <a:off x="10105431" y="8365171"/>
            <a:ext cx="3810000" cy="6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 u="none" strike="noStrike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Demostracion</a:t>
            </a:r>
            <a:endParaRPr lang="en-US" sz="4001" u="none" strike="noStrike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18" name="TextBox 10">
            <a:extLst>
              <a:ext uri="{FF2B5EF4-FFF2-40B4-BE49-F238E27FC236}">
                <a16:creationId xmlns:a16="http://schemas.microsoft.com/office/drawing/2014/main" id="{F082D3A0-751E-448B-8E87-8E5182DBE2ED}"/>
              </a:ext>
            </a:extLst>
          </p:cNvPr>
          <p:cNvSpPr txBox="1"/>
          <p:nvPr/>
        </p:nvSpPr>
        <p:spPr>
          <a:xfrm>
            <a:off x="10105430" y="7382205"/>
            <a:ext cx="498216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4001" u="none" strike="noStrike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Sprints de Desarrollo</a:t>
            </a:r>
          </a:p>
        </p:txBody>
      </p:sp>
      <p:grpSp>
        <p:nvGrpSpPr>
          <p:cNvPr id="119" name="Group 40">
            <a:extLst>
              <a:ext uri="{FF2B5EF4-FFF2-40B4-BE49-F238E27FC236}">
                <a16:creationId xmlns:a16="http://schemas.microsoft.com/office/drawing/2014/main" id="{6DB40BB5-0222-5FF5-CA5E-397816E49516}"/>
              </a:ext>
            </a:extLst>
          </p:cNvPr>
          <p:cNvGrpSpPr/>
          <p:nvPr/>
        </p:nvGrpSpPr>
        <p:grpSpPr>
          <a:xfrm>
            <a:off x="9209672" y="7398124"/>
            <a:ext cx="632635" cy="632635"/>
            <a:chOff x="0" y="0"/>
            <a:chExt cx="843514" cy="843514"/>
          </a:xfrm>
        </p:grpSpPr>
        <p:grpSp>
          <p:nvGrpSpPr>
            <p:cNvPr id="120" name="Group 41">
              <a:extLst>
                <a:ext uri="{FF2B5EF4-FFF2-40B4-BE49-F238E27FC236}">
                  <a16:creationId xmlns:a16="http://schemas.microsoft.com/office/drawing/2014/main" id="{9AA5A250-26EB-6566-F9CA-E0A37EAF5779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122" name="Freeform 42">
                <a:extLst>
                  <a:ext uri="{FF2B5EF4-FFF2-40B4-BE49-F238E27FC236}">
                    <a16:creationId xmlns:a16="http://schemas.microsoft.com/office/drawing/2014/main" id="{7D8CD147-D1CF-6730-66F6-4C7993C9127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3" name="TextBox 43">
                <a:extLst>
                  <a:ext uri="{FF2B5EF4-FFF2-40B4-BE49-F238E27FC236}">
                    <a16:creationId xmlns:a16="http://schemas.microsoft.com/office/drawing/2014/main" id="{E889E305-FE7B-5583-F0EB-77357C76D0B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121" name="TextBox 44">
              <a:extLst>
                <a:ext uri="{FF2B5EF4-FFF2-40B4-BE49-F238E27FC236}">
                  <a16:creationId xmlns:a16="http://schemas.microsoft.com/office/drawing/2014/main" id="{45E1D19F-8DC8-C4B8-FC85-1B72ABD4B30F}"/>
                </a:ext>
              </a:extLst>
            </p:cNvPr>
            <p:cNvSpPr txBox="1"/>
            <p:nvPr/>
          </p:nvSpPr>
          <p:spPr>
            <a:xfrm>
              <a:off x="88348" y="14461"/>
              <a:ext cx="620388" cy="7565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 dirty="0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11</a:t>
              </a:r>
            </a:p>
          </p:txBody>
        </p:sp>
      </p:grpSp>
      <p:grpSp>
        <p:nvGrpSpPr>
          <p:cNvPr id="124" name="Group 50">
            <a:extLst>
              <a:ext uri="{FF2B5EF4-FFF2-40B4-BE49-F238E27FC236}">
                <a16:creationId xmlns:a16="http://schemas.microsoft.com/office/drawing/2014/main" id="{94E80991-E88C-69A3-1639-7A94EC294920}"/>
              </a:ext>
            </a:extLst>
          </p:cNvPr>
          <p:cNvGrpSpPr/>
          <p:nvPr/>
        </p:nvGrpSpPr>
        <p:grpSpPr>
          <a:xfrm>
            <a:off x="9209672" y="8395177"/>
            <a:ext cx="632635" cy="635153"/>
            <a:chOff x="0" y="-3357"/>
            <a:chExt cx="843514" cy="846871"/>
          </a:xfrm>
        </p:grpSpPr>
        <p:grpSp>
          <p:nvGrpSpPr>
            <p:cNvPr id="125" name="Group 51">
              <a:extLst>
                <a:ext uri="{FF2B5EF4-FFF2-40B4-BE49-F238E27FC236}">
                  <a16:creationId xmlns:a16="http://schemas.microsoft.com/office/drawing/2014/main" id="{D225ED40-44A9-7998-1D7C-2D4CBBBD8890}"/>
                </a:ext>
              </a:extLst>
            </p:cNvPr>
            <p:cNvGrpSpPr/>
            <p:nvPr/>
          </p:nvGrpSpPr>
          <p:grpSpPr>
            <a:xfrm>
              <a:off x="0" y="0"/>
              <a:ext cx="843514" cy="843514"/>
              <a:chOff x="0" y="0"/>
              <a:chExt cx="812800" cy="812800"/>
            </a:xfrm>
          </p:grpSpPr>
          <p:sp>
            <p:nvSpPr>
              <p:cNvPr id="127" name="Freeform 52">
                <a:extLst>
                  <a:ext uri="{FF2B5EF4-FFF2-40B4-BE49-F238E27FC236}">
                    <a16:creationId xmlns:a16="http://schemas.microsoft.com/office/drawing/2014/main" id="{AFBFDA0B-C356-E6B4-A3E1-29DE3805EA2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8" name="TextBox 53">
                <a:extLst>
                  <a:ext uri="{FF2B5EF4-FFF2-40B4-BE49-F238E27FC236}">
                    <a16:creationId xmlns:a16="http://schemas.microsoft.com/office/drawing/2014/main" id="{B5B1B729-ACF6-7310-AB84-BF71577F38F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126" name="TextBox 54">
              <a:extLst>
                <a:ext uri="{FF2B5EF4-FFF2-40B4-BE49-F238E27FC236}">
                  <a16:creationId xmlns:a16="http://schemas.microsoft.com/office/drawing/2014/main" id="{A63B8132-E7FB-61A7-8F33-D9F46ECE0922}"/>
                </a:ext>
              </a:extLst>
            </p:cNvPr>
            <p:cNvSpPr txBox="1"/>
            <p:nvPr/>
          </p:nvSpPr>
          <p:spPr>
            <a:xfrm>
              <a:off x="88348" y="-3357"/>
              <a:ext cx="722725" cy="7565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809"/>
                </a:lnSpc>
                <a:spcBef>
                  <a:spcPct val="0"/>
                </a:spcBef>
              </a:pPr>
              <a:r>
                <a:rPr lang="en-US" sz="3435" b="1" dirty="0">
                  <a:solidFill>
                    <a:srgbClr val="000A1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37"/>
          <p:cNvSpPr/>
          <p:nvPr/>
        </p:nvSpPr>
        <p:spPr>
          <a:xfrm rot="-9183395">
            <a:off x="14227549" y="-282885"/>
            <a:ext cx="5457911" cy="2728956"/>
          </a:xfrm>
          <a:custGeom>
            <a:avLst/>
            <a:gdLst/>
            <a:ahLst/>
            <a:cxnLst/>
            <a:rect l="l" t="t" r="r" b="b"/>
            <a:pathLst>
              <a:path w="5457911" h="2728956">
                <a:moveTo>
                  <a:pt x="0" y="0"/>
                </a:moveTo>
                <a:lnTo>
                  <a:pt x="5457912" y="0"/>
                </a:lnTo>
                <a:lnTo>
                  <a:pt x="5457912" y="2728956"/>
                </a:lnTo>
                <a:lnTo>
                  <a:pt x="0" y="2728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8" name="Freeform 38"/>
          <p:cNvSpPr/>
          <p:nvPr/>
        </p:nvSpPr>
        <p:spPr>
          <a:xfrm>
            <a:off x="-2728956" y="7893822"/>
            <a:ext cx="5457911" cy="2728956"/>
          </a:xfrm>
          <a:custGeom>
            <a:avLst/>
            <a:gdLst/>
            <a:ahLst/>
            <a:cxnLst/>
            <a:rect l="l" t="t" r="r" b="b"/>
            <a:pathLst>
              <a:path w="5457911" h="2728956">
                <a:moveTo>
                  <a:pt x="0" y="0"/>
                </a:moveTo>
                <a:lnTo>
                  <a:pt x="5457912" y="0"/>
                </a:lnTo>
                <a:lnTo>
                  <a:pt x="5457912" y="2728956"/>
                </a:lnTo>
                <a:lnTo>
                  <a:pt x="0" y="2728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7" name="TextBox 57"/>
          <p:cNvSpPr txBox="1"/>
          <p:nvPr/>
        </p:nvSpPr>
        <p:spPr>
          <a:xfrm>
            <a:off x="5391246" y="1528582"/>
            <a:ext cx="6462636" cy="89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86"/>
              </a:lnSpc>
              <a:spcBef>
                <a:spcPct val="0"/>
              </a:spcBef>
            </a:pPr>
            <a:r>
              <a:rPr lang="en-US" sz="6128" b="1" spc="36" dirty="0">
                <a:solidFill>
                  <a:srgbClr val="21396D"/>
                </a:solidFill>
                <a:latin typeface="Garet Bold"/>
                <a:ea typeface="Garet Bold"/>
                <a:cs typeface="Garet Bold"/>
                <a:sym typeface="Garet Bold"/>
              </a:rPr>
              <a:t>El Equipo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AD49D82-D57D-8550-A38C-B43A49D2B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772" y="3995386"/>
            <a:ext cx="2828334" cy="330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" name="Group 12">
            <a:extLst>
              <a:ext uri="{FF2B5EF4-FFF2-40B4-BE49-F238E27FC236}">
                <a16:creationId xmlns:a16="http://schemas.microsoft.com/office/drawing/2014/main" id="{B913FB1B-97B9-2B2C-B750-2E40ACB1563E}"/>
              </a:ext>
            </a:extLst>
          </p:cNvPr>
          <p:cNvGrpSpPr/>
          <p:nvPr/>
        </p:nvGrpSpPr>
        <p:grpSpPr>
          <a:xfrm>
            <a:off x="3941773" y="6912128"/>
            <a:ext cx="2828335" cy="551507"/>
            <a:chOff x="0" y="0"/>
            <a:chExt cx="902987" cy="176077"/>
          </a:xfrm>
        </p:grpSpPr>
        <p:sp>
          <p:nvSpPr>
            <p:cNvPr id="60" name="Freeform 13">
              <a:extLst>
                <a:ext uri="{FF2B5EF4-FFF2-40B4-BE49-F238E27FC236}">
                  <a16:creationId xmlns:a16="http://schemas.microsoft.com/office/drawing/2014/main" id="{877DBF29-DE06-BED9-ECC8-824C3716459C}"/>
                </a:ext>
              </a:extLst>
            </p:cNvPr>
            <p:cNvSpPr/>
            <p:nvPr/>
          </p:nvSpPr>
          <p:spPr>
            <a:xfrm>
              <a:off x="0" y="0"/>
              <a:ext cx="902987" cy="176077"/>
            </a:xfrm>
            <a:custGeom>
              <a:avLst/>
              <a:gdLst/>
              <a:ahLst/>
              <a:cxnLst/>
              <a:rect l="l" t="t" r="r" b="b"/>
              <a:pathLst>
                <a:path w="902987" h="176077">
                  <a:moveTo>
                    <a:pt x="0" y="0"/>
                  </a:moveTo>
                  <a:lnTo>
                    <a:pt x="902987" y="0"/>
                  </a:lnTo>
                  <a:lnTo>
                    <a:pt x="902987" y="176077"/>
                  </a:lnTo>
                  <a:lnTo>
                    <a:pt x="0" y="176077"/>
                  </a:lnTo>
                  <a:close/>
                </a:path>
              </a:pathLst>
            </a:custGeom>
            <a:solidFill>
              <a:srgbClr val="21396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1" name="TextBox 14">
              <a:extLst>
                <a:ext uri="{FF2B5EF4-FFF2-40B4-BE49-F238E27FC236}">
                  <a16:creationId xmlns:a16="http://schemas.microsoft.com/office/drawing/2014/main" id="{A456D315-3964-1ADA-D281-02794C8FC8E4}"/>
                </a:ext>
              </a:extLst>
            </p:cNvPr>
            <p:cNvSpPr txBox="1"/>
            <p:nvPr/>
          </p:nvSpPr>
          <p:spPr>
            <a:xfrm>
              <a:off x="0" y="-38100"/>
              <a:ext cx="902987" cy="2141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682"/>
                </a:lnSpc>
                <a:spcBef>
                  <a:spcPct val="0"/>
                </a:spcBef>
              </a:pPr>
              <a:r>
                <a:rPr lang="en-US" sz="2630" spc="26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Renzo </a:t>
              </a:r>
              <a:r>
                <a:rPr lang="en-US" sz="2630" spc="26" dirty="0" err="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rios</a:t>
              </a:r>
              <a:endParaRPr lang="en-US" sz="2630" spc="26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2" name="Freeform 27">
            <a:extLst>
              <a:ext uri="{FF2B5EF4-FFF2-40B4-BE49-F238E27FC236}">
                <a16:creationId xmlns:a16="http://schemas.microsoft.com/office/drawing/2014/main" id="{4AC31CE5-B0B3-D639-AAAB-5D8DD0FBC367}"/>
              </a:ext>
            </a:extLst>
          </p:cNvPr>
          <p:cNvSpPr/>
          <p:nvPr/>
        </p:nvSpPr>
        <p:spPr>
          <a:xfrm>
            <a:off x="5841339" y="6013550"/>
            <a:ext cx="903215" cy="891719"/>
          </a:xfrm>
          <a:custGeom>
            <a:avLst/>
            <a:gdLst/>
            <a:ahLst/>
            <a:cxnLst/>
            <a:rect l="l" t="t" r="r" b="b"/>
            <a:pathLst>
              <a:path w="903215" h="891719">
                <a:moveTo>
                  <a:pt x="0" y="0"/>
                </a:moveTo>
                <a:lnTo>
                  <a:pt x="903215" y="0"/>
                </a:lnTo>
                <a:lnTo>
                  <a:pt x="903215" y="891719"/>
                </a:lnTo>
                <a:lnTo>
                  <a:pt x="0" y="891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3" name="Freeform 32">
            <a:extLst>
              <a:ext uri="{FF2B5EF4-FFF2-40B4-BE49-F238E27FC236}">
                <a16:creationId xmlns:a16="http://schemas.microsoft.com/office/drawing/2014/main" id="{A553B763-99F5-8AEB-2ABC-D88C0DB85C2A}"/>
              </a:ext>
            </a:extLst>
          </p:cNvPr>
          <p:cNvSpPr/>
          <p:nvPr/>
        </p:nvSpPr>
        <p:spPr>
          <a:xfrm flipH="1" flipV="1">
            <a:off x="3941773" y="3993572"/>
            <a:ext cx="903215" cy="891719"/>
          </a:xfrm>
          <a:custGeom>
            <a:avLst/>
            <a:gdLst/>
            <a:ahLst/>
            <a:cxnLst/>
            <a:rect l="l" t="t" r="r" b="b"/>
            <a:pathLst>
              <a:path w="903215" h="891719">
                <a:moveTo>
                  <a:pt x="903215" y="891719"/>
                </a:moveTo>
                <a:lnTo>
                  <a:pt x="0" y="891719"/>
                </a:lnTo>
                <a:lnTo>
                  <a:pt x="0" y="0"/>
                </a:lnTo>
                <a:lnTo>
                  <a:pt x="903215" y="0"/>
                </a:lnTo>
                <a:lnTo>
                  <a:pt x="903215" y="89171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206" name="TextBox 52">
            <a:extLst>
              <a:ext uri="{FF2B5EF4-FFF2-40B4-BE49-F238E27FC236}">
                <a16:creationId xmlns:a16="http://schemas.microsoft.com/office/drawing/2014/main" id="{EC3E8811-4C1D-0B16-F5B1-6CBC79FC34EA}"/>
              </a:ext>
            </a:extLst>
          </p:cNvPr>
          <p:cNvSpPr txBox="1"/>
          <p:nvPr/>
        </p:nvSpPr>
        <p:spPr>
          <a:xfrm>
            <a:off x="3920000" y="7866608"/>
            <a:ext cx="2828335" cy="87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s-CL" dirty="0" err="1">
                <a:latin typeface="DM Sans" pitchFamily="2" charset="0"/>
              </a:rPr>
              <a:t>Development</a:t>
            </a:r>
            <a:r>
              <a:rPr lang="es-CL" dirty="0">
                <a:latin typeface="DM Sans" pitchFamily="2" charset="0"/>
              </a:rPr>
              <a:t> </a:t>
            </a:r>
            <a:r>
              <a:rPr lang="es-CL" dirty="0" err="1">
                <a:latin typeface="DM Sans" pitchFamily="2" charset="0"/>
              </a:rPr>
              <a:t>Team</a:t>
            </a:r>
            <a:r>
              <a:rPr lang="es-CL" dirty="0">
                <a:latin typeface="DM Sans" pitchFamily="2" charset="0"/>
              </a:rPr>
              <a:t> (DT)</a:t>
            </a:r>
            <a:endParaRPr lang="es-CL" sz="2000" dirty="0">
              <a:latin typeface="DM Sans" pitchFamily="2" charset="0"/>
            </a:endParaRPr>
          </a:p>
          <a:p>
            <a:br>
              <a:rPr lang="es-CL" sz="2000" dirty="0"/>
            </a:br>
            <a:endParaRPr lang="en-US" sz="1910" dirty="0">
              <a:solidFill>
                <a:srgbClr val="07060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226" name="Picture 4">
            <a:extLst>
              <a:ext uri="{FF2B5EF4-FFF2-40B4-BE49-F238E27FC236}">
                <a16:creationId xmlns:a16="http://schemas.microsoft.com/office/drawing/2014/main" id="{4F17A9FE-1C9F-5910-2A23-BCC8DA9F2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987" y="3993644"/>
            <a:ext cx="2806413" cy="355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27" name="Group 18">
            <a:extLst>
              <a:ext uri="{FF2B5EF4-FFF2-40B4-BE49-F238E27FC236}">
                <a16:creationId xmlns:a16="http://schemas.microsoft.com/office/drawing/2014/main" id="{9482F7D3-512D-E253-38B1-A9421CA389B4}"/>
              </a:ext>
            </a:extLst>
          </p:cNvPr>
          <p:cNvGrpSpPr/>
          <p:nvPr/>
        </p:nvGrpSpPr>
        <p:grpSpPr>
          <a:xfrm>
            <a:off x="7514985" y="6984033"/>
            <a:ext cx="2828335" cy="551507"/>
            <a:chOff x="0" y="0"/>
            <a:chExt cx="902987" cy="176077"/>
          </a:xfrm>
        </p:grpSpPr>
        <p:sp>
          <p:nvSpPr>
            <p:cNvPr id="8228" name="Freeform 19">
              <a:extLst>
                <a:ext uri="{FF2B5EF4-FFF2-40B4-BE49-F238E27FC236}">
                  <a16:creationId xmlns:a16="http://schemas.microsoft.com/office/drawing/2014/main" id="{479C966B-AFDC-C0D2-54F4-06A2D49D5A5F}"/>
                </a:ext>
              </a:extLst>
            </p:cNvPr>
            <p:cNvSpPr/>
            <p:nvPr/>
          </p:nvSpPr>
          <p:spPr>
            <a:xfrm>
              <a:off x="0" y="0"/>
              <a:ext cx="902987" cy="176077"/>
            </a:xfrm>
            <a:custGeom>
              <a:avLst/>
              <a:gdLst/>
              <a:ahLst/>
              <a:cxnLst/>
              <a:rect l="l" t="t" r="r" b="b"/>
              <a:pathLst>
                <a:path w="902987" h="176077">
                  <a:moveTo>
                    <a:pt x="0" y="0"/>
                  </a:moveTo>
                  <a:lnTo>
                    <a:pt x="902987" y="0"/>
                  </a:lnTo>
                  <a:lnTo>
                    <a:pt x="902987" y="176077"/>
                  </a:lnTo>
                  <a:lnTo>
                    <a:pt x="0" y="176077"/>
                  </a:lnTo>
                  <a:close/>
                </a:path>
              </a:pathLst>
            </a:custGeom>
            <a:solidFill>
              <a:srgbClr val="21396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229" name="TextBox 20">
              <a:extLst>
                <a:ext uri="{FF2B5EF4-FFF2-40B4-BE49-F238E27FC236}">
                  <a16:creationId xmlns:a16="http://schemas.microsoft.com/office/drawing/2014/main" id="{E795C43C-963C-E7DF-5FF8-924BDF38E4CC}"/>
                </a:ext>
              </a:extLst>
            </p:cNvPr>
            <p:cNvSpPr txBox="1"/>
            <p:nvPr/>
          </p:nvSpPr>
          <p:spPr>
            <a:xfrm>
              <a:off x="0" y="-38100"/>
              <a:ext cx="902987" cy="2141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682"/>
                </a:lnSpc>
                <a:spcBef>
                  <a:spcPct val="0"/>
                </a:spcBef>
              </a:pPr>
              <a:r>
                <a:rPr lang="en-US" sz="2630" spc="26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Claudio Escobar</a:t>
              </a:r>
            </a:p>
          </p:txBody>
        </p:sp>
      </p:grpSp>
      <p:sp>
        <p:nvSpPr>
          <p:cNvPr id="8230" name="Freeform 29">
            <a:extLst>
              <a:ext uri="{FF2B5EF4-FFF2-40B4-BE49-F238E27FC236}">
                <a16:creationId xmlns:a16="http://schemas.microsoft.com/office/drawing/2014/main" id="{6AED2C48-23CA-1EC6-210E-FFF057F3B56C}"/>
              </a:ext>
            </a:extLst>
          </p:cNvPr>
          <p:cNvSpPr/>
          <p:nvPr/>
        </p:nvSpPr>
        <p:spPr>
          <a:xfrm>
            <a:off x="9440105" y="6096832"/>
            <a:ext cx="903215" cy="891719"/>
          </a:xfrm>
          <a:custGeom>
            <a:avLst/>
            <a:gdLst/>
            <a:ahLst/>
            <a:cxnLst/>
            <a:rect l="l" t="t" r="r" b="b"/>
            <a:pathLst>
              <a:path w="903215" h="891719">
                <a:moveTo>
                  <a:pt x="0" y="0"/>
                </a:moveTo>
                <a:lnTo>
                  <a:pt x="903214" y="0"/>
                </a:lnTo>
                <a:lnTo>
                  <a:pt x="903214" y="891719"/>
                </a:lnTo>
                <a:lnTo>
                  <a:pt x="0" y="891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231" name="Freeform 34">
            <a:extLst>
              <a:ext uri="{FF2B5EF4-FFF2-40B4-BE49-F238E27FC236}">
                <a16:creationId xmlns:a16="http://schemas.microsoft.com/office/drawing/2014/main" id="{ECC558F7-94D6-CEC5-D0BB-62218196A1DD}"/>
              </a:ext>
            </a:extLst>
          </p:cNvPr>
          <p:cNvSpPr/>
          <p:nvPr/>
        </p:nvSpPr>
        <p:spPr>
          <a:xfrm flipH="1" flipV="1">
            <a:off x="7514985" y="3993572"/>
            <a:ext cx="903215" cy="891719"/>
          </a:xfrm>
          <a:custGeom>
            <a:avLst/>
            <a:gdLst/>
            <a:ahLst/>
            <a:cxnLst/>
            <a:rect l="l" t="t" r="r" b="b"/>
            <a:pathLst>
              <a:path w="903215" h="891719">
                <a:moveTo>
                  <a:pt x="903215" y="891719"/>
                </a:moveTo>
                <a:lnTo>
                  <a:pt x="0" y="891719"/>
                </a:lnTo>
                <a:lnTo>
                  <a:pt x="0" y="0"/>
                </a:lnTo>
                <a:lnTo>
                  <a:pt x="903215" y="0"/>
                </a:lnTo>
                <a:lnTo>
                  <a:pt x="903215" y="89171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232" name="TextBox 54">
            <a:extLst>
              <a:ext uri="{FF2B5EF4-FFF2-40B4-BE49-F238E27FC236}">
                <a16:creationId xmlns:a16="http://schemas.microsoft.com/office/drawing/2014/main" id="{C7F07B76-AFD9-8C08-E08B-AAF958354513}"/>
              </a:ext>
            </a:extLst>
          </p:cNvPr>
          <p:cNvSpPr txBox="1"/>
          <p:nvPr/>
        </p:nvSpPr>
        <p:spPr>
          <a:xfrm>
            <a:off x="7514985" y="7873124"/>
            <a:ext cx="2828335" cy="87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s-CL" dirty="0">
                <a:latin typeface="DM Sans" pitchFamily="2" charset="0"/>
              </a:rPr>
              <a:t>Scrum Master(SM)</a:t>
            </a:r>
            <a:endParaRPr lang="es-CL" sz="2000" dirty="0">
              <a:latin typeface="DM Sans" pitchFamily="2" charset="0"/>
            </a:endParaRPr>
          </a:p>
          <a:p>
            <a:br>
              <a:rPr lang="es-CL" sz="2000" dirty="0"/>
            </a:br>
            <a:endParaRPr lang="en-US" sz="1910" dirty="0">
              <a:solidFill>
                <a:srgbClr val="07060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233" name="Picture 6" descr="Imagen en blanco y negro de un joven con una playera de color negro&#10;&#10;El contenido generado por IA puede ser incorrecto.">
            <a:extLst>
              <a:ext uri="{FF2B5EF4-FFF2-40B4-BE49-F238E27FC236}">
                <a16:creationId xmlns:a16="http://schemas.microsoft.com/office/drawing/2014/main" id="{D3CD72A0-1CFD-D109-8959-6D549E434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7738" y="3981149"/>
            <a:ext cx="2853889" cy="355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34" name="Group 15">
            <a:extLst>
              <a:ext uri="{FF2B5EF4-FFF2-40B4-BE49-F238E27FC236}">
                <a16:creationId xmlns:a16="http://schemas.microsoft.com/office/drawing/2014/main" id="{ABEA1416-AAC2-3C93-B031-87F5717BC858}"/>
              </a:ext>
            </a:extLst>
          </p:cNvPr>
          <p:cNvGrpSpPr/>
          <p:nvPr/>
        </p:nvGrpSpPr>
        <p:grpSpPr>
          <a:xfrm>
            <a:off x="11524843" y="6780369"/>
            <a:ext cx="2856008" cy="755447"/>
            <a:chOff x="0" y="-38100"/>
            <a:chExt cx="911822" cy="241188"/>
          </a:xfrm>
        </p:grpSpPr>
        <p:sp>
          <p:nvSpPr>
            <p:cNvPr id="8235" name="Freeform 16">
              <a:extLst>
                <a:ext uri="{FF2B5EF4-FFF2-40B4-BE49-F238E27FC236}">
                  <a16:creationId xmlns:a16="http://schemas.microsoft.com/office/drawing/2014/main" id="{DDFC5978-C4E7-C56A-102F-B119E9EC4A64}"/>
                </a:ext>
              </a:extLst>
            </p:cNvPr>
            <p:cNvSpPr/>
            <p:nvPr/>
          </p:nvSpPr>
          <p:spPr>
            <a:xfrm>
              <a:off x="8835" y="27011"/>
              <a:ext cx="902987" cy="176077"/>
            </a:xfrm>
            <a:custGeom>
              <a:avLst/>
              <a:gdLst/>
              <a:ahLst/>
              <a:cxnLst/>
              <a:rect l="l" t="t" r="r" b="b"/>
              <a:pathLst>
                <a:path w="902987" h="176077">
                  <a:moveTo>
                    <a:pt x="0" y="0"/>
                  </a:moveTo>
                  <a:lnTo>
                    <a:pt x="902987" y="0"/>
                  </a:lnTo>
                  <a:lnTo>
                    <a:pt x="902987" y="176077"/>
                  </a:lnTo>
                  <a:lnTo>
                    <a:pt x="0" y="176077"/>
                  </a:lnTo>
                  <a:close/>
                </a:path>
              </a:pathLst>
            </a:custGeom>
            <a:solidFill>
              <a:srgbClr val="21396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236" name="TextBox 17">
              <a:extLst>
                <a:ext uri="{FF2B5EF4-FFF2-40B4-BE49-F238E27FC236}">
                  <a16:creationId xmlns:a16="http://schemas.microsoft.com/office/drawing/2014/main" id="{885BF75B-47E5-5EE8-E99C-85C44B303E02}"/>
                </a:ext>
              </a:extLst>
            </p:cNvPr>
            <p:cNvSpPr txBox="1"/>
            <p:nvPr/>
          </p:nvSpPr>
          <p:spPr>
            <a:xfrm>
              <a:off x="0" y="-38100"/>
              <a:ext cx="902987" cy="2141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682"/>
                </a:lnSpc>
                <a:spcBef>
                  <a:spcPct val="0"/>
                </a:spcBef>
              </a:pPr>
              <a:r>
                <a:rPr lang="en-US" sz="2630" spc="26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Carlos De Ferrari</a:t>
              </a:r>
            </a:p>
          </p:txBody>
        </p:sp>
      </p:grpSp>
      <p:sp>
        <p:nvSpPr>
          <p:cNvPr id="8237" name="Freeform 28">
            <a:extLst>
              <a:ext uri="{FF2B5EF4-FFF2-40B4-BE49-F238E27FC236}">
                <a16:creationId xmlns:a16="http://schemas.microsoft.com/office/drawing/2014/main" id="{17A11DF4-607F-44BD-71B4-ED9E18831501}"/>
              </a:ext>
            </a:extLst>
          </p:cNvPr>
          <p:cNvSpPr/>
          <p:nvPr/>
        </p:nvSpPr>
        <p:spPr>
          <a:xfrm>
            <a:off x="13464477" y="6096832"/>
            <a:ext cx="903215" cy="891719"/>
          </a:xfrm>
          <a:custGeom>
            <a:avLst/>
            <a:gdLst/>
            <a:ahLst/>
            <a:cxnLst/>
            <a:rect l="l" t="t" r="r" b="b"/>
            <a:pathLst>
              <a:path w="903215" h="891719">
                <a:moveTo>
                  <a:pt x="0" y="0"/>
                </a:moveTo>
                <a:lnTo>
                  <a:pt x="903215" y="0"/>
                </a:lnTo>
                <a:lnTo>
                  <a:pt x="903215" y="891719"/>
                </a:lnTo>
                <a:lnTo>
                  <a:pt x="0" y="891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238" name="Freeform 33">
            <a:extLst>
              <a:ext uri="{FF2B5EF4-FFF2-40B4-BE49-F238E27FC236}">
                <a16:creationId xmlns:a16="http://schemas.microsoft.com/office/drawing/2014/main" id="{88C3DA3B-6E5E-6204-CC2A-6E3ED3F36DF0}"/>
              </a:ext>
            </a:extLst>
          </p:cNvPr>
          <p:cNvSpPr/>
          <p:nvPr/>
        </p:nvSpPr>
        <p:spPr>
          <a:xfrm flipH="1" flipV="1">
            <a:off x="11524843" y="3981149"/>
            <a:ext cx="903215" cy="891719"/>
          </a:xfrm>
          <a:custGeom>
            <a:avLst/>
            <a:gdLst/>
            <a:ahLst/>
            <a:cxnLst/>
            <a:rect l="l" t="t" r="r" b="b"/>
            <a:pathLst>
              <a:path w="903215" h="891719">
                <a:moveTo>
                  <a:pt x="903214" y="891719"/>
                </a:moveTo>
                <a:lnTo>
                  <a:pt x="0" y="891719"/>
                </a:lnTo>
                <a:lnTo>
                  <a:pt x="0" y="0"/>
                </a:lnTo>
                <a:lnTo>
                  <a:pt x="903214" y="0"/>
                </a:lnTo>
                <a:lnTo>
                  <a:pt x="903214" y="89171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239" name="TextBox 53">
            <a:extLst>
              <a:ext uri="{FF2B5EF4-FFF2-40B4-BE49-F238E27FC236}">
                <a16:creationId xmlns:a16="http://schemas.microsoft.com/office/drawing/2014/main" id="{CFA309E1-C635-8F17-BDC5-91FAD10B0377}"/>
              </a:ext>
            </a:extLst>
          </p:cNvPr>
          <p:cNvSpPr txBox="1"/>
          <p:nvPr/>
        </p:nvSpPr>
        <p:spPr>
          <a:xfrm>
            <a:off x="11552516" y="7813690"/>
            <a:ext cx="2828335" cy="32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675"/>
              </a:lnSpc>
              <a:spcBef>
                <a:spcPct val="0"/>
              </a:spcBef>
            </a:pPr>
            <a:r>
              <a:rPr lang="es-CL" dirty="0" err="1">
                <a:latin typeface="DM Sans" pitchFamily="2" charset="0"/>
              </a:rPr>
              <a:t>Product</a:t>
            </a:r>
            <a:r>
              <a:rPr lang="es-CL" dirty="0">
                <a:latin typeface="DM Sans" pitchFamily="2" charset="0"/>
              </a:rPr>
              <a:t> </a:t>
            </a:r>
            <a:r>
              <a:rPr lang="es-CL" dirty="0" err="1">
                <a:latin typeface="DM Sans" pitchFamily="2" charset="0"/>
              </a:rPr>
              <a:t>Owner</a:t>
            </a:r>
            <a:r>
              <a:rPr lang="es-CL" dirty="0">
                <a:latin typeface="DM Sans" pitchFamily="2" charset="0"/>
              </a:rPr>
              <a:t>(PO)</a:t>
            </a:r>
            <a:endParaRPr lang="en-US" sz="1910" dirty="0">
              <a:solidFill>
                <a:srgbClr val="070605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70F7-A5D0-D551-A272-70E8D179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F2CC03-B5CE-0EDD-D845-A1F82CEC684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72089D8-1624-0DD9-4DDA-7EB9AEA8361C}"/>
              </a:ext>
            </a:extLst>
          </p:cNvPr>
          <p:cNvGrpSpPr/>
          <p:nvPr/>
        </p:nvGrpSpPr>
        <p:grpSpPr>
          <a:xfrm rot="5400000">
            <a:off x="5315925" y="-5226033"/>
            <a:ext cx="7656149" cy="20739065"/>
            <a:chOff x="0" y="0"/>
            <a:chExt cx="2016434" cy="54621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9FE6397-050B-263B-75F1-21F4D63E3FCA}"/>
                </a:ext>
              </a:extLst>
            </p:cNvPr>
            <p:cNvSpPr/>
            <p:nvPr/>
          </p:nvSpPr>
          <p:spPr>
            <a:xfrm>
              <a:off x="0" y="0"/>
              <a:ext cx="2016434" cy="5462141"/>
            </a:xfrm>
            <a:custGeom>
              <a:avLst/>
              <a:gdLst/>
              <a:ahLst/>
              <a:cxnLst/>
              <a:rect l="l" t="t" r="r" b="b"/>
              <a:pathLst>
                <a:path w="2016434" h="5462141">
                  <a:moveTo>
                    <a:pt x="28314" y="0"/>
                  </a:moveTo>
                  <a:lnTo>
                    <a:pt x="1988121" y="0"/>
                  </a:lnTo>
                  <a:cubicBezTo>
                    <a:pt x="1995630" y="0"/>
                    <a:pt x="2002832" y="2983"/>
                    <a:pt x="2008142" y="8293"/>
                  </a:cubicBezTo>
                  <a:cubicBezTo>
                    <a:pt x="2013452" y="13603"/>
                    <a:pt x="2016434" y="20804"/>
                    <a:pt x="2016434" y="28314"/>
                  </a:cubicBezTo>
                  <a:lnTo>
                    <a:pt x="2016434" y="5433827"/>
                  </a:lnTo>
                  <a:cubicBezTo>
                    <a:pt x="2016434" y="5441336"/>
                    <a:pt x="2013452" y="5448538"/>
                    <a:pt x="2008142" y="5453848"/>
                  </a:cubicBezTo>
                  <a:cubicBezTo>
                    <a:pt x="2002832" y="5459157"/>
                    <a:pt x="1995630" y="5462141"/>
                    <a:pt x="1988121" y="5462141"/>
                  </a:cubicBezTo>
                  <a:lnTo>
                    <a:pt x="28314" y="5462141"/>
                  </a:lnTo>
                  <a:cubicBezTo>
                    <a:pt x="20804" y="5462141"/>
                    <a:pt x="13603" y="5459157"/>
                    <a:pt x="8293" y="5453848"/>
                  </a:cubicBezTo>
                  <a:cubicBezTo>
                    <a:pt x="2983" y="5448538"/>
                    <a:pt x="0" y="5441336"/>
                    <a:pt x="0" y="5433827"/>
                  </a:cubicBezTo>
                  <a:lnTo>
                    <a:pt x="0" y="28314"/>
                  </a:lnTo>
                  <a:cubicBezTo>
                    <a:pt x="0" y="20804"/>
                    <a:pt x="2983" y="13603"/>
                    <a:pt x="8293" y="8293"/>
                  </a:cubicBezTo>
                  <a:cubicBezTo>
                    <a:pt x="13603" y="2983"/>
                    <a:pt x="20804" y="0"/>
                    <a:pt x="28314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912625-53F9-08FF-DAFC-42921DFDA622}"/>
                </a:ext>
              </a:extLst>
            </p:cNvPr>
            <p:cNvSpPr txBox="1"/>
            <p:nvPr/>
          </p:nvSpPr>
          <p:spPr>
            <a:xfrm>
              <a:off x="0" y="-38100"/>
              <a:ext cx="2016434" cy="5500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B329E4C3-092B-2ED1-8F2D-D66D0DEFB0E2}"/>
              </a:ext>
            </a:extLst>
          </p:cNvPr>
          <p:cNvSpPr txBox="1"/>
          <p:nvPr/>
        </p:nvSpPr>
        <p:spPr>
          <a:xfrm>
            <a:off x="3404986" y="3885665"/>
            <a:ext cx="11478028" cy="406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MX" sz="3300" dirty="0">
                <a:solidFill>
                  <a:schemeClr val="bg1"/>
                </a:solidFill>
              </a:rPr>
              <a:t>Este proyecto está enfocado en entender que Chile es un país altamente expuesto a fenómenos naturales debido a su geografía y diversidad climática. A lo largo de su territorio ocurren con frecuencia sismos, erupciones volcánicas, aluviones, temporales y marejadas, lo que genera un escenario de constante riesgo para la población y equipos de emergencia . Esta realidad exige una preparación continua y sistemas de información confiables que permitan fortalecer la resiliencia frente a emergencias y desastres.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E5CE0AD-300E-65A0-1D70-D0006770E3CB}"/>
              </a:ext>
            </a:extLst>
          </p:cNvPr>
          <p:cNvSpPr txBox="1"/>
          <p:nvPr/>
        </p:nvSpPr>
        <p:spPr>
          <a:xfrm>
            <a:off x="2514600" y="2284388"/>
            <a:ext cx="13639800" cy="114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451"/>
              </a:lnSpc>
              <a:spcBef>
                <a:spcPct val="0"/>
              </a:spcBef>
            </a:pPr>
            <a:r>
              <a:rPr lang="en-US" sz="7621" b="1" u="none" strike="noStrike" spc="144" dirty="0" err="1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Contexto</a:t>
            </a:r>
            <a:r>
              <a:rPr lang="en-US" sz="7621" b="1" u="none" strike="noStrike" spc="144" dirty="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 del </a:t>
            </a:r>
            <a:r>
              <a:rPr lang="en-US" sz="7621" b="1" u="none" strike="noStrike" spc="144" dirty="0" err="1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proyecto</a:t>
            </a:r>
            <a:endParaRPr lang="en-US" sz="7621" b="1" u="none" strike="noStrike" spc="144" dirty="0">
              <a:solidFill>
                <a:srgbClr val="FFFFFF"/>
              </a:solidFill>
              <a:latin typeface="Muli Heavy"/>
              <a:ea typeface="Muli Heavy"/>
              <a:cs typeface="Muli Heavy"/>
              <a:sym typeface="Muli Heavy"/>
            </a:endParaRPr>
          </a:p>
        </p:txBody>
      </p:sp>
    </p:spTree>
    <p:extLst>
      <p:ext uri="{BB962C8B-B14F-4D97-AF65-F5344CB8AC3E}">
        <p14:creationId xmlns:p14="http://schemas.microsoft.com/office/powerpoint/2010/main" val="354248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E27C4-1773-3BEB-8263-FFA59D42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687780-BD5B-03F3-F859-AD8BB152034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52B467F-1B56-D1A1-0ECF-97C8E03AA836}"/>
              </a:ext>
            </a:extLst>
          </p:cNvPr>
          <p:cNvGrpSpPr/>
          <p:nvPr/>
        </p:nvGrpSpPr>
        <p:grpSpPr>
          <a:xfrm rot="5400000">
            <a:off x="5315925" y="-5226033"/>
            <a:ext cx="7656149" cy="20739065"/>
            <a:chOff x="0" y="0"/>
            <a:chExt cx="2016434" cy="54621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D194374-3E90-11AF-5B00-4C111E9F252B}"/>
                </a:ext>
              </a:extLst>
            </p:cNvPr>
            <p:cNvSpPr/>
            <p:nvPr/>
          </p:nvSpPr>
          <p:spPr>
            <a:xfrm>
              <a:off x="0" y="0"/>
              <a:ext cx="2016434" cy="5462141"/>
            </a:xfrm>
            <a:custGeom>
              <a:avLst/>
              <a:gdLst/>
              <a:ahLst/>
              <a:cxnLst/>
              <a:rect l="l" t="t" r="r" b="b"/>
              <a:pathLst>
                <a:path w="2016434" h="5462141">
                  <a:moveTo>
                    <a:pt x="28314" y="0"/>
                  </a:moveTo>
                  <a:lnTo>
                    <a:pt x="1988121" y="0"/>
                  </a:lnTo>
                  <a:cubicBezTo>
                    <a:pt x="1995630" y="0"/>
                    <a:pt x="2002832" y="2983"/>
                    <a:pt x="2008142" y="8293"/>
                  </a:cubicBezTo>
                  <a:cubicBezTo>
                    <a:pt x="2013452" y="13603"/>
                    <a:pt x="2016434" y="20804"/>
                    <a:pt x="2016434" y="28314"/>
                  </a:cubicBezTo>
                  <a:lnTo>
                    <a:pt x="2016434" y="5433827"/>
                  </a:lnTo>
                  <a:cubicBezTo>
                    <a:pt x="2016434" y="5441336"/>
                    <a:pt x="2013452" y="5448538"/>
                    <a:pt x="2008142" y="5453848"/>
                  </a:cubicBezTo>
                  <a:cubicBezTo>
                    <a:pt x="2002832" y="5459157"/>
                    <a:pt x="1995630" y="5462141"/>
                    <a:pt x="1988121" y="5462141"/>
                  </a:cubicBezTo>
                  <a:lnTo>
                    <a:pt x="28314" y="5462141"/>
                  </a:lnTo>
                  <a:cubicBezTo>
                    <a:pt x="20804" y="5462141"/>
                    <a:pt x="13603" y="5459157"/>
                    <a:pt x="8293" y="5453848"/>
                  </a:cubicBezTo>
                  <a:cubicBezTo>
                    <a:pt x="2983" y="5448538"/>
                    <a:pt x="0" y="5441336"/>
                    <a:pt x="0" y="5433827"/>
                  </a:cubicBezTo>
                  <a:lnTo>
                    <a:pt x="0" y="28314"/>
                  </a:lnTo>
                  <a:cubicBezTo>
                    <a:pt x="0" y="20804"/>
                    <a:pt x="2983" y="13603"/>
                    <a:pt x="8293" y="8293"/>
                  </a:cubicBezTo>
                  <a:cubicBezTo>
                    <a:pt x="13603" y="2983"/>
                    <a:pt x="20804" y="0"/>
                    <a:pt x="28314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43431A8-4381-7B9E-D205-19D5A1BDD898}"/>
                </a:ext>
              </a:extLst>
            </p:cNvPr>
            <p:cNvSpPr txBox="1"/>
            <p:nvPr/>
          </p:nvSpPr>
          <p:spPr>
            <a:xfrm>
              <a:off x="0" y="-38100"/>
              <a:ext cx="2016434" cy="5500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8401162D-BA35-EE56-1880-B7A3A6705AA1}"/>
              </a:ext>
            </a:extLst>
          </p:cNvPr>
          <p:cNvSpPr txBox="1"/>
          <p:nvPr/>
        </p:nvSpPr>
        <p:spPr>
          <a:xfrm>
            <a:off x="3404986" y="3885665"/>
            <a:ext cx="11478028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Uno de los problemas principales es la interrupción de los servicios, esto ocurre cuando hay una adversidad natural, en este país es el tema de la comunicación y de los servicios básicos , como internet y electricidad. Los cuales quedad inutilizados. Por lo que es necesario un nuevo sistema de cobertura que </a:t>
            </a:r>
            <a:r>
              <a:rPr lang="es-MX" sz="2800" dirty="0" err="1">
                <a:solidFill>
                  <a:schemeClr val="bg1"/>
                </a:solidFill>
              </a:rPr>
              <a:t>garantize</a:t>
            </a:r>
            <a:r>
              <a:rPr lang="es-MX" sz="2800" dirty="0">
                <a:solidFill>
                  <a:schemeClr val="bg1"/>
                </a:solidFill>
              </a:rPr>
              <a:t> la comunicación.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F79109B-3E20-4382-C343-D574CE8B7F22}"/>
              </a:ext>
            </a:extLst>
          </p:cNvPr>
          <p:cNvSpPr txBox="1"/>
          <p:nvPr/>
        </p:nvSpPr>
        <p:spPr>
          <a:xfrm>
            <a:off x="2514600" y="2284388"/>
            <a:ext cx="13639800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9451"/>
              </a:lnSpc>
              <a:spcBef>
                <a:spcPct val="0"/>
              </a:spcBef>
            </a:pPr>
            <a:r>
              <a:rPr lang="es-CL" sz="8000" dirty="0">
                <a:solidFill>
                  <a:schemeClr val="bg1"/>
                </a:solidFill>
              </a:rPr>
              <a:t>Problemática</a:t>
            </a:r>
            <a:endParaRPr lang="en-US" sz="7621" b="1" u="none" strike="noStrike" spc="144" dirty="0">
              <a:solidFill>
                <a:schemeClr val="bg1"/>
              </a:solidFill>
              <a:latin typeface="Muli Heavy"/>
              <a:ea typeface="Muli Heavy"/>
              <a:cs typeface="Muli Heavy"/>
              <a:sym typeface="Muli Heavy"/>
            </a:endParaRPr>
          </a:p>
        </p:txBody>
      </p:sp>
    </p:spTree>
    <p:extLst>
      <p:ext uri="{BB962C8B-B14F-4D97-AF65-F5344CB8AC3E}">
        <p14:creationId xmlns:p14="http://schemas.microsoft.com/office/powerpoint/2010/main" val="815536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1120181" y="3917342"/>
            <a:ext cx="4742240" cy="4925202"/>
            <a:chOff x="0" y="0"/>
            <a:chExt cx="1248985" cy="12971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8985" cy="1297173"/>
            </a:xfrm>
            <a:custGeom>
              <a:avLst/>
              <a:gdLst/>
              <a:ahLst/>
              <a:cxnLst/>
              <a:rect l="l" t="t" r="r" b="b"/>
              <a:pathLst>
                <a:path w="1248985" h="1297173">
                  <a:moveTo>
                    <a:pt x="45711" y="0"/>
                  </a:moveTo>
                  <a:lnTo>
                    <a:pt x="1203274" y="0"/>
                  </a:lnTo>
                  <a:cubicBezTo>
                    <a:pt x="1215397" y="0"/>
                    <a:pt x="1227024" y="4816"/>
                    <a:pt x="1235597" y="13389"/>
                  </a:cubicBezTo>
                  <a:cubicBezTo>
                    <a:pt x="1244169" y="21961"/>
                    <a:pt x="1248985" y="33588"/>
                    <a:pt x="1248985" y="45711"/>
                  </a:cubicBezTo>
                  <a:lnTo>
                    <a:pt x="1248985" y="1251461"/>
                  </a:lnTo>
                  <a:cubicBezTo>
                    <a:pt x="1248985" y="1276707"/>
                    <a:pt x="1228519" y="1297173"/>
                    <a:pt x="1203274" y="1297173"/>
                  </a:cubicBezTo>
                  <a:lnTo>
                    <a:pt x="45711" y="1297173"/>
                  </a:lnTo>
                  <a:cubicBezTo>
                    <a:pt x="33588" y="1297173"/>
                    <a:pt x="21961" y="1292357"/>
                    <a:pt x="13389" y="1283784"/>
                  </a:cubicBezTo>
                  <a:cubicBezTo>
                    <a:pt x="4816" y="1275212"/>
                    <a:pt x="0" y="1263585"/>
                    <a:pt x="0" y="1251461"/>
                  </a:cubicBezTo>
                  <a:lnTo>
                    <a:pt x="0" y="45711"/>
                  </a:lnTo>
                  <a:cubicBezTo>
                    <a:pt x="0" y="33588"/>
                    <a:pt x="4816" y="21961"/>
                    <a:pt x="13389" y="13389"/>
                  </a:cubicBezTo>
                  <a:cubicBezTo>
                    <a:pt x="21961" y="4816"/>
                    <a:pt x="33588" y="0"/>
                    <a:pt x="45711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48985" cy="133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6772880" y="3917342"/>
            <a:ext cx="4742240" cy="4925202"/>
            <a:chOff x="0" y="0"/>
            <a:chExt cx="1248985" cy="12971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48985" cy="1297173"/>
            </a:xfrm>
            <a:custGeom>
              <a:avLst/>
              <a:gdLst/>
              <a:ahLst/>
              <a:cxnLst/>
              <a:rect l="l" t="t" r="r" b="b"/>
              <a:pathLst>
                <a:path w="1248985" h="1297173">
                  <a:moveTo>
                    <a:pt x="45711" y="0"/>
                  </a:moveTo>
                  <a:lnTo>
                    <a:pt x="1203274" y="0"/>
                  </a:lnTo>
                  <a:cubicBezTo>
                    <a:pt x="1215397" y="0"/>
                    <a:pt x="1227024" y="4816"/>
                    <a:pt x="1235597" y="13389"/>
                  </a:cubicBezTo>
                  <a:cubicBezTo>
                    <a:pt x="1244169" y="21961"/>
                    <a:pt x="1248985" y="33588"/>
                    <a:pt x="1248985" y="45711"/>
                  </a:cubicBezTo>
                  <a:lnTo>
                    <a:pt x="1248985" y="1251461"/>
                  </a:lnTo>
                  <a:cubicBezTo>
                    <a:pt x="1248985" y="1276707"/>
                    <a:pt x="1228519" y="1297173"/>
                    <a:pt x="1203274" y="1297173"/>
                  </a:cubicBezTo>
                  <a:lnTo>
                    <a:pt x="45711" y="1297173"/>
                  </a:lnTo>
                  <a:cubicBezTo>
                    <a:pt x="33588" y="1297173"/>
                    <a:pt x="21961" y="1292357"/>
                    <a:pt x="13389" y="1283784"/>
                  </a:cubicBezTo>
                  <a:cubicBezTo>
                    <a:pt x="4816" y="1275212"/>
                    <a:pt x="0" y="1263585"/>
                    <a:pt x="0" y="1251461"/>
                  </a:cubicBezTo>
                  <a:lnTo>
                    <a:pt x="0" y="45711"/>
                  </a:lnTo>
                  <a:cubicBezTo>
                    <a:pt x="0" y="33588"/>
                    <a:pt x="4816" y="21961"/>
                    <a:pt x="13389" y="13389"/>
                  </a:cubicBezTo>
                  <a:cubicBezTo>
                    <a:pt x="21961" y="4816"/>
                    <a:pt x="33588" y="0"/>
                    <a:pt x="45711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48985" cy="133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7080022" y="-3307151"/>
            <a:ext cx="4127957" cy="7135769"/>
            <a:chOff x="0" y="0"/>
            <a:chExt cx="1087198" cy="18793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7198" cy="1879380"/>
            </a:xfrm>
            <a:custGeom>
              <a:avLst/>
              <a:gdLst/>
              <a:ahLst/>
              <a:cxnLst/>
              <a:rect l="l" t="t" r="r" b="b"/>
              <a:pathLst>
                <a:path w="1087198" h="1879380">
                  <a:moveTo>
                    <a:pt x="52514" y="0"/>
                  </a:moveTo>
                  <a:lnTo>
                    <a:pt x="1034685" y="0"/>
                  </a:lnTo>
                  <a:cubicBezTo>
                    <a:pt x="1063687" y="0"/>
                    <a:pt x="1087198" y="23511"/>
                    <a:pt x="1087198" y="52514"/>
                  </a:cubicBezTo>
                  <a:lnTo>
                    <a:pt x="1087198" y="1826866"/>
                  </a:lnTo>
                  <a:cubicBezTo>
                    <a:pt x="1087198" y="1840794"/>
                    <a:pt x="1081666" y="1854151"/>
                    <a:pt x="1071818" y="1863999"/>
                  </a:cubicBezTo>
                  <a:cubicBezTo>
                    <a:pt x="1061969" y="1873847"/>
                    <a:pt x="1048612" y="1879380"/>
                    <a:pt x="1034685" y="1879380"/>
                  </a:cubicBezTo>
                  <a:lnTo>
                    <a:pt x="52514" y="1879380"/>
                  </a:lnTo>
                  <a:cubicBezTo>
                    <a:pt x="23511" y="1879380"/>
                    <a:pt x="0" y="1855869"/>
                    <a:pt x="0" y="1826866"/>
                  </a:cubicBezTo>
                  <a:lnTo>
                    <a:pt x="0" y="52514"/>
                  </a:lnTo>
                  <a:cubicBezTo>
                    <a:pt x="0" y="23511"/>
                    <a:pt x="23511" y="0"/>
                    <a:pt x="52514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87198" cy="1917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06487" y="4736211"/>
            <a:ext cx="4169629" cy="2881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1"/>
              </a:lnSpc>
            </a:pPr>
            <a:r>
              <a:rPr lang="es-MX" sz="2400" b="1" dirty="0">
                <a:solidFill>
                  <a:schemeClr val="bg1"/>
                </a:solidFill>
              </a:rPr>
              <a:t>Ciudadano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Necesidad de poder recibir información, ya sea en el lugar de la emergencia o si se encuentra lejos de ella, para poder comunicarse.</a:t>
            </a:r>
            <a:endParaRPr lang="en-US" sz="2367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059186" y="4736211"/>
            <a:ext cx="4169629" cy="3856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1"/>
              </a:lnSpc>
            </a:pPr>
            <a:r>
              <a:rPr lang="es-MX" sz="2400" b="1" dirty="0">
                <a:solidFill>
                  <a:schemeClr val="bg1"/>
                </a:solidFill>
              </a:rPr>
              <a:t>Autoridades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Permite la descentralización, otorgando a las distintas entidades la posibilidad de recibir información en tiempo real sobre lo que está sucediendo, para así poder informar oportunamente a la población.</a:t>
            </a:r>
            <a:endParaRPr lang="en-US" sz="2367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795706" y="513908"/>
            <a:ext cx="6696587" cy="121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51"/>
              </a:lnSpc>
              <a:spcBef>
                <a:spcPct val="0"/>
              </a:spcBef>
            </a:pPr>
            <a:r>
              <a:rPr lang="es-CL" sz="8000" dirty="0">
                <a:solidFill>
                  <a:schemeClr val="bg1"/>
                </a:solidFill>
              </a:rPr>
              <a:t>Necesidad</a:t>
            </a:r>
            <a:endParaRPr lang="en-US" sz="7621" b="1" spc="144" dirty="0">
              <a:solidFill>
                <a:schemeClr val="bg1"/>
              </a:solidFill>
              <a:latin typeface="Muli Heavy"/>
              <a:ea typeface="Muli Heavy"/>
              <a:cs typeface="Muli Heavy"/>
              <a:sym typeface="Muli Heavy"/>
            </a:endParaRP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12425579" y="3917342"/>
            <a:ext cx="4742240" cy="4925202"/>
            <a:chOff x="0" y="0"/>
            <a:chExt cx="1248985" cy="12971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48985" cy="1297173"/>
            </a:xfrm>
            <a:custGeom>
              <a:avLst/>
              <a:gdLst/>
              <a:ahLst/>
              <a:cxnLst/>
              <a:rect l="l" t="t" r="r" b="b"/>
              <a:pathLst>
                <a:path w="1248985" h="1297173">
                  <a:moveTo>
                    <a:pt x="45711" y="0"/>
                  </a:moveTo>
                  <a:lnTo>
                    <a:pt x="1203274" y="0"/>
                  </a:lnTo>
                  <a:cubicBezTo>
                    <a:pt x="1215397" y="0"/>
                    <a:pt x="1227024" y="4816"/>
                    <a:pt x="1235597" y="13389"/>
                  </a:cubicBezTo>
                  <a:cubicBezTo>
                    <a:pt x="1244169" y="21961"/>
                    <a:pt x="1248985" y="33588"/>
                    <a:pt x="1248985" y="45711"/>
                  </a:cubicBezTo>
                  <a:lnTo>
                    <a:pt x="1248985" y="1251461"/>
                  </a:lnTo>
                  <a:cubicBezTo>
                    <a:pt x="1248985" y="1276707"/>
                    <a:pt x="1228519" y="1297173"/>
                    <a:pt x="1203274" y="1297173"/>
                  </a:cubicBezTo>
                  <a:lnTo>
                    <a:pt x="45711" y="1297173"/>
                  </a:lnTo>
                  <a:cubicBezTo>
                    <a:pt x="33588" y="1297173"/>
                    <a:pt x="21961" y="1292357"/>
                    <a:pt x="13389" y="1283784"/>
                  </a:cubicBezTo>
                  <a:cubicBezTo>
                    <a:pt x="4816" y="1275212"/>
                    <a:pt x="0" y="1263585"/>
                    <a:pt x="0" y="1251461"/>
                  </a:cubicBezTo>
                  <a:lnTo>
                    <a:pt x="0" y="45711"/>
                  </a:lnTo>
                  <a:cubicBezTo>
                    <a:pt x="0" y="33588"/>
                    <a:pt x="4816" y="21961"/>
                    <a:pt x="13389" y="13389"/>
                  </a:cubicBezTo>
                  <a:cubicBezTo>
                    <a:pt x="21961" y="4816"/>
                    <a:pt x="33588" y="0"/>
                    <a:pt x="45711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248985" cy="133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711885" y="4736211"/>
            <a:ext cx="4169629" cy="336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1"/>
              </a:lnSpc>
            </a:pPr>
            <a:r>
              <a:rPr lang="es-MX" sz="2400" b="1" dirty="0">
                <a:solidFill>
                  <a:schemeClr val="bg1"/>
                </a:solidFill>
              </a:rPr>
              <a:t>Persona a distancia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Poder visualizar la información de lo que está ocurriendo, aun cuando no se encuentre en el lugar de la emergencia, y poder comunicarse con alguien que sí esté allí.</a:t>
            </a:r>
            <a:endParaRPr lang="en-US" sz="2367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-1108566" y="-28249"/>
            <a:ext cx="12192397" cy="11131041"/>
            <a:chOff x="0" y="0"/>
            <a:chExt cx="3211166" cy="29316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11166" cy="2931632"/>
            </a:xfrm>
            <a:custGeom>
              <a:avLst/>
              <a:gdLst/>
              <a:ahLst/>
              <a:cxnLst/>
              <a:rect l="l" t="t" r="r" b="b"/>
              <a:pathLst>
                <a:path w="3211166" h="2931632">
                  <a:moveTo>
                    <a:pt x="17779" y="0"/>
                  </a:moveTo>
                  <a:lnTo>
                    <a:pt x="3193387" y="0"/>
                  </a:lnTo>
                  <a:cubicBezTo>
                    <a:pt x="3203206" y="0"/>
                    <a:pt x="3211166" y="7960"/>
                    <a:pt x="3211166" y="17779"/>
                  </a:cubicBezTo>
                  <a:lnTo>
                    <a:pt x="3211166" y="2913853"/>
                  </a:lnTo>
                  <a:cubicBezTo>
                    <a:pt x="3211166" y="2923672"/>
                    <a:pt x="3203206" y="2931632"/>
                    <a:pt x="3193387" y="2931632"/>
                  </a:cubicBezTo>
                  <a:lnTo>
                    <a:pt x="17779" y="2931632"/>
                  </a:lnTo>
                  <a:cubicBezTo>
                    <a:pt x="7960" y="2931632"/>
                    <a:pt x="0" y="2923672"/>
                    <a:pt x="0" y="2913853"/>
                  </a:cubicBezTo>
                  <a:lnTo>
                    <a:pt x="0" y="17779"/>
                  </a:lnTo>
                  <a:cubicBezTo>
                    <a:pt x="0" y="7960"/>
                    <a:pt x="7960" y="0"/>
                    <a:pt x="17779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211166" cy="2969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85624" y="3246741"/>
            <a:ext cx="7279369" cy="3856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11"/>
              </a:lnSpc>
            </a:pPr>
            <a:r>
              <a:rPr lang="es-MX" sz="2400" dirty="0">
                <a:solidFill>
                  <a:schemeClr val="bg1"/>
                </a:solidFill>
              </a:rPr>
              <a:t>El Proyecto PRAC es una plataforma móvil que permite mantener la comunicación incluso cuando los sistemas tradicionales no están disponibles. Esto es posible gracias a su funcionamiento mediante tecnología </a:t>
            </a:r>
            <a:r>
              <a:rPr lang="es-MX" sz="2400" dirty="0" err="1">
                <a:solidFill>
                  <a:schemeClr val="bg1"/>
                </a:solidFill>
              </a:rPr>
              <a:t>LoRa</a:t>
            </a:r>
            <a:r>
              <a:rPr lang="es-MX" sz="2400" dirty="0">
                <a:solidFill>
                  <a:schemeClr val="bg1"/>
                </a:solidFill>
              </a:rPr>
              <a:t> </a:t>
            </a:r>
            <a:r>
              <a:rPr lang="es-MX" sz="2400" dirty="0" err="1">
                <a:solidFill>
                  <a:schemeClr val="bg1"/>
                </a:solidFill>
              </a:rPr>
              <a:t>Mesh</a:t>
            </a:r>
            <a:r>
              <a:rPr lang="es-MX" sz="2400" dirty="0">
                <a:solidFill>
                  <a:schemeClr val="bg1"/>
                </a:solidFill>
              </a:rPr>
              <a:t>, la cual permite utilizar el dispositivo móvil como medio de recepción y envío de mensajes, asegurando la comunicación independientemente de las condiciones del momento.</a:t>
            </a:r>
            <a:endParaRPr lang="en-US" sz="2370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63995" y="1623653"/>
            <a:ext cx="6518388" cy="1166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9451"/>
              </a:lnSpc>
              <a:spcBef>
                <a:spcPct val="0"/>
              </a:spcBef>
            </a:pPr>
            <a:r>
              <a:rPr lang="es-CL" sz="7620" dirty="0">
                <a:solidFill>
                  <a:schemeClr val="bg1"/>
                </a:solidFill>
              </a:rPr>
              <a:t>Solución</a:t>
            </a:r>
            <a:r>
              <a:rPr lang="en-US" sz="7621" b="1" spc="144" dirty="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 </a:t>
            </a:r>
          </a:p>
        </p:txBody>
      </p:sp>
      <p:pic>
        <p:nvPicPr>
          <p:cNvPr id="21" name="Imagen 20" descr="Interfaz de usuario gráfica, Texto, Aplicación">
            <a:extLst>
              <a:ext uri="{FF2B5EF4-FFF2-40B4-BE49-F238E27FC236}">
                <a16:creationId xmlns:a16="http://schemas.microsoft.com/office/drawing/2014/main" id="{1CACA4A0-320E-B1E5-BF40-25ADF278B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7490" y="1545585"/>
            <a:ext cx="3534412" cy="7867909"/>
          </a:xfrm>
          <a:prstGeom prst="rect">
            <a:avLst/>
          </a:prstGeom>
        </p:spPr>
      </p:pic>
      <p:grpSp>
        <p:nvGrpSpPr>
          <p:cNvPr id="22" name="Group 6">
            <a:extLst>
              <a:ext uri="{FF2B5EF4-FFF2-40B4-BE49-F238E27FC236}">
                <a16:creationId xmlns:a16="http://schemas.microsoft.com/office/drawing/2014/main" id="{22C01EEE-C0E5-7734-99C2-3A0430345901}"/>
              </a:ext>
            </a:extLst>
          </p:cNvPr>
          <p:cNvGrpSpPr>
            <a:grpSpLocks noChangeAspect="1"/>
          </p:cNvGrpSpPr>
          <p:nvPr/>
        </p:nvGrpSpPr>
        <p:grpSpPr>
          <a:xfrm>
            <a:off x="12315119" y="1365747"/>
            <a:ext cx="4159154" cy="8227584"/>
            <a:chOff x="0" y="0"/>
            <a:chExt cx="2620010" cy="5182870"/>
          </a:xfrm>
        </p:grpSpPr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FB9041B2-1B60-B8A5-6FF5-C38F25AD9166}"/>
                </a:ext>
              </a:extLst>
            </p:cNvPr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547A1388-7134-5885-2FEF-6B238AE827CE}"/>
                </a:ext>
              </a:extLst>
            </p:cNvPr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81329FA8-9730-AFD4-05F3-0D34128216F7}"/>
                </a:ext>
              </a:extLst>
            </p:cNvPr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06C9CD63-3417-EE29-9B76-2EC121FE58E3}"/>
                </a:ext>
              </a:extLst>
            </p:cNvPr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000A1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AA07C351-45A5-489E-6B2D-E2AE3607404A}"/>
                </a:ext>
              </a:extLst>
            </p:cNvPr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000A1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C2F9A752-BCB8-253A-7FEB-B89B197E582C}"/>
                </a:ext>
              </a:extLst>
            </p:cNvPr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000A1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4160F6CE-B256-E389-F29B-1EC18B42102A}"/>
                </a:ext>
              </a:extLst>
            </p:cNvPr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000A1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A0E79A08-2926-413A-1C1B-D5F4BEFC19F2}"/>
                </a:ext>
              </a:extLst>
            </p:cNvPr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6420234" y="-1717598"/>
            <a:ext cx="3735531" cy="373553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7857" y="-643475"/>
            <a:ext cx="1286950" cy="1286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929195" y="8389571"/>
            <a:ext cx="3735531" cy="373553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6" name="Imagen 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CD99D77F-7245-5AA9-6B68-ABCBC8A4A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497" y="150167"/>
            <a:ext cx="13524634" cy="9806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6420234" y="-1717598"/>
            <a:ext cx="3735531" cy="373553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7857" y="-643475"/>
            <a:ext cx="1286950" cy="1286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929195" y="8389571"/>
            <a:ext cx="3735531" cy="373553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8A989A8-DE0E-6E4D-4A48-8DF580709475}"/>
              </a:ext>
            </a:extLst>
          </p:cNvPr>
          <p:cNvSpPr txBox="1"/>
          <p:nvPr/>
        </p:nvSpPr>
        <p:spPr>
          <a:xfrm>
            <a:off x="4953000" y="4905144"/>
            <a:ext cx="9826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0" dirty="0">
                <a:effectLst/>
              </a:rPr>
              <a:t> </a:t>
            </a:r>
            <a:endParaRPr lang="es-CL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FB7968D-8B74-F5B7-A343-6C32466D6144}"/>
              </a:ext>
            </a:extLst>
          </p:cNvPr>
          <p:cNvSpPr txBox="1"/>
          <p:nvPr/>
        </p:nvSpPr>
        <p:spPr>
          <a:xfrm>
            <a:off x="12470186" y="5059254"/>
            <a:ext cx="2309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 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FE3A7E23-2487-CA8E-091D-0FD28DC4A8A8}"/>
              </a:ext>
            </a:extLst>
          </p:cNvPr>
          <p:cNvSpPr txBox="1"/>
          <p:nvPr/>
        </p:nvSpPr>
        <p:spPr>
          <a:xfrm>
            <a:off x="5128443" y="569785"/>
            <a:ext cx="7273360" cy="119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51"/>
              </a:lnSpc>
              <a:spcBef>
                <a:spcPct val="0"/>
              </a:spcBef>
            </a:pPr>
            <a:r>
              <a:rPr lang="en-US" sz="7621" b="1" spc="144" dirty="0" err="1">
                <a:latin typeface="Muli Heavy"/>
                <a:ea typeface="Muli Heavy"/>
                <a:cs typeface="Muli Heavy"/>
                <a:sym typeface="Muli Heavy"/>
              </a:rPr>
              <a:t>arquitectura</a:t>
            </a:r>
            <a:endParaRPr lang="en-US" sz="7621" b="1" spc="144" dirty="0">
              <a:latin typeface="Muli Heavy"/>
              <a:ea typeface="Muli Heavy"/>
              <a:cs typeface="Muli Heavy"/>
              <a:sym typeface="Muli Heavy"/>
            </a:endParaRPr>
          </a:p>
        </p:txBody>
      </p:sp>
      <p:pic>
        <p:nvPicPr>
          <p:cNvPr id="6" name="Imagen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B2FFCE6-1876-CD8F-E6E6-A20D5A17E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430" y="3626311"/>
            <a:ext cx="18288000" cy="2557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15651" y="1181100"/>
            <a:ext cx="10724005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73"/>
              </a:lnSpc>
            </a:pPr>
            <a:r>
              <a:rPr lang="en-US" sz="6643" b="1" spc="39" dirty="0" err="1">
                <a:solidFill>
                  <a:srgbClr val="21396D"/>
                </a:solidFill>
                <a:latin typeface="Garet Bold"/>
                <a:ea typeface="Garet Bold"/>
                <a:cs typeface="Garet Bold"/>
                <a:sym typeface="Garet Bold"/>
              </a:rPr>
              <a:t>Metodologia</a:t>
            </a:r>
            <a:endParaRPr lang="en-US" sz="6643" b="1" spc="39" dirty="0">
              <a:solidFill>
                <a:srgbClr val="21396D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0" name="Freeform 10"/>
          <p:cNvSpPr/>
          <p:nvPr/>
        </p:nvSpPr>
        <p:spPr>
          <a:xfrm rot="8495278">
            <a:off x="-1061330" y="-383139"/>
            <a:ext cx="4180060" cy="2090030"/>
          </a:xfrm>
          <a:custGeom>
            <a:avLst/>
            <a:gdLst/>
            <a:ahLst/>
            <a:cxnLst/>
            <a:rect l="l" t="t" r="r" b="b"/>
            <a:pathLst>
              <a:path w="4180060" h="2090030">
                <a:moveTo>
                  <a:pt x="0" y="0"/>
                </a:moveTo>
                <a:lnTo>
                  <a:pt x="4180060" y="0"/>
                </a:lnTo>
                <a:lnTo>
                  <a:pt x="4180060" y="2090030"/>
                </a:lnTo>
                <a:lnTo>
                  <a:pt x="0" y="209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 rot="-2537273">
            <a:off x="15089332" y="7996189"/>
            <a:ext cx="4180060" cy="2090030"/>
          </a:xfrm>
          <a:custGeom>
            <a:avLst/>
            <a:gdLst/>
            <a:ahLst/>
            <a:cxnLst/>
            <a:rect l="l" t="t" r="r" b="b"/>
            <a:pathLst>
              <a:path w="4180060" h="2090030">
                <a:moveTo>
                  <a:pt x="0" y="0"/>
                </a:moveTo>
                <a:lnTo>
                  <a:pt x="4180060" y="0"/>
                </a:lnTo>
                <a:lnTo>
                  <a:pt x="4180060" y="2090030"/>
                </a:lnTo>
                <a:lnTo>
                  <a:pt x="0" y="209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B2D4819-3767-F08F-31F6-D625194BD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072" y="2779273"/>
            <a:ext cx="11067856" cy="605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181" b="-22595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H="1">
            <a:off x="2416720" y="9258300"/>
            <a:ext cx="5210615" cy="1676871"/>
          </a:xfrm>
          <a:custGeom>
            <a:avLst/>
            <a:gdLst/>
            <a:ahLst/>
            <a:cxnLst/>
            <a:rect l="l" t="t" r="r" b="b"/>
            <a:pathLst>
              <a:path w="5210615" h="1676871">
                <a:moveTo>
                  <a:pt x="5210615" y="0"/>
                </a:moveTo>
                <a:lnTo>
                  <a:pt x="0" y="0"/>
                </a:lnTo>
                <a:lnTo>
                  <a:pt x="0" y="1676871"/>
                </a:lnTo>
                <a:lnTo>
                  <a:pt x="5210615" y="1676871"/>
                </a:lnTo>
                <a:lnTo>
                  <a:pt x="521061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5400000">
            <a:off x="-229458" y="-1204618"/>
            <a:ext cx="3173540" cy="4114800"/>
          </a:xfrm>
          <a:custGeom>
            <a:avLst/>
            <a:gdLst/>
            <a:ahLst/>
            <a:cxnLst/>
            <a:rect l="l" t="t" r="r" b="b"/>
            <a:pathLst>
              <a:path w="3173540" h="4114800">
                <a:moveTo>
                  <a:pt x="0" y="0"/>
                </a:moveTo>
                <a:lnTo>
                  <a:pt x="3173539" y="0"/>
                </a:lnTo>
                <a:lnTo>
                  <a:pt x="3173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3933385" y="321902"/>
            <a:ext cx="3693950" cy="463423"/>
          </a:xfrm>
          <a:custGeom>
            <a:avLst/>
            <a:gdLst/>
            <a:ahLst/>
            <a:cxnLst/>
            <a:rect l="l" t="t" r="r" b="b"/>
            <a:pathLst>
              <a:path w="3693950" h="463423">
                <a:moveTo>
                  <a:pt x="0" y="0"/>
                </a:moveTo>
                <a:lnTo>
                  <a:pt x="3693950" y="0"/>
                </a:lnTo>
                <a:lnTo>
                  <a:pt x="3693950" y="463423"/>
                </a:lnTo>
                <a:lnTo>
                  <a:pt x="0" y="4634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8220903" y="9501675"/>
            <a:ext cx="3693950" cy="463423"/>
          </a:xfrm>
          <a:custGeom>
            <a:avLst/>
            <a:gdLst/>
            <a:ahLst/>
            <a:cxnLst/>
            <a:rect l="l" t="t" r="r" b="b"/>
            <a:pathLst>
              <a:path w="3693950" h="463423">
                <a:moveTo>
                  <a:pt x="0" y="0"/>
                </a:moveTo>
                <a:lnTo>
                  <a:pt x="3693950" y="0"/>
                </a:lnTo>
                <a:lnTo>
                  <a:pt x="3693950" y="463423"/>
                </a:lnTo>
                <a:lnTo>
                  <a:pt x="0" y="4634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1214804" y="650432"/>
            <a:ext cx="14012197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690"/>
              </a:lnSpc>
            </a:pPr>
            <a:r>
              <a:rPr lang="en-US" sz="8500" dirty="0" err="1">
                <a:solidFill>
                  <a:srgbClr val="D5E6EB"/>
                </a:solidFill>
                <a:latin typeface="Lazydog"/>
                <a:ea typeface="Lazydog"/>
                <a:cs typeface="Lazydog"/>
                <a:sym typeface="Lazydog"/>
              </a:rPr>
              <a:t>Requisitos</a:t>
            </a:r>
            <a:r>
              <a:rPr lang="en-US" sz="8500" dirty="0">
                <a:solidFill>
                  <a:srgbClr val="D5E6EB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8500" dirty="0" err="1">
                <a:solidFill>
                  <a:srgbClr val="D5E6EB"/>
                </a:solidFill>
                <a:latin typeface="Lazydog"/>
                <a:ea typeface="Lazydog"/>
                <a:cs typeface="Lazydog"/>
                <a:sym typeface="Lazydog"/>
              </a:rPr>
              <a:t>funcionales</a:t>
            </a:r>
            <a:endParaRPr lang="en-US" sz="8500" dirty="0">
              <a:solidFill>
                <a:srgbClr val="D5E6EB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0099C5C-87B6-EC1A-7444-EB7358B59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935156"/>
            <a:ext cx="14630400" cy="802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7CC9F-A724-C552-6EFE-1450A04E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304149-7A50-682D-37A5-3D1038C85E1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181" b="-22595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A30ABCE-7A44-11BE-F485-CC345821A0E3}"/>
              </a:ext>
            </a:extLst>
          </p:cNvPr>
          <p:cNvSpPr/>
          <p:nvPr/>
        </p:nvSpPr>
        <p:spPr>
          <a:xfrm flipH="1">
            <a:off x="2416720" y="9258300"/>
            <a:ext cx="5210615" cy="1676871"/>
          </a:xfrm>
          <a:custGeom>
            <a:avLst/>
            <a:gdLst/>
            <a:ahLst/>
            <a:cxnLst/>
            <a:rect l="l" t="t" r="r" b="b"/>
            <a:pathLst>
              <a:path w="5210615" h="1676871">
                <a:moveTo>
                  <a:pt x="5210615" y="0"/>
                </a:moveTo>
                <a:lnTo>
                  <a:pt x="0" y="0"/>
                </a:lnTo>
                <a:lnTo>
                  <a:pt x="0" y="1676871"/>
                </a:lnTo>
                <a:lnTo>
                  <a:pt x="5210615" y="1676871"/>
                </a:lnTo>
                <a:lnTo>
                  <a:pt x="521061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D808BE4-8550-60F9-AB35-5BF1498FCB35}"/>
              </a:ext>
            </a:extLst>
          </p:cNvPr>
          <p:cNvSpPr/>
          <p:nvPr/>
        </p:nvSpPr>
        <p:spPr>
          <a:xfrm rot="5400000">
            <a:off x="-229458" y="-1204618"/>
            <a:ext cx="3173540" cy="4114800"/>
          </a:xfrm>
          <a:custGeom>
            <a:avLst/>
            <a:gdLst/>
            <a:ahLst/>
            <a:cxnLst/>
            <a:rect l="l" t="t" r="r" b="b"/>
            <a:pathLst>
              <a:path w="3173540" h="4114800">
                <a:moveTo>
                  <a:pt x="0" y="0"/>
                </a:moveTo>
                <a:lnTo>
                  <a:pt x="3173539" y="0"/>
                </a:lnTo>
                <a:lnTo>
                  <a:pt x="3173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C8493D0-CA62-9553-83E6-EF091D7A5BCE}"/>
              </a:ext>
            </a:extLst>
          </p:cNvPr>
          <p:cNvSpPr/>
          <p:nvPr/>
        </p:nvSpPr>
        <p:spPr>
          <a:xfrm>
            <a:off x="3933385" y="321902"/>
            <a:ext cx="3693950" cy="463423"/>
          </a:xfrm>
          <a:custGeom>
            <a:avLst/>
            <a:gdLst/>
            <a:ahLst/>
            <a:cxnLst/>
            <a:rect l="l" t="t" r="r" b="b"/>
            <a:pathLst>
              <a:path w="3693950" h="463423">
                <a:moveTo>
                  <a:pt x="0" y="0"/>
                </a:moveTo>
                <a:lnTo>
                  <a:pt x="3693950" y="0"/>
                </a:lnTo>
                <a:lnTo>
                  <a:pt x="3693950" y="463423"/>
                </a:lnTo>
                <a:lnTo>
                  <a:pt x="0" y="4634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1B4B440-81F6-6E63-9E86-C646C95D355C}"/>
              </a:ext>
            </a:extLst>
          </p:cNvPr>
          <p:cNvSpPr/>
          <p:nvPr/>
        </p:nvSpPr>
        <p:spPr>
          <a:xfrm>
            <a:off x="8220903" y="9501675"/>
            <a:ext cx="3693950" cy="463423"/>
          </a:xfrm>
          <a:custGeom>
            <a:avLst/>
            <a:gdLst/>
            <a:ahLst/>
            <a:cxnLst/>
            <a:rect l="l" t="t" r="r" b="b"/>
            <a:pathLst>
              <a:path w="3693950" h="463423">
                <a:moveTo>
                  <a:pt x="0" y="0"/>
                </a:moveTo>
                <a:lnTo>
                  <a:pt x="3693950" y="0"/>
                </a:lnTo>
                <a:lnTo>
                  <a:pt x="3693950" y="463423"/>
                </a:lnTo>
                <a:lnTo>
                  <a:pt x="0" y="4634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E8048A5-067E-7B83-9C0D-211FE0B0ED45}"/>
              </a:ext>
            </a:extLst>
          </p:cNvPr>
          <p:cNvSpPr txBox="1"/>
          <p:nvPr/>
        </p:nvSpPr>
        <p:spPr>
          <a:xfrm>
            <a:off x="1214804" y="650432"/>
            <a:ext cx="14012197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690"/>
              </a:lnSpc>
            </a:pPr>
            <a:r>
              <a:rPr lang="en-US" sz="8500" dirty="0" err="1">
                <a:solidFill>
                  <a:srgbClr val="D5E6EB"/>
                </a:solidFill>
                <a:latin typeface="Lazydog"/>
                <a:ea typeface="Lazydog"/>
                <a:cs typeface="Lazydog"/>
                <a:sym typeface="Lazydog"/>
              </a:rPr>
              <a:t>Requisitos</a:t>
            </a:r>
            <a:r>
              <a:rPr lang="en-US" sz="8500" dirty="0">
                <a:solidFill>
                  <a:srgbClr val="D5E6EB"/>
                </a:solidFill>
                <a:latin typeface="Lazydog"/>
                <a:ea typeface="Lazydog"/>
                <a:cs typeface="Lazydog"/>
                <a:sym typeface="Lazydog"/>
              </a:rPr>
              <a:t> no </a:t>
            </a:r>
            <a:r>
              <a:rPr lang="en-US" sz="8500" dirty="0" err="1">
                <a:solidFill>
                  <a:srgbClr val="D5E6EB"/>
                </a:solidFill>
                <a:latin typeface="Lazydog"/>
                <a:ea typeface="Lazydog"/>
                <a:cs typeface="Lazydog"/>
                <a:sym typeface="Lazydog"/>
              </a:rPr>
              <a:t>funcionales</a:t>
            </a:r>
            <a:endParaRPr lang="en-US" sz="8500" dirty="0">
              <a:solidFill>
                <a:srgbClr val="D5E6EB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  <p:pic>
        <p:nvPicPr>
          <p:cNvPr id="7170" name="Picture 2" descr="Tabla&#10;&#10;El contenido generado por IA puede ser incorrecto.">
            <a:extLst>
              <a:ext uri="{FF2B5EF4-FFF2-40B4-BE49-F238E27FC236}">
                <a16:creationId xmlns:a16="http://schemas.microsoft.com/office/drawing/2014/main" id="{44507CA9-A662-A86A-4B52-66B12A1E6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17620"/>
            <a:ext cx="13694982" cy="788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069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AC09C-4F53-E18A-69A0-3534BA5EB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EC88F58F-9CEC-1259-62DD-9F1A2C12AF01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78C1750-3932-DE23-1BF9-8D568E41D84A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5247A38-15EA-FCFF-823C-E68A1AE3356F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F7E24455-5297-7EEB-0AA0-9B70816A12EE}"/>
              </a:ext>
            </a:extLst>
          </p:cNvPr>
          <p:cNvSpPr txBox="1"/>
          <p:nvPr/>
        </p:nvSpPr>
        <p:spPr>
          <a:xfrm>
            <a:off x="1066800" y="590032"/>
            <a:ext cx="8725768" cy="767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endParaRPr lang="en-US" sz="450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59735FD-D8F7-99FC-FE3D-F9E00B7D8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64" y="894556"/>
            <a:ext cx="17465071" cy="87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9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0384-B9F0-5E28-F169-84BD5FA0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5A22610-A3A5-79A3-04DF-C1B74E01418C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A5D783-350F-7D72-23A2-C40B806D9042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FAF3D2B-32F5-6BF5-52EF-B16C666A5599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4FC3936-599B-17E0-CF3B-28678DB7B4EE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C2009C2-C0CF-2AA3-62F6-94D1B07D0E0C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4A0B6D7-F646-D29C-E528-1A8586FD2B0D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2FCA875-012B-6238-7FF2-7CACDD28D994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D32EBE-12D0-2257-BBF6-046AB43BE11B}"/>
              </a:ext>
            </a:extLst>
          </p:cNvPr>
          <p:cNvSpPr txBox="1"/>
          <p:nvPr/>
        </p:nvSpPr>
        <p:spPr>
          <a:xfrm>
            <a:off x="4876800" y="677565"/>
            <a:ext cx="8725768" cy="767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Presupuesto</a:t>
            </a:r>
            <a:endParaRPr lang="en-US" sz="450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DA6FCEB-37BF-079D-5703-BF8451AC9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742" y="2320561"/>
            <a:ext cx="13639800" cy="7316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281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7080022" y="-3826930"/>
            <a:ext cx="4127957" cy="8175326"/>
            <a:chOff x="0" y="0"/>
            <a:chExt cx="1087198" cy="215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87198" cy="2153172"/>
            </a:xfrm>
            <a:custGeom>
              <a:avLst/>
              <a:gdLst/>
              <a:ahLst/>
              <a:cxnLst/>
              <a:rect l="l" t="t" r="r" b="b"/>
              <a:pathLst>
                <a:path w="1087198" h="2153172">
                  <a:moveTo>
                    <a:pt x="52514" y="0"/>
                  </a:moveTo>
                  <a:lnTo>
                    <a:pt x="1034685" y="0"/>
                  </a:lnTo>
                  <a:cubicBezTo>
                    <a:pt x="1063687" y="0"/>
                    <a:pt x="1087198" y="23511"/>
                    <a:pt x="1087198" y="52514"/>
                  </a:cubicBezTo>
                  <a:lnTo>
                    <a:pt x="1087198" y="2100659"/>
                  </a:lnTo>
                  <a:cubicBezTo>
                    <a:pt x="1087198" y="2114586"/>
                    <a:pt x="1081666" y="2127943"/>
                    <a:pt x="1071818" y="2137791"/>
                  </a:cubicBezTo>
                  <a:cubicBezTo>
                    <a:pt x="1061969" y="2147640"/>
                    <a:pt x="1048612" y="2153172"/>
                    <a:pt x="1034685" y="2153172"/>
                  </a:cubicBezTo>
                  <a:lnTo>
                    <a:pt x="52514" y="2153172"/>
                  </a:lnTo>
                  <a:cubicBezTo>
                    <a:pt x="23511" y="2153172"/>
                    <a:pt x="0" y="2129661"/>
                    <a:pt x="0" y="2100659"/>
                  </a:cubicBezTo>
                  <a:lnTo>
                    <a:pt x="0" y="52514"/>
                  </a:lnTo>
                  <a:cubicBezTo>
                    <a:pt x="0" y="23511"/>
                    <a:pt x="23511" y="0"/>
                    <a:pt x="52514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87198" cy="2191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32383" y="503712"/>
            <a:ext cx="7767894" cy="114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451"/>
              </a:lnSpc>
              <a:spcBef>
                <a:spcPct val="0"/>
              </a:spcBef>
            </a:pPr>
            <a:r>
              <a:rPr lang="en-US" sz="7621" b="1" spc="144" dirty="0" err="1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Tablero</a:t>
            </a:r>
            <a:r>
              <a:rPr lang="en-US" sz="7621" b="1" spc="144" dirty="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 </a:t>
            </a:r>
            <a:r>
              <a:rPr lang="en-US" sz="7621" b="1" spc="144" dirty="0" err="1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kanva</a:t>
            </a:r>
            <a:endParaRPr lang="en-US" sz="7621" b="1" spc="144" dirty="0">
              <a:solidFill>
                <a:srgbClr val="FFFFFF"/>
              </a:solidFill>
              <a:latin typeface="Muli Heavy"/>
              <a:ea typeface="Muli Heavy"/>
              <a:cs typeface="Muli Heavy"/>
              <a:sym typeface="Muli Heavy"/>
            </a:endParaRPr>
          </a:p>
        </p:txBody>
      </p:sp>
      <p:sp>
        <p:nvSpPr>
          <p:cNvPr id="12" name="TextBox 12"/>
          <p:cNvSpPr txBox="1"/>
          <p:nvPr/>
        </p:nvSpPr>
        <p:spPr>
          <a:xfrm rot="5400000">
            <a:off x="11166961" y="2498313"/>
            <a:ext cx="4915500" cy="755849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774"/>
              </a:lnSpc>
            </a:pPr>
            <a:endParaRPr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727F7667-C633-13DB-80B3-0F0DA95C0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700" y="2552700"/>
            <a:ext cx="16060598" cy="711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BDFEA-686B-064F-E600-3772DB640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0C6827-A5D0-81A4-AEF3-8C3C296895A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181" b="-22595"/>
            </a:stretch>
          </a:blipFill>
        </p:spPr>
        <p:txBody>
          <a:bodyPr/>
          <a:lstStyle/>
          <a:p>
            <a:endParaRPr lang="es-CL" dirty="0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E7F543E1-559C-4235-912D-0843E6BEC107}"/>
              </a:ext>
            </a:extLst>
          </p:cNvPr>
          <p:cNvGrpSpPr/>
          <p:nvPr/>
        </p:nvGrpSpPr>
        <p:grpSpPr>
          <a:xfrm>
            <a:off x="7347449" y="3597447"/>
            <a:ext cx="3593102" cy="3593102"/>
            <a:chOff x="0" y="0"/>
            <a:chExt cx="812800" cy="8128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6D5F34C8-DA8F-18A3-7263-6EAF71B11C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00F6B7">
                      <a:alpha val="100000"/>
                    </a:srgbClr>
                  </a:gs>
                  <a:gs pos="100000">
                    <a:srgbClr val="057FC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7430B920-2A99-00CE-2681-445E6D843AC0}"/>
                </a:ext>
              </a:extLst>
            </p:cNvPr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9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6">
            <a:extLst>
              <a:ext uri="{FF2B5EF4-FFF2-40B4-BE49-F238E27FC236}">
                <a16:creationId xmlns:a16="http://schemas.microsoft.com/office/drawing/2014/main" id="{ADF64C7B-1D53-39B0-B0C3-F243877E1AEB}"/>
              </a:ext>
            </a:extLst>
          </p:cNvPr>
          <p:cNvSpPr txBox="1"/>
          <p:nvPr/>
        </p:nvSpPr>
        <p:spPr>
          <a:xfrm>
            <a:off x="7800897" y="5082366"/>
            <a:ext cx="2950485" cy="472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64"/>
              </a:lnSpc>
              <a:spcBef>
                <a:spcPct val="0"/>
              </a:spcBef>
            </a:pPr>
            <a:r>
              <a:rPr lang="en-US" sz="2760" dirty="0" err="1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Desglose</a:t>
            </a:r>
            <a:r>
              <a:rPr lang="en-US" sz="2760" dirty="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de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4EA45551-55F2-0524-5C1F-697FAAA88B1D}"/>
              </a:ext>
            </a:extLst>
          </p:cNvPr>
          <p:cNvSpPr txBox="1"/>
          <p:nvPr/>
        </p:nvSpPr>
        <p:spPr>
          <a:xfrm>
            <a:off x="7800897" y="5586865"/>
            <a:ext cx="2686205" cy="45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64"/>
              </a:lnSpc>
              <a:spcBef>
                <a:spcPct val="0"/>
              </a:spcBef>
            </a:pPr>
            <a:r>
              <a:rPr lang="en-US" sz="2760" dirty="0">
                <a:solidFill>
                  <a:srgbClr val="01E8B9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Sprint</a:t>
            </a:r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2BE58D6C-6A5D-8895-0C35-C66DDAF1A5F0}"/>
              </a:ext>
            </a:extLst>
          </p:cNvPr>
          <p:cNvSpPr/>
          <p:nvPr/>
        </p:nvSpPr>
        <p:spPr>
          <a:xfrm>
            <a:off x="8707570" y="4156401"/>
            <a:ext cx="872859" cy="872859"/>
          </a:xfrm>
          <a:custGeom>
            <a:avLst/>
            <a:gdLst/>
            <a:ahLst/>
            <a:cxnLst/>
            <a:rect l="l" t="t" r="r" b="b"/>
            <a:pathLst>
              <a:path w="872859" h="872859">
                <a:moveTo>
                  <a:pt x="0" y="0"/>
                </a:moveTo>
                <a:lnTo>
                  <a:pt x="872860" y="0"/>
                </a:lnTo>
                <a:lnTo>
                  <a:pt x="872860" y="872860"/>
                </a:lnTo>
                <a:lnTo>
                  <a:pt x="0" y="872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14" name="Group 9">
            <a:extLst>
              <a:ext uri="{FF2B5EF4-FFF2-40B4-BE49-F238E27FC236}">
                <a16:creationId xmlns:a16="http://schemas.microsoft.com/office/drawing/2014/main" id="{5606ED2F-6CE6-3E59-6171-40A663EE56F4}"/>
              </a:ext>
            </a:extLst>
          </p:cNvPr>
          <p:cNvGrpSpPr/>
          <p:nvPr/>
        </p:nvGrpSpPr>
        <p:grpSpPr>
          <a:xfrm rot="-5400000">
            <a:off x="2672561" y="1311474"/>
            <a:ext cx="1686752" cy="5413552"/>
            <a:chOff x="0" y="0"/>
            <a:chExt cx="7475268" cy="23991531"/>
          </a:xfrm>
        </p:grpSpPr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3D1F068-1DCF-CBAA-8DF3-1A3036E051F8}"/>
                </a:ext>
              </a:extLst>
            </p:cNvPr>
            <p:cNvSpPr/>
            <p:nvPr/>
          </p:nvSpPr>
          <p:spPr>
            <a:xfrm>
              <a:off x="0" y="0"/>
              <a:ext cx="7475396" cy="23991658"/>
            </a:xfrm>
            <a:custGeom>
              <a:avLst/>
              <a:gdLst/>
              <a:ahLst/>
              <a:cxnLst/>
              <a:rect l="l" t="t" r="r" b="b"/>
              <a:pathLst>
                <a:path w="7475396" h="23991658">
                  <a:moveTo>
                    <a:pt x="5683981" y="0"/>
                  </a:moveTo>
                  <a:lnTo>
                    <a:pt x="0" y="0"/>
                  </a:lnTo>
                  <a:lnTo>
                    <a:pt x="0" y="22039064"/>
                  </a:lnTo>
                  <a:cubicBezTo>
                    <a:pt x="0" y="23199813"/>
                    <a:pt x="791845" y="23991658"/>
                    <a:pt x="1765046" y="23991658"/>
                  </a:cubicBezTo>
                  <a:lnTo>
                    <a:pt x="7475396" y="23991658"/>
                  </a:lnTo>
                  <a:lnTo>
                    <a:pt x="7475396" y="1953373"/>
                  </a:lnTo>
                  <a:cubicBezTo>
                    <a:pt x="7475269" y="791845"/>
                    <a:pt x="6683550" y="0"/>
                    <a:pt x="5683981" y="0"/>
                  </a:cubicBezTo>
                  <a:close/>
                  <a:moveTo>
                    <a:pt x="7348269" y="23864531"/>
                  </a:moveTo>
                  <a:lnTo>
                    <a:pt x="1765046" y="23864531"/>
                  </a:lnTo>
                  <a:cubicBezTo>
                    <a:pt x="861822" y="23864531"/>
                    <a:pt x="127000" y="23129709"/>
                    <a:pt x="127000" y="22039064"/>
                  </a:cubicBezTo>
                  <a:lnTo>
                    <a:pt x="127000" y="127000"/>
                  </a:lnTo>
                  <a:lnTo>
                    <a:pt x="5683981" y="127000"/>
                  </a:lnTo>
                  <a:cubicBezTo>
                    <a:pt x="6613574" y="127000"/>
                    <a:pt x="7348396" y="861822"/>
                    <a:pt x="7348396" y="1953373"/>
                  </a:cubicBezTo>
                  <a:lnTo>
                    <a:pt x="7348396" y="23864531"/>
                  </a:ln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6" name="TextBox 11">
            <a:extLst>
              <a:ext uri="{FF2B5EF4-FFF2-40B4-BE49-F238E27FC236}">
                <a16:creationId xmlns:a16="http://schemas.microsoft.com/office/drawing/2014/main" id="{BB44F35F-88F2-C33E-8E9B-B2C8FE891D47}"/>
              </a:ext>
            </a:extLst>
          </p:cNvPr>
          <p:cNvSpPr txBox="1"/>
          <p:nvPr/>
        </p:nvSpPr>
        <p:spPr>
          <a:xfrm>
            <a:off x="1180622" y="3376911"/>
            <a:ext cx="4431807" cy="158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Fase 1: Planificación y </a:t>
            </a:r>
            <a:r>
              <a:rPr lang="es-MX" dirty="0" err="1">
                <a:solidFill>
                  <a:schemeClr val="bg1"/>
                </a:solidFill>
              </a:rPr>
              <a:t>Setup</a:t>
            </a:r>
            <a:endParaRPr lang="es-MX" sz="1600" dirty="0">
              <a:solidFill>
                <a:schemeClr val="bg1"/>
              </a:solidFill>
            </a:endParaRPr>
          </a:p>
          <a:p>
            <a:endParaRPr lang="es-MX" sz="1600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:Preparar el entorno de desarrollo, definir la estructura del proyecto, roles del equipo y los lineamientos técnicos iniciales.</a:t>
            </a:r>
            <a:br>
              <a:rPr lang="es-MX" sz="1600" dirty="0"/>
            </a:br>
            <a:endParaRPr lang="en-US" sz="1487" u="none" strike="noStrike" spc="62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554585C2-0869-AAD5-82F7-3E84B8BA76DC}"/>
              </a:ext>
            </a:extLst>
          </p:cNvPr>
          <p:cNvGrpSpPr/>
          <p:nvPr/>
        </p:nvGrpSpPr>
        <p:grpSpPr>
          <a:xfrm>
            <a:off x="5612429" y="2766132"/>
            <a:ext cx="848627" cy="848627"/>
            <a:chOff x="0" y="0"/>
            <a:chExt cx="812800" cy="812800"/>
          </a:xfrm>
        </p:grpSpPr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EC66E14B-757A-46E3-5BF1-9FCB3878AD4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0F6B7">
                      <a:alpha val="100000"/>
                    </a:srgbClr>
                  </a:gs>
                  <a:gs pos="100000">
                    <a:srgbClr val="057FC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FC299C98-0FB5-EC0F-5360-2052E678EFBB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268"/>
                </a:lnSpc>
                <a:spcBef>
                  <a:spcPct val="0"/>
                </a:spcBef>
              </a:pPr>
              <a:r>
                <a:rPr lang="en-US" sz="2334" b="1" u="none" strike="noStrike" spc="98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</a:t>
              </a:r>
            </a:p>
          </p:txBody>
        </p:sp>
      </p:grpSp>
      <p:sp>
        <p:nvSpPr>
          <p:cNvPr id="20" name="AutoShape 15">
            <a:extLst>
              <a:ext uri="{FF2B5EF4-FFF2-40B4-BE49-F238E27FC236}">
                <a16:creationId xmlns:a16="http://schemas.microsoft.com/office/drawing/2014/main" id="{D8050760-3FBF-F67A-9533-3B94F0335FDF}"/>
              </a:ext>
            </a:extLst>
          </p:cNvPr>
          <p:cNvSpPr/>
          <p:nvPr/>
        </p:nvSpPr>
        <p:spPr>
          <a:xfrm flipH="1" flipV="1">
            <a:off x="6461057" y="3190446"/>
            <a:ext cx="2682943" cy="407001"/>
          </a:xfrm>
          <a:prstGeom prst="line">
            <a:avLst/>
          </a:prstGeom>
          <a:ln w="47625" cap="rnd">
            <a:gradFill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prstDash val="sysDot"/>
            <a:headEnd type="oval" w="lg" len="lg"/>
            <a:tailEnd type="oval" w="lg" len="lg"/>
          </a:ln>
        </p:spPr>
        <p:txBody>
          <a:bodyPr/>
          <a:lstStyle/>
          <a:p>
            <a:endParaRPr lang="es-CL"/>
          </a:p>
        </p:txBody>
      </p:sp>
      <p:grpSp>
        <p:nvGrpSpPr>
          <p:cNvPr id="21" name="Group 16">
            <a:extLst>
              <a:ext uri="{FF2B5EF4-FFF2-40B4-BE49-F238E27FC236}">
                <a16:creationId xmlns:a16="http://schemas.microsoft.com/office/drawing/2014/main" id="{344EF0FA-ED5C-B142-A5E8-A6D6835EFBE4}"/>
              </a:ext>
            </a:extLst>
          </p:cNvPr>
          <p:cNvGrpSpPr/>
          <p:nvPr/>
        </p:nvGrpSpPr>
        <p:grpSpPr>
          <a:xfrm rot="-5400000">
            <a:off x="2672561" y="3508099"/>
            <a:ext cx="1686752" cy="5413552"/>
            <a:chOff x="0" y="0"/>
            <a:chExt cx="7475268" cy="23991531"/>
          </a:xfrm>
        </p:grpSpPr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FCE71DB-6144-3A95-BAD8-ECE29B9A0B9F}"/>
                </a:ext>
              </a:extLst>
            </p:cNvPr>
            <p:cNvSpPr/>
            <p:nvPr/>
          </p:nvSpPr>
          <p:spPr>
            <a:xfrm>
              <a:off x="0" y="0"/>
              <a:ext cx="7475396" cy="23991658"/>
            </a:xfrm>
            <a:custGeom>
              <a:avLst/>
              <a:gdLst/>
              <a:ahLst/>
              <a:cxnLst/>
              <a:rect l="l" t="t" r="r" b="b"/>
              <a:pathLst>
                <a:path w="7475396" h="23991658">
                  <a:moveTo>
                    <a:pt x="5683981" y="0"/>
                  </a:moveTo>
                  <a:lnTo>
                    <a:pt x="0" y="0"/>
                  </a:lnTo>
                  <a:lnTo>
                    <a:pt x="0" y="22039064"/>
                  </a:lnTo>
                  <a:cubicBezTo>
                    <a:pt x="0" y="23199813"/>
                    <a:pt x="791845" y="23991658"/>
                    <a:pt x="1765046" y="23991658"/>
                  </a:cubicBezTo>
                  <a:lnTo>
                    <a:pt x="7475396" y="23991658"/>
                  </a:lnTo>
                  <a:lnTo>
                    <a:pt x="7475396" y="1953373"/>
                  </a:lnTo>
                  <a:cubicBezTo>
                    <a:pt x="7475269" y="791845"/>
                    <a:pt x="6683550" y="0"/>
                    <a:pt x="5683981" y="0"/>
                  </a:cubicBezTo>
                  <a:close/>
                  <a:moveTo>
                    <a:pt x="7348269" y="23864531"/>
                  </a:moveTo>
                  <a:lnTo>
                    <a:pt x="1765046" y="23864531"/>
                  </a:lnTo>
                  <a:cubicBezTo>
                    <a:pt x="861822" y="23864531"/>
                    <a:pt x="127000" y="23129709"/>
                    <a:pt x="127000" y="22039064"/>
                  </a:cubicBezTo>
                  <a:lnTo>
                    <a:pt x="127000" y="127000"/>
                  </a:lnTo>
                  <a:lnTo>
                    <a:pt x="5683981" y="127000"/>
                  </a:lnTo>
                  <a:cubicBezTo>
                    <a:pt x="6613574" y="127000"/>
                    <a:pt x="7348396" y="861822"/>
                    <a:pt x="7348396" y="1953373"/>
                  </a:cubicBezTo>
                  <a:lnTo>
                    <a:pt x="7348396" y="23864531"/>
                  </a:ln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3" name="TextBox 18">
            <a:extLst>
              <a:ext uri="{FF2B5EF4-FFF2-40B4-BE49-F238E27FC236}">
                <a16:creationId xmlns:a16="http://schemas.microsoft.com/office/drawing/2014/main" id="{27F14BDD-FA19-361B-DC7E-DCF1577A1AFD}"/>
              </a:ext>
            </a:extLst>
          </p:cNvPr>
          <p:cNvSpPr txBox="1"/>
          <p:nvPr/>
        </p:nvSpPr>
        <p:spPr>
          <a:xfrm>
            <a:off x="1180622" y="5469816"/>
            <a:ext cx="4431807" cy="2521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082"/>
              </a:lnSpc>
              <a:spcBef>
                <a:spcPct val="0"/>
              </a:spcBef>
            </a:pPr>
            <a:r>
              <a:rPr lang="es-CL" sz="1600" dirty="0">
                <a:solidFill>
                  <a:schemeClr val="bg1"/>
                </a:solidFill>
              </a:rPr>
              <a:t>Fase 2: Sprint 1- </a:t>
            </a:r>
            <a:r>
              <a:rPr lang="es-CL" sz="1600" dirty="0" err="1">
                <a:solidFill>
                  <a:schemeClr val="bg1"/>
                </a:solidFill>
              </a:rPr>
              <a:t>Backend</a:t>
            </a:r>
            <a:r>
              <a:rPr lang="es-CL" sz="1600" dirty="0">
                <a:solidFill>
                  <a:schemeClr val="bg1"/>
                </a:solidFill>
              </a:rPr>
              <a:t> Base</a:t>
            </a:r>
          </a:p>
          <a:p>
            <a:pPr lvl="0">
              <a:lnSpc>
                <a:spcPts val="2082"/>
              </a:lnSpc>
              <a:spcBef>
                <a:spcPct val="0"/>
              </a:spcBef>
            </a:pPr>
            <a:endParaRPr lang="es-CL" sz="1600" u="none" strike="noStrike" spc="62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fontAlgn="base"/>
            <a:r>
              <a:rPr lang="es-MX" sz="1600" dirty="0">
                <a:solidFill>
                  <a:schemeClr val="bg1"/>
                </a:solidFill>
              </a:rPr>
              <a:t>Se implementará la estructura base  con </a:t>
            </a:r>
            <a:r>
              <a:rPr lang="es-MX" sz="1600" dirty="0" err="1">
                <a:solidFill>
                  <a:schemeClr val="bg1"/>
                </a:solidFill>
              </a:rPr>
              <a:t>endpoints</a:t>
            </a:r>
            <a:r>
              <a:rPr lang="es-MX" sz="1600" dirty="0">
                <a:solidFill>
                  <a:schemeClr val="bg1"/>
                </a:solidFill>
              </a:rPr>
              <a:t> CRUD para administrar alertas, permitiendo su integración con otras aplicaciones y garantizando respuestas en formato JSON.</a:t>
            </a:r>
          </a:p>
          <a:p>
            <a:br>
              <a:rPr lang="es-MX" dirty="0"/>
            </a:br>
            <a:endParaRPr lang="es-MX" sz="1600" dirty="0"/>
          </a:p>
          <a:p>
            <a:br>
              <a:rPr lang="es-MX" sz="1600" dirty="0"/>
            </a:br>
            <a:endParaRPr lang="en-US" sz="1487" u="none" strike="noStrike" spc="62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" name="Group 19">
            <a:extLst>
              <a:ext uri="{FF2B5EF4-FFF2-40B4-BE49-F238E27FC236}">
                <a16:creationId xmlns:a16="http://schemas.microsoft.com/office/drawing/2014/main" id="{7037D9AF-5DF1-9F35-2B5B-FB2C7B66F230}"/>
              </a:ext>
            </a:extLst>
          </p:cNvPr>
          <p:cNvGrpSpPr/>
          <p:nvPr/>
        </p:nvGrpSpPr>
        <p:grpSpPr>
          <a:xfrm>
            <a:off x="5612429" y="4962757"/>
            <a:ext cx="848627" cy="848627"/>
            <a:chOff x="0" y="0"/>
            <a:chExt cx="812800" cy="812800"/>
          </a:xfrm>
        </p:grpSpPr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1BA9399A-1130-BE51-1FC9-9D30C37AB83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0F6B7">
                      <a:alpha val="100000"/>
                    </a:srgbClr>
                  </a:gs>
                  <a:gs pos="100000">
                    <a:srgbClr val="057FC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1">
              <a:extLst>
                <a:ext uri="{FF2B5EF4-FFF2-40B4-BE49-F238E27FC236}">
                  <a16:creationId xmlns:a16="http://schemas.microsoft.com/office/drawing/2014/main" id="{566BEC7D-727D-3A24-F8F1-7AF1E5BEF8C7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268"/>
                </a:lnSpc>
                <a:spcBef>
                  <a:spcPct val="0"/>
                </a:spcBef>
              </a:pPr>
              <a:r>
                <a:rPr lang="en-US" sz="2334" b="1" spc="98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id="27" name="Group 22">
            <a:extLst>
              <a:ext uri="{FF2B5EF4-FFF2-40B4-BE49-F238E27FC236}">
                <a16:creationId xmlns:a16="http://schemas.microsoft.com/office/drawing/2014/main" id="{E4344EF3-2F54-30CC-972C-90144155752F}"/>
              </a:ext>
            </a:extLst>
          </p:cNvPr>
          <p:cNvGrpSpPr/>
          <p:nvPr/>
        </p:nvGrpSpPr>
        <p:grpSpPr>
          <a:xfrm rot="-5400000">
            <a:off x="2672561" y="5708148"/>
            <a:ext cx="1686752" cy="5413552"/>
            <a:chOff x="0" y="0"/>
            <a:chExt cx="7475268" cy="23991531"/>
          </a:xfrm>
        </p:grpSpPr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E98B528D-A600-030F-933C-D5AC58B6FF5A}"/>
                </a:ext>
              </a:extLst>
            </p:cNvPr>
            <p:cNvSpPr/>
            <p:nvPr/>
          </p:nvSpPr>
          <p:spPr>
            <a:xfrm>
              <a:off x="0" y="0"/>
              <a:ext cx="7475396" cy="23991658"/>
            </a:xfrm>
            <a:custGeom>
              <a:avLst/>
              <a:gdLst/>
              <a:ahLst/>
              <a:cxnLst/>
              <a:rect l="l" t="t" r="r" b="b"/>
              <a:pathLst>
                <a:path w="7475396" h="23991658">
                  <a:moveTo>
                    <a:pt x="5683981" y="0"/>
                  </a:moveTo>
                  <a:lnTo>
                    <a:pt x="0" y="0"/>
                  </a:lnTo>
                  <a:lnTo>
                    <a:pt x="0" y="22039064"/>
                  </a:lnTo>
                  <a:cubicBezTo>
                    <a:pt x="0" y="23199813"/>
                    <a:pt x="791845" y="23991658"/>
                    <a:pt x="1765046" y="23991658"/>
                  </a:cubicBezTo>
                  <a:lnTo>
                    <a:pt x="7475396" y="23991658"/>
                  </a:lnTo>
                  <a:lnTo>
                    <a:pt x="7475396" y="1953373"/>
                  </a:lnTo>
                  <a:cubicBezTo>
                    <a:pt x="7475269" y="791845"/>
                    <a:pt x="6683550" y="0"/>
                    <a:pt x="5683981" y="0"/>
                  </a:cubicBezTo>
                  <a:close/>
                  <a:moveTo>
                    <a:pt x="7348269" y="23864531"/>
                  </a:moveTo>
                  <a:lnTo>
                    <a:pt x="1765046" y="23864531"/>
                  </a:lnTo>
                  <a:cubicBezTo>
                    <a:pt x="861822" y="23864531"/>
                    <a:pt x="127000" y="23129709"/>
                    <a:pt x="127000" y="22039064"/>
                  </a:cubicBezTo>
                  <a:lnTo>
                    <a:pt x="127000" y="127000"/>
                  </a:lnTo>
                  <a:lnTo>
                    <a:pt x="5683981" y="127000"/>
                  </a:lnTo>
                  <a:cubicBezTo>
                    <a:pt x="6613574" y="127000"/>
                    <a:pt x="7348396" y="861822"/>
                    <a:pt x="7348396" y="1953373"/>
                  </a:cubicBezTo>
                  <a:lnTo>
                    <a:pt x="7348396" y="23864531"/>
                  </a:ln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9" name="TextBox 24">
            <a:extLst>
              <a:ext uri="{FF2B5EF4-FFF2-40B4-BE49-F238E27FC236}">
                <a16:creationId xmlns:a16="http://schemas.microsoft.com/office/drawing/2014/main" id="{3FE94BAC-9865-D009-C7CA-8EAFE3EAE6F1}"/>
              </a:ext>
            </a:extLst>
          </p:cNvPr>
          <p:cNvSpPr txBox="1"/>
          <p:nvPr/>
        </p:nvSpPr>
        <p:spPr>
          <a:xfrm>
            <a:off x="1180622" y="7773585"/>
            <a:ext cx="4431807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082"/>
              </a:lnSpc>
              <a:spcBef>
                <a:spcPct val="0"/>
              </a:spcBef>
            </a:pPr>
            <a:r>
              <a:rPr lang="es-CL" dirty="0">
                <a:solidFill>
                  <a:schemeClr val="bg1"/>
                </a:solidFill>
              </a:rPr>
              <a:t>Sprint 2 – </a:t>
            </a:r>
            <a:r>
              <a:rPr lang="es-CL" dirty="0" err="1">
                <a:solidFill>
                  <a:schemeClr val="bg1"/>
                </a:solidFill>
              </a:rPr>
              <a:t>Frontend</a:t>
            </a:r>
            <a:r>
              <a:rPr lang="es-CL" dirty="0">
                <a:solidFill>
                  <a:schemeClr val="bg1"/>
                </a:solidFill>
              </a:rPr>
              <a:t> Móvil</a:t>
            </a:r>
          </a:p>
          <a:p>
            <a:pPr lvl="0">
              <a:lnSpc>
                <a:spcPts val="2082"/>
              </a:lnSpc>
              <a:spcBef>
                <a:spcPct val="0"/>
              </a:spcBef>
            </a:pPr>
            <a:endParaRPr lang="es-CL" dirty="0">
              <a:solidFill>
                <a:schemeClr val="bg1"/>
              </a:solidFill>
            </a:endParaRPr>
          </a:p>
          <a:p>
            <a:pPr lvl="0">
              <a:lnSpc>
                <a:spcPts val="2082"/>
              </a:lnSpc>
              <a:spcBef>
                <a:spcPct val="0"/>
              </a:spcBef>
            </a:pPr>
            <a:r>
              <a:rPr lang="es-MX" dirty="0">
                <a:solidFill>
                  <a:schemeClr val="bg1"/>
                </a:solidFill>
              </a:rPr>
              <a:t>Las tareas de </a:t>
            </a:r>
            <a:r>
              <a:rPr lang="es-MX" dirty="0" err="1">
                <a:solidFill>
                  <a:schemeClr val="bg1"/>
                </a:solidFill>
              </a:rPr>
              <a:t>Riverpod</a:t>
            </a:r>
            <a:r>
              <a:rPr lang="es-MX" dirty="0">
                <a:solidFill>
                  <a:schemeClr val="bg1"/>
                </a:solidFill>
              </a:rPr>
              <a:t>, </a:t>
            </a:r>
            <a:r>
              <a:rPr lang="es-MX" dirty="0" err="1">
                <a:solidFill>
                  <a:schemeClr val="bg1"/>
                </a:solidFill>
              </a:rPr>
              <a:t>LoginPage</a:t>
            </a:r>
            <a:r>
              <a:rPr lang="es-MX" dirty="0">
                <a:solidFill>
                  <a:schemeClr val="bg1"/>
                </a:solidFill>
              </a:rPr>
              <a:t>, </a:t>
            </a:r>
            <a:r>
              <a:rPr lang="es-MX" dirty="0" err="1">
                <a:solidFill>
                  <a:schemeClr val="bg1"/>
                </a:solidFill>
              </a:rPr>
              <a:t>HomePage</a:t>
            </a:r>
            <a:r>
              <a:rPr lang="es-MX" dirty="0">
                <a:solidFill>
                  <a:schemeClr val="bg1"/>
                </a:solidFill>
              </a:rPr>
              <a:t> y estado de sesión reflejan el entregable del “</a:t>
            </a:r>
            <a:r>
              <a:rPr lang="es-MX" dirty="0" err="1">
                <a:solidFill>
                  <a:schemeClr val="bg1"/>
                </a:solidFill>
              </a:rPr>
              <a:t>frontend</a:t>
            </a:r>
            <a:r>
              <a:rPr lang="es-MX" dirty="0">
                <a:solidFill>
                  <a:schemeClr val="bg1"/>
                </a:solidFill>
              </a:rPr>
              <a:t> base conectado al </a:t>
            </a:r>
            <a:r>
              <a:rPr lang="es-MX" dirty="0" err="1">
                <a:solidFill>
                  <a:schemeClr val="bg1"/>
                </a:solidFill>
              </a:rPr>
              <a:t>backend</a:t>
            </a:r>
            <a:r>
              <a:rPr lang="es-MX" dirty="0">
                <a:solidFill>
                  <a:schemeClr val="bg1"/>
                </a:solidFill>
              </a:rPr>
              <a:t>”.</a:t>
            </a:r>
            <a:r>
              <a:rPr lang="es-CL" dirty="0">
                <a:solidFill>
                  <a:schemeClr val="bg1"/>
                </a:solidFill>
              </a:rPr>
              <a:t> </a:t>
            </a:r>
            <a:endParaRPr lang="en-US" sz="1487" u="none" strike="noStrike" spc="62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" name="Group 25">
            <a:extLst>
              <a:ext uri="{FF2B5EF4-FFF2-40B4-BE49-F238E27FC236}">
                <a16:creationId xmlns:a16="http://schemas.microsoft.com/office/drawing/2014/main" id="{CEF79361-522C-114C-A7AA-95C05F8FB055}"/>
              </a:ext>
            </a:extLst>
          </p:cNvPr>
          <p:cNvGrpSpPr/>
          <p:nvPr/>
        </p:nvGrpSpPr>
        <p:grpSpPr>
          <a:xfrm>
            <a:off x="5612429" y="7162807"/>
            <a:ext cx="848627" cy="848627"/>
            <a:chOff x="0" y="0"/>
            <a:chExt cx="812800" cy="812800"/>
          </a:xfrm>
        </p:grpSpPr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C8E592D5-BFA2-3E06-D602-C536BDA0494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0F6B7">
                      <a:alpha val="100000"/>
                    </a:srgbClr>
                  </a:gs>
                  <a:gs pos="100000">
                    <a:srgbClr val="057FC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27">
              <a:extLst>
                <a:ext uri="{FF2B5EF4-FFF2-40B4-BE49-F238E27FC236}">
                  <a16:creationId xmlns:a16="http://schemas.microsoft.com/office/drawing/2014/main" id="{B107B09B-40AA-157C-2710-63420E91D59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268"/>
                </a:lnSpc>
                <a:spcBef>
                  <a:spcPct val="0"/>
                </a:spcBef>
              </a:pPr>
              <a:r>
                <a:rPr lang="en-US" sz="2334" b="1" spc="98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sp>
        <p:nvSpPr>
          <p:cNvPr id="33" name="AutoShape 28">
            <a:extLst>
              <a:ext uri="{FF2B5EF4-FFF2-40B4-BE49-F238E27FC236}">
                <a16:creationId xmlns:a16="http://schemas.microsoft.com/office/drawing/2014/main" id="{FDC941D6-DACB-E8F6-42BA-E14C3C36C9FD}"/>
              </a:ext>
            </a:extLst>
          </p:cNvPr>
          <p:cNvSpPr/>
          <p:nvPr/>
        </p:nvSpPr>
        <p:spPr>
          <a:xfrm flipH="1" flipV="1">
            <a:off x="6461057" y="5387071"/>
            <a:ext cx="886392" cy="6927"/>
          </a:xfrm>
          <a:prstGeom prst="line">
            <a:avLst/>
          </a:prstGeom>
          <a:ln w="47625" cap="rnd">
            <a:gradFill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prstDash val="sysDot"/>
            <a:headEnd type="oval" w="lg" len="lg"/>
            <a:tailEnd type="oval" w="lg" len="lg"/>
          </a:ln>
        </p:spPr>
        <p:txBody>
          <a:bodyPr/>
          <a:lstStyle/>
          <a:p>
            <a:endParaRPr lang="es-CL"/>
          </a:p>
        </p:txBody>
      </p:sp>
      <p:sp>
        <p:nvSpPr>
          <p:cNvPr id="34" name="AutoShape 29">
            <a:extLst>
              <a:ext uri="{FF2B5EF4-FFF2-40B4-BE49-F238E27FC236}">
                <a16:creationId xmlns:a16="http://schemas.microsoft.com/office/drawing/2014/main" id="{7F86B555-1061-D7E9-79AF-3B013B13CE32}"/>
              </a:ext>
            </a:extLst>
          </p:cNvPr>
          <p:cNvSpPr/>
          <p:nvPr/>
        </p:nvSpPr>
        <p:spPr>
          <a:xfrm flipH="1">
            <a:off x="6461057" y="7190549"/>
            <a:ext cx="2682943" cy="396571"/>
          </a:xfrm>
          <a:prstGeom prst="line">
            <a:avLst/>
          </a:prstGeom>
          <a:ln w="47625" cap="rnd">
            <a:gradFill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prstDash val="sysDot"/>
            <a:headEnd type="oval" w="lg" len="lg"/>
            <a:tailEnd type="oval" w="lg" len="lg"/>
          </a:ln>
        </p:spPr>
        <p:txBody>
          <a:bodyPr/>
          <a:lstStyle/>
          <a:p>
            <a:endParaRPr lang="es-CL"/>
          </a:p>
        </p:txBody>
      </p:sp>
      <p:grpSp>
        <p:nvGrpSpPr>
          <p:cNvPr id="35" name="Group 30">
            <a:extLst>
              <a:ext uri="{FF2B5EF4-FFF2-40B4-BE49-F238E27FC236}">
                <a16:creationId xmlns:a16="http://schemas.microsoft.com/office/drawing/2014/main" id="{AB5FF95B-FFF2-95FB-6452-AD53CF606B49}"/>
              </a:ext>
            </a:extLst>
          </p:cNvPr>
          <p:cNvGrpSpPr/>
          <p:nvPr/>
        </p:nvGrpSpPr>
        <p:grpSpPr>
          <a:xfrm rot="-5400000">
            <a:off x="13927901" y="1311474"/>
            <a:ext cx="1686752" cy="5413552"/>
            <a:chOff x="0" y="0"/>
            <a:chExt cx="7475268" cy="23991531"/>
          </a:xfrm>
        </p:grpSpPr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6A22B724-0408-DD9A-BC26-29F3EC6B6BA0}"/>
                </a:ext>
              </a:extLst>
            </p:cNvPr>
            <p:cNvSpPr/>
            <p:nvPr/>
          </p:nvSpPr>
          <p:spPr>
            <a:xfrm>
              <a:off x="0" y="0"/>
              <a:ext cx="7475396" cy="23991658"/>
            </a:xfrm>
            <a:custGeom>
              <a:avLst/>
              <a:gdLst/>
              <a:ahLst/>
              <a:cxnLst/>
              <a:rect l="l" t="t" r="r" b="b"/>
              <a:pathLst>
                <a:path w="7475396" h="23991658">
                  <a:moveTo>
                    <a:pt x="5683981" y="0"/>
                  </a:moveTo>
                  <a:lnTo>
                    <a:pt x="0" y="0"/>
                  </a:lnTo>
                  <a:lnTo>
                    <a:pt x="0" y="22039064"/>
                  </a:lnTo>
                  <a:cubicBezTo>
                    <a:pt x="0" y="23199813"/>
                    <a:pt x="791845" y="23991658"/>
                    <a:pt x="1765046" y="23991658"/>
                  </a:cubicBezTo>
                  <a:lnTo>
                    <a:pt x="7475396" y="23991658"/>
                  </a:lnTo>
                  <a:lnTo>
                    <a:pt x="7475396" y="1953373"/>
                  </a:lnTo>
                  <a:cubicBezTo>
                    <a:pt x="7475269" y="791845"/>
                    <a:pt x="6683550" y="0"/>
                    <a:pt x="5683981" y="0"/>
                  </a:cubicBezTo>
                  <a:close/>
                  <a:moveTo>
                    <a:pt x="7348269" y="23864531"/>
                  </a:moveTo>
                  <a:lnTo>
                    <a:pt x="1765046" y="23864531"/>
                  </a:lnTo>
                  <a:cubicBezTo>
                    <a:pt x="861822" y="23864531"/>
                    <a:pt x="127000" y="23129709"/>
                    <a:pt x="127000" y="22039064"/>
                  </a:cubicBezTo>
                  <a:lnTo>
                    <a:pt x="127000" y="127000"/>
                  </a:lnTo>
                  <a:lnTo>
                    <a:pt x="5683981" y="127000"/>
                  </a:lnTo>
                  <a:cubicBezTo>
                    <a:pt x="6613574" y="127000"/>
                    <a:pt x="7348396" y="861822"/>
                    <a:pt x="7348396" y="1953373"/>
                  </a:cubicBezTo>
                  <a:lnTo>
                    <a:pt x="7348396" y="23864531"/>
                  </a:ln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7" name="TextBox 32">
            <a:extLst>
              <a:ext uri="{FF2B5EF4-FFF2-40B4-BE49-F238E27FC236}">
                <a16:creationId xmlns:a16="http://schemas.microsoft.com/office/drawing/2014/main" id="{FC60784F-1C14-3D98-14A9-0BDC8F7877E3}"/>
              </a:ext>
            </a:extLst>
          </p:cNvPr>
          <p:cNvSpPr txBox="1"/>
          <p:nvPr/>
        </p:nvSpPr>
        <p:spPr>
          <a:xfrm>
            <a:off x="12707225" y="3376911"/>
            <a:ext cx="4431807" cy="1829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Sprint 3 – Integración </a:t>
            </a:r>
            <a:r>
              <a:rPr lang="es-CL" dirty="0" err="1">
                <a:solidFill>
                  <a:schemeClr val="bg1"/>
                </a:solidFill>
              </a:rPr>
              <a:t>LoRa</a:t>
            </a:r>
            <a:r>
              <a:rPr lang="es-CL" dirty="0">
                <a:solidFill>
                  <a:schemeClr val="bg1"/>
                </a:solidFill>
              </a:rPr>
              <a:t> </a:t>
            </a:r>
            <a:r>
              <a:rPr lang="es-CL" dirty="0" err="1">
                <a:solidFill>
                  <a:schemeClr val="bg1"/>
                </a:solidFill>
              </a:rPr>
              <a:t>Mesh</a:t>
            </a:r>
            <a:r>
              <a:rPr lang="es-CL" dirty="0">
                <a:solidFill>
                  <a:schemeClr val="bg1"/>
                </a:solidFill>
              </a:rPr>
              <a:t> / BLE</a:t>
            </a:r>
            <a:endParaRPr lang="es-CL" sz="1600" dirty="0">
              <a:solidFill>
                <a:schemeClr val="bg1"/>
              </a:solidFill>
            </a:endParaRPr>
          </a:p>
          <a:p>
            <a:pPr fontAlgn="base"/>
            <a:br>
              <a:rPr lang="es-CL" sz="1600" dirty="0">
                <a:solidFill>
                  <a:schemeClr val="bg1"/>
                </a:solidFill>
              </a:rPr>
            </a:br>
            <a:r>
              <a:rPr lang="es-MX" dirty="0">
                <a:solidFill>
                  <a:schemeClr val="bg1"/>
                </a:solidFill>
              </a:rPr>
              <a:t> Implementar la </a:t>
            </a:r>
            <a:r>
              <a:rPr lang="es-MX" b="1" dirty="0">
                <a:solidFill>
                  <a:schemeClr val="bg1"/>
                </a:solidFill>
              </a:rPr>
              <a:t>conectividad local y mensajería offline</a:t>
            </a:r>
            <a:r>
              <a:rPr lang="es-MX" dirty="0">
                <a:solidFill>
                  <a:schemeClr val="bg1"/>
                </a:solidFill>
              </a:rPr>
              <a:t> utilizando tecnologías </a:t>
            </a:r>
            <a:r>
              <a:rPr lang="es-MX" b="1" dirty="0" err="1">
                <a:solidFill>
                  <a:schemeClr val="bg1"/>
                </a:solidFill>
              </a:rPr>
              <a:t>LoRa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Mesh</a:t>
            </a:r>
            <a:r>
              <a:rPr lang="es-MX" dirty="0">
                <a:solidFill>
                  <a:schemeClr val="bg1"/>
                </a:solidFill>
              </a:rPr>
              <a:t> y </a:t>
            </a:r>
            <a:r>
              <a:rPr lang="es-MX" b="1" dirty="0">
                <a:solidFill>
                  <a:schemeClr val="bg1"/>
                </a:solidFill>
              </a:rPr>
              <a:t>Bluetooth Low Energy (BLE)</a:t>
            </a:r>
            <a:r>
              <a:rPr lang="es-MX" dirty="0">
                <a:solidFill>
                  <a:schemeClr val="bg1"/>
                </a:solidFill>
              </a:rPr>
              <a:t>,</a:t>
            </a:r>
          </a:p>
          <a:p>
            <a:br>
              <a:rPr lang="es-MX" sz="1600" dirty="0"/>
            </a:br>
            <a:endParaRPr lang="en-US" sz="1487" u="none" strike="noStrike" spc="62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8" name="Group 33">
            <a:extLst>
              <a:ext uri="{FF2B5EF4-FFF2-40B4-BE49-F238E27FC236}">
                <a16:creationId xmlns:a16="http://schemas.microsoft.com/office/drawing/2014/main" id="{9D894A01-71B8-E4F6-87CA-B40580A8FA64}"/>
              </a:ext>
            </a:extLst>
          </p:cNvPr>
          <p:cNvGrpSpPr/>
          <p:nvPr/>
        </p:nvGrpSpPr>
        <p:grpSpPr>
          <a:xfrm>
            <a:off x="11788276" y="2766132"/>
            <a:ext cx="848627" cy="848627"/>
            <a:chOff x="0" y="0"/>
            <a:chExt cx="812800" cy="812800"/>
          </a:xfrm>
        </p:grpSpPr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3481B4E0-7D92-BDE9-EFCA-451D3698C33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0F6B7">
                      <a:alpha val="100000"/>
                    </a:srgbClr>
                  </a:gs>
                  <a:gs pos="100000">
                    <a:srgbClr val="057FC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35">
              <a:extLst>
                <a:ext uri="{FF2B5EF4-FFF2-40B4-BE49-F238E27FC236}">
                  <a16:creationId xmlns:a16="http://schemas.microsoft.com/office/drawing/2014/main" id="{8710D2E1-1804-9C5F-93EE-474E5856549C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268"/>
                </a:lnSpc>
                <a:spcBef>
                  <a:spcPct val="0"/>
                </a:spcBef>
              </a:pPr>
              <a:r>
                <a:rPr lang="en-US" sz="2334" b="1" spc="98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41" name="Group 36">
            <a:extLst>
              <a:ext uri="{FF2B5EF4-FFF2-40B4-BE49-F238E27FC236}">
                <a16:creationId xmlns:a16="http://schemas.microsoft.com/office/drawing/2014/main" id="{A74FBFE7-623B-A87D-52D5-F84EEBD9AC2C}"/>
              </a:ext>
            </a:extLst>
          </p:cNvPr>
          <p:cNvGrpSpPr/>
          <p:nvPr/>
        </p:nvGrpSpPr>
        <p:grpSpPr>
          <a:xfrm rot="-5400000">
            <a:off x="13927901" y="3508099"/>
            <a:ext cx="1686752" cy="5413552"/>
            <a:chOff x="0" y="0"/>
            <a:chExt cx="7475268" cy="23991531"/>
          </a:xfrm>
        </p:grpSpPr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9C088691-72B4-C507-DC1A-92555C2E391B}"/>
                </a:ext>
              </a:extLst>
            </p:cNvPr>
            <p:cNvSpPr/>
            <p:nvPr/>
          </p:nvSpPr>
          <p:spPr>
            <a:xfrm>
              <a:off x="0" y="0"/>
              <a:ext cx="7475396" cy="23991658"/>
            </a:xfrm>
            <a:custGeom>
              <a:avLst/>
              <a:gdLst/>
              <a:ahLst/>
              <a:cxnLst/>
              <a:rect l="l" t="t" r="r" b="b"/>
              <a:pathLst>
                <a:path w="7475396" h="23991658">
                  <a:moveTo>
                    <a:pt x="5683981" y="0"/>
                  </a:moveTo>
                  <a:lnTo>
                    <a:pt x="0" y="0"/>
                  </a:lnTo>
                  <a:lnTo>
                    <a:pt x="0" y="22039064"/>
                  </a:lnTo>
                  <a:cubicBezTo>
                    <a:pt x="0" y="23199813"/>
                    <a:pt x="791845" y="23991658"/>
                    <a:pt x="1765046" y="23991658"/>
                  </a:cubicBezTo>
                  <a:lnTo>
                    <a:pt x="7475396" y="23991658"/>
                  </a:lnTo>
                  <a:lnTo>
                    <a:pt x="7475396" y="1953373"/>
                  </a:lnTo>
                  <a:cubicBezTo>
                    <a:pt x="7475269" y="791845"/>
                    <a:pt x="6683550" y="0"/>
                    <a:pt x="5683981" y="0"/>
                  </a:cubicBezTo>
                  <a:close/>
                  <a:moveTo>
                    <a:pt x="7348269" y="23864531"/>
                  </a:moveTo>
                  <a:lnTo>
                    <a:pt x="1765046" y="23864531"/>
                  </a:lnTo>
                  <a:cubicBezTo>
                    <a:pt x="861822" y="23864531"/>
                    <a:pt x="127000" y="23129709"/>
                    <a:pt x="127000" y="22039064"/>
                  </a:cubicBezTo>
                  <a:lnTo>
                    <a:pt x="127000" y="127000"/>
                  </a:lnTo>
                  <a:lnTo>
                    <a:pt x="5683981" y="127000"/>
                  </a:lnTo>
                  <a:cubicBezTo>
                    <a:pt x="6613574" y="127000"/>
                    <a:pt x="7348396" y="861822"/>
                    <a:pt x="7348396" y="1953373"/>
                  </a:cubicBezTo>
                  <a:lnTo>
                    <a:pt x="7348396" y="23864531"/>
                  </a:ln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3" name="TextBox 38">
            <a:extLst>
              <a:ext uri="{FF2B5EF4-FFF2-40B4-BE49-F238E27FC236}">
                <a16:creationId xmlns:a16="http://schemas.microsoft.com/office/drawing/2014/main" id="{0CF5D872-AACA-11DF-85F2-32BF5480CACB}"/>
              </a:ext>
            </a:extLst>
          </p:cNvPr>
          <p:cNvSpPr txBox="1"/>
          <p:nvPr/>
        </p:nvSpPr>
        <p:spPr>
          <a:xfrm>
            <a:off x="12707225" y="5573536"/>
            <a:ext cx="4431807" cy="1829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Sprint 4 – </a:t>
            </a:r>
            <a:r>
              <a:rPr lang="es-CL" dirty="0" err="1">
                <a:solidFill>
                  <a:schemeClr val="bg1"/>
                </a:solidFill>
              </a:rPr>
              <a:t>Sincronizacion</a:t>
            </a:r>
            <a:r>
              <a:rPr lang="es-CL" dirty="0">
                <a:solidFill>
                  <a:schemeClr val="bg1"/>
                </a:solidFill>
              </a:rPr>
              <a:t> </a:t>
            </a:r>
            <a:endParaRPr lang="es-CL" sz="1600" dirty="0">
              <a:solidFill>
                <a:schemeClr val="bg1"/>
              </a:solidFill>
            </a:endParaRPr>
          </a:p>
          <a:p>
            <a:pPr fontAlgn="base"/>
            <a:br>
              <a:rPr lang="es-CL" sz="1600" dirty="0">
                <a:solidFill>
                  <a:schemeClr val="bg1"/>
                </a:solidFill>
              </a:rPr>
            </a:br>
            <a:r>
              <a:rPr lang="es-CL" sz="1600" dirty="0">
                <a:solidFill>
                  <a:schemeClr val="bg1"/>
                </a:solidFill>
              </a:rPr>
              <a:t>I</a:t>
            </a:r>
            <a:r>
              <a:rPr lang="es-MX" dirty="0" err="1">
                <a:solidFill>
                  <a:schemeClr val="bg1"/>
                </a:solidFill>
              </a:rPr>
              <a:t>mplementación</a:t>
            </a:r>
            <a:r>
              <a:rPr lang="es-MX" dirty="0">
                <a:solidFill>
                  <a:schemeClr val="bg1"/>
                </a:solidFill>
              </a:rPr>
              <a:t> de sincronización offline → online.</a:t>
            </a:r>
          </a:p>
          <a:p>
            <a:r>
              <a:rPr lang="es-MX" dirty="0">
                <a:solidFill>
                  <a:schemeClr val="bg1"/>
                </a:solidFill>
              </a:rPr>
              <a:t>Notificaciones </a:t>
            </a:r>
            <a:r>
              <a:rPr lang="es-MX" dirty="0" err="1">
                <a:solidFill>
                  <a:schemeClr val="bg1"/>
                </a:solidFill>
              </a:rPr>
              <a:t>push</a:t>
            </a:r>
            <a:r>
              <a:rPr lang="es-MX" dirty="0">
                <a:solidFill>
                  <a:schemeClr val="bg1"/>
                </a:solidFill>
              </a:rPr>
              <a:t> para alertas críticas.</a:t>
            </a:r>
            <a:endParaRPr lang="es-MX" sz="1600" dirty="0">
              <a:solidFill>
                <a:schemeClr val="bg1"/>
              </a:solidFill>
            </a:endParaRPr>
          </a:p>
          <a:p>
            <a:br>
              <a:rPr lang="es-MX" sz="1600" dirty="0"/>
            </a:br>
            <a:endParaRPr lang="en-US" sz="1487" u="none" strike="noStrike" spc="62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4" name="Group 39">
            <a:extLst>
              <a:ext uri="{FF2B5EF4-FFF2-40B4-BE49-F238E27FC236}">
                <a16:creationId xmlns:a16="http://schemas.microsoft.com/office/drawing/2014/main" id="{4810C0CB-E0A4-E702-BBC3-0253A3A68084}"/>
              </a:ext>
            </a:extLst>
          </p:cNvPr>
          <p:cNvGrpSpPr/>
          <p:nvPr/>
        </p:nvGrpSpPr>
        <p:grpSpPr>
          <a:xfrm>
            <a:off x="11788276" y="4962757"/>
            <a:ext cx="848627" cy="848627"/>
            <a:chOff x="0" y="0"/>
            <a:chExt cx="812800" cy="812800"/>
          </a:xfrm>
        </p:grpSpPr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90D1F0ED-6901-8FC4-8E8F-A7297981190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0F6B7">
                      <a:alpha val="100000"/>
                    </a:srgbClr>
                  </a:gs>
                  <a:gs pos="100000">
                    <a:srgbClr val="057FC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TextBox 41">
              <a:extLst>
                <a:ext uri="{FF2B5EF4-FFF2-40B4-BE49-F238E27FC236}">
                  <a16:creationId xmlns:a16="http://schemas.microsoft.com/office/drawing/2014/main" id="{6847A8CF-A2CF-CB17-29EA-3CF9BE8DB18A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268"/>
                </a:lnSpc>
                <a:spcBef>
                  <a:spcPct val="0"/>
                </a:spcBef>
              </a:pPr>
              <a:r>
                <a:rPr lang="en-US" sz="2334" b="1" spc="98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id="47" name="Group 42">
            <a:extLst>
              <a:ext uri="{FF2B5EF4-FFF2-40B4-BE49-F238E27FC236}">
                <a16:creationId xmlns:a16="http://schemas.microsoft.com/office/drawing/2014/main" id="{CCC58082-6F3D-53C9-336B-CB43DF342D9A}"/>
              </a:ext>
            </a:extLst>
          </p:cNvPr>
          <p:cNvGrpSpPr/>
          <p:nvPr/>
        </p:nvGrpSpPr>
        <p:grpSpPr>
          <a:xfrm rot="-5400000">
            <a:off x="13927901" y="5708148"/>
            <a:ext cx="1686752" cy="5413552"/>
            <a:chOff x="0" y="0"/>
            <a:chExt cx="7475268" cy="23991531"/>
          </a:xfrm>
        </p:grpSpPr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6D1E8CEE-B3AF-C862-541E-92C6824BBE1D}"/>
                </a:ext>
              </a:extLst>
            </p:cNvPr>
            <p:cNvSpPr/>
            <p:nvPr/>
          </p:nvSpPr>
          <p:spPr>
            <a:xfrm>
              <a:off x="0" y="0"/>
              <a:ext cx="7475396" cy="23991658"/>
            </a:xfrm>
            <a:custGeom>
              <a:avLst/>
              <a:gdLst/>
              <a:ahLst/>
              <a:cxnLst/>
              <a:rect l="l" t="t" r="r" b="b"/>
              <a:pathLst>
                <a:path w="7475396" h="23991658">
                  <a:moveTo>
                    <a:pt x="5683981" y="0"/>
                  </a:moveTo>
                  <a:lnTo>
                    <a:pt x="0" y="0"/>
                  </a:lnTo>
                  <a:lnTo>
                    <a:pt x="0" y="22039064"/>
                  </a:lnTo>
                  <a:cubicBezTo>
                    <a:pt x="0" y="23199813"/>
                    <a:pt x="791845" y="23991658"/>
                    <a:pt x="1765046" y="23991658"/>
                  </a:cubicBezTo>
                  <a:lnTo>
                    <a:pt x="7475396" y="23991658"/>
                  </a:lnTo>
                  <a:lnTo>
                    <a:pt x="7475396" y="1953373"/>
                  </a:lnTo>
                  <a:cubicBezTo>
                    <a:pt x="7475269" y="791845"/>
                    <a:pt x="6683550" y="0"/>
                    <a:pt x="5683981" y="0"/>
                  </a:cubicBezTo>
                  <a:close/>
                  <a:moveTo>
                    <a:pt x="7348269" y="23864531"/>
                  </a:moveTo>
                  <a:lnTo>
                    <a:pt x="1765046" y="23864531"/>
                  </a:lnTo>
                  <a:cubicBezTo>
                    <a:pt x="861822" y="23864531"/>
                    <a:pt x="127000" y="23129709"/>
                    <a:pt x="127000" y="22039064"/>
                  </a:cubicBezTo>
                  <a:lnTo>
                    <a:pt x="127000" y="127000"/>
                  </a:lnTo>
                  <a:lnTo>
                    <a:pt x="5683981" y="127000"/>
                  </a:lnTo>
                  <a:cubicBezTo>
                    <a:pt x="6613574" y="127000"/>
                    <a:pt x="7348396" y="861822"/>
                    <a:pt x="7348396" y="1953373"/>
                  </a:cubicBezTo>
                  <a:lnTo>
                    <a:pt x="7348396" y="23864531"/>
                  </a:ln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9" name="TextBox 44">
            <a:extLst>
              <a:ext uri="{FF2B5EF4-FFF2-40B4-BE49-F238E27FC236}">
                <a16:creationId xmlns:a16="http://schemas.microsoft.com/office/drawing/2014/main" id="{D53A3E4A-3892-0544-B071-89913A0A6D4D}"/>
              </a:ext>
            </a:extLst>
          </p:cNvPr>
          <p:cNvSpPr txBox="1"/>
          <p:nvPr/>
        </p:nvSpPr>
        <p:spPr>
          <a:xfrm>
            <a:off x="12707225" y="7685200"/>
            <a:ext cx="4431807" cy="1852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082"/>
              </a:lnSpc>
              <a:spcBef>
                <a:spcPct val="0"/>
              </a:spcBef>
            </a:pPr>
            <a:r>
              <a:rPr lang="es-CL" dirty="0">
                <a:solidFill>
                  <a:schemeClr val="bg1"/>
                </a:solidFill>
              </a:rPr>
              <a:t>Sprint  5– pruebas finales</a:t>
            </a:r>
          </a:p>
          <a:p>
            <a:r>
              <a:rPr lang="es-MX" dirty="0">
                <a:solidFill>
                  <a:schemeClr val="bg1"/>
                </a:solidFill>
              </a:rPr>
              <a:t>Pruebas de campo con ≥3 nodos: cobertura, latencia y confiabilidad.</a:t>
            </a:r>
            <a:endParaRPr lang="es-MX" sz="1600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Documentación, retrospectiva y preparación de demo final.</a:t>
            </a:r>
            <a:endParaRPr lang="es-MX" sz="1600" dirty="0">
              <a:solidFill>
                <a:schemeClr val="bg1"/>
              </a:solidFill>
            </a:endParaRPr>
          </a:p>
          <a:p>
            <a:br>
              <a:rPr lang="es-MX" sz="1600" dirty="0"/>
            </a:br>
            <a:endParaRPr lang="en-US" sz="1487" u="none" strike="noStrike" spc="62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0" name="Group 45">
            <a:extLst>
              <a:ext uri="{FF2B5EF4-FFF2-40B4-BE49-F238E27FC236}">
                <a16:creationId xmlns:a16="http://schemas.microsoft.com/office/drawing/2014/main" id="{60E290F9-6FBB-7EF4-BB7F-073B824271FB}"/>
              </a:ext>
            </a:extLst>
          </p:cNvPr>
          <p:cNvGrpSpPr/>
          <p:nvPr/>
        </p:nvGrpSpPr>
        <p:grpSpPr>
          <a:xfrm>
            <a:off x="11788276" y="7162807"/>
            <a:ext cx="848627" cy="848627"/>
            <a:chOff x="0" y="0"/>
            <a:chExt cx="812800" cy="812800"/>
          </a:xfrm>
        </p:grpSpPr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02547A0F-D61C-9577-EAA9-33E5830F0B2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0F6B7">
                      <a:alpha val="100000"/>
                    </a:srgbClr>
                  </a:gs>
                  <a:gs pos="100000">
                    <a:srgbClr val="057FC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TextBox 47">
              <a:extLst>
                <a:ext uri="{FF2B5EF4-FFF2-40B4-BE49-F238E27FC236}">
                  <a16:creationId xmlns:a16="http://schemas.microsoft.com/office/drawing/2014/main" id="{A24471B8-0287-25F5-4431-BEF70B99B72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268"/>
                </a:lnSpc>
                <a:spcBef>
                  <a:spcPct val="0"/>
                </a:spcBef>
              </a:pPr>
              <a:r>
                <a:rPr lang="en-US" sz="2334" b="1" spc="98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sp>
        <p:nvSpPr>
          <p:cNvPr id="53" name="AutoShape 48">
            <a:extLst>
              <a:ext uri="{FF2B5EF4-FFF2-40B4-BE49-F238E27FC236}">
                <a16:creationId xmlns:a16="http://schemas.microsoft.com/office/drawing/2014/main" id="{70E4485F-0C72-0D1C-BEB9-BD7C7770FD56}"/>
              </a:ext>
            </a:extLst>
          </p:cNvPr>
          <p:cNvSpPr/>
          <p:nvPr/>
        </p:nvSpPr>
        <p:spPr>
          <a:xfrm flipV="1">
            <a:off x="9144000" y="3190446"/>
            <a:ext cx="2644276" cy="407001"/>
          </a:xfrm>
          <a:prstGeom prst="line">
            <a:avLst/>
          </a:prstGeom>
          <a:ln w="47625" cap="rnd">
            <a:gradFill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prstDash val="sysDot"/>
            <a:headEnd type="oval" w="lg" len="lg"/>
            <a:tailEnd type="oval" w="lg" len="lg"/>
          </a:ln>
        </p:spPr>
        <p:txBody>
          <a:bodyPr/>
          <a:lstStyle/>
          <a:p>
            <a:endParaRPr lang="es-CL"/>
          </a:p>
        </p:txBody>
      </p:sp>
      <p:sp>
        <p:nvSpPr>
          <p:cNvPr id="54" name="AutoShape 49">
            <a:extLst>
              <a:ext uri="{FF2B5EF4-FFF2-40B4-BE49-F238E27FC236}">
                <a16:creationId xmlns:a16="http://schemas.microsoft.com/office/drawing/2014/main" id="{4747B3E4-C645-119A-30E2-097DE661231C}"/>
              </a:ext>
            </a:extLst>
          </p:cNvPr>
          <p:cNvSpPr/>
          <p:nvPr/>
        </p:nvSpPr>
        <p:spPr>
          <a:xfrm flipV="1">
            <a:off x="10940551" y="5387071"/>
            <a:ext cx="847725" cy="6927"/>
          </a:xfrm>
          <a:prstGeom prst="line">
            <a:avLst/>
          </a:prstGeom>
          <a:ln w="47625" cap="rnd">
            <a:gradFill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prstDash val="sysDot"/>
            <a:headEnd type="oval" w="lg" len="lg"/>
            <a:tailEnd type="oval" w="lg" len="lg"/>
          </a:ln>
        </p:spPr>
        <p:txBody>
          <a:bodyPr/>
          <a:lstStyle/>
          <a:p>
            <a:endParaRPr lang="es-CL"/>
          </a:p>
        </p:txBody>
      </p:sp>
      <p:sp>
        <p:nvSpPr>
          <p:cNvPr id="55" name="AutoShape 50">
            <a:extLst>
              <a:ext uri="{FF2B5EF4-FFF2-40B4-BE49-F238E27FC236}">
                <a16:creationId xmlns:a16="http://schemas.microsoft.com/office/drawing/2014/main" id="{21E22441-5E96-0C24-4F1E-D67C2DCB8493}"/>
              </a:ext>
            </a:extLst>
          </p:cNvPr>
          <p:cNvSpPr/>
          <p:nvPr/>
        </p:nvSpPr>
        <p:spPr>
          <a:xfrm>
            <a:off x="9144000" y="7190549"/>
            <a:ext cx="2644276" cy="396571"/>
          </a:xfrm>
          <a:prstGeom prst="line">
            <a:avLst/>
          </a:prstGeom>
          <a:ln w="47625" cap="rnd">
            <a:gradFill>
              <a:gsLst>
                <a:gs pos="0">
                  <a:srgbClr val="00F6B7">
                    <a:alpha val="100000"/>
                  </a:srgbClr>
                </a:gs>
                <a:gs pos="100000">
                  <a:srgbClr val="057FC0">
                    <a:alpha val="100000"/>
                  </a:srgbClr>
                </a:gs>
              </a:gsLst>
              <a:lin ang="5400000"/>
            </a:gradFill>
            <a:prstDash val="sysDot"/>
            <a:headEnd type="oval" w="lg" len="lg"/>
            <a:tailEnd type="oval" w="lg" len="lg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Box 51">
            <a:extLst>
              <a:ext uri="{FF2B5EF4-FFF2-40B4-BE49-F238E27FC236}">
                <a16:creationId xmlns:a16="http://schemas.microsoft.com/office/drawing/2014/main" id="{0397EE6D-C007-EBEA-5ED6-EB23322B2A6A}"/>
              </a:ext>
            </a:extLst>
          </p:cNvPr>
          <p:cNvSpPr txBox="1"/>
          <p:nvPr/>
        </p:nvSpPr>
        <p:spPr>
          <a:xfrm>
            <a:off x="5883017" y="838724"/>
            <a:ext cx="6181484" cy="98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96"/>
              </a:lnSpc>
              <a:spcBef>
                <a:spcPct val="0"/>
              </a:spcBef>
            </a:pPr>
            <a:r>
              <a:rPr lang="en-US" sz="5783" dirty="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Sprint</a:t>
            </a:r>
          </a:p>
        </p:txBody>
      </p:sp>
    </p:spTree>
    <p:extLst>
      <p:ext uri="{BB962C8B-B14F-4D97-AF65-F5344CB8AC3E}">
        <p14:creationId xmlns:p14="http://schemas.microsoft.com/office/powerpoint/2010/main" val="1249790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3480-EAE9-CD8D-050F-56941DC47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2ABD12-15F4-AABE-D852-34969B25913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3A1A1D7-5E6D-FBD0-9EE1-995C6DD50BE1}"/>
              </a:ext>
            </a:extLst>
          </p:cNvPr>
          <p:cNvGrpSpPr/>
          <p:nvPr/>
        </p:nvGrpSpPr>
        <p:grpSpPr>
          <a:xfrm rot="5400000">
            <a:off x="-1108566" y="-28249"/>
            <a:ext cx="12192397" cy="11131041"/>
            <a:chOff x="0" y="0"/>
            <a:chExt cx="3211166" cy="293163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A5CC0C9-F104-1F3E-A1F4-4A8B7F478A11}"/>
                </a:ext>
              </a:extLst>
            </p:cNvPr>
            <p:cNvSpPr/>
            <p:nvPr/>
          </p:nvSpPr>
          <p:spPr>
            <a:xfrm>
              <a:off x="0" y="0"/>
              <a:ext cx="3211166" cy="2931632"/>
            </a:xfrm>
            <a:custGeom>
              <a:avLst/>
              <a:gdLst/>
              <a:ahLst/>
              <a:cxnLst/>
              <a:rect l="l" t="t" r="r" b="b"/>
              <a:pathLst>
                <a:path w="3211166" h="2931632">
                  <a:moveTo>
                    <a:pt x="17779" y="0"/>
                  </a:moveTo>
                  <a:lnTo>
                    <a:pt x="3193387" y="0"/>
                  </a:lnTo>
                  <a:cubicBezTo>
                    <a:pt x="3203206" y="0"/>
                    <a:pt x="3211166" y="7960"/>
                    <a:pt x="3211166" y="17779"/>
                  </a:cubicBezTo>
                  <a:lnTo>
                    <a:pt x="3211166" y="2913853"/>
                  </a:lnTo>
                  <a:cubicBezTo>
                    <a:pt x="3211166" y="2923672"/>
                    <a:pt x="3203206" y="2931632"/>
                    <a:pt x="3193387" y="2931632"/>
                  </a:cubicBezTo>
                  <a:lnTo>
                    <a:pt x="17779" y="2931632"/>
                  </a:lnTo>
                  <a:cubicBezTo>
                    <a:pt x="7960" y="2931632"/>
                    <a:pt x="0" y="2923672"/>
                    <a:pt x="0" y="2913853"/>
                  </a:cubicBezTo>
                  <a:lnTo>
                    <a:pt x="0" y="17779"/>
                  </a:lnTo>
                  <a:cubicBezTo>
                    <a:pt x="0" y="7960"/>
                    <a:pt x="7960" y="0"/>
                    <a:pt x="17779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317192F-3059-D8DC-C86D-0238F81022FF}"/>
                </a:ext>
              </a:extLst>
            </p:cNvPr>
            <p:cNvSpPr txBox="1"/>
            <p:nvPr/>
          </p:nvSpPr>
          <p:spPr>
            <a:xfrm>
              <a:off x="0" y="-38100"/>
              <a:ext cx="3211166" cy="2969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122E7226-790F-A9E3-1020-4D53EF9084EB}"/>
              </a:ext>
            </a:extLst>
          </p:cNvPr>
          <p:cNvSpPr txBox="1"/>
          <p:nvPr/>
        </p:nvSpPr>
        <p:spPr>
          <a:xfrm>
            <a:off x="615390" y="4152900"/>
            <a:ext cx="7279369" cy="368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fontAlgn="base"/>
            <a:r>
              <a:rPr lang="es-MX" sz="3200" dirty="0">
                <a:solidFill>
                  <a:schemeClr val="bg1"/>
                </a:solidFill>
              </a:rPr>
              <a:t>Semanas 1–3</a:t>
            </a:r>
            <a:br>
              <a:rPr lang="es-MX" sz="3200" dirty="0">
                <a:solidFill>
                  <a:schemeClr val="bg1"/>
                </a:solidFill>
              </a:rPr>
            </a:br>
            <a:r>
              <a:rPr lang="es-MX" sz="3200" dirty="0">
                <a:solidFill>
                  <a:schemeClr val="bg1"/>
                </a:solidFill>
              </a:rPr>
              <a:t>Planificación, estructura base y entorno.</a:t>
            </a:r>
          </a:p>
          <a:p>
            <a:pPr algn="ctr" fontAlgn="base"/>
            <a:r>
              <a:rPr lang="es-MX" sz="3200" dirty="0">
                <a:solidFill>
                  <a:schemeClr val="bg1"/>
                </a:solidFill>
              </a:rPr>
              <a:t>Objetivo  : Preparar el entorno de desarrollo, definir la estructura del proyecto, roles del equipo y los lineamientos técnicos iniciales.</a:t>
            </a:r>
          </a:p>
          <a:p>
            <a:br>
              <a:rPr lang="es-MX" sz="2400" dirty="0"/>
            </a:br>
            <a:endParaRPr lang="en-US" sz="2370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B4BBE4E-D931-18FD-F450-A8A806548EA6}"/>
              </a:ext>
            </a:extLst>
          </p:cNvPr>
          <p:cNvSpPr txBox="1"/>
          <p:nvPr/>
        </p:nvSpPr>
        <p:spPr>
          <a:xfrm>
            <a:off x="615390" y="2026777"/>
            <a:ext cx="778862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CL" sz="4400" dirty="0">
                <a:solidFill>
                  <a:schemeClr val="bg1"/>
                </a:solidFill>
              </a:rPr>
              <a:t>Sprint 0 </a:t>
            </a:r>
            <a:r>
              <a:rPr lang="es-MX" sz="4400" dirty="0">
                <a:solidFill>
                  <a:schemeClr val="bg1"/>
                </a:solidFill>
              </a:rPr>
              <a:t>Fase 1: Planificación y </a:t>
            </a:r>
            <a:r>
              <a:rPr lang="es-MX" sz="4400" dirty="0" err="1">
                <a:solidFill>
                  <a:schemeClr val="bg1"/>
                </a:solidFill>
              </a:rPr>
              <a:t>Setup</a:t>
            </a:r>
            <a:endParaRPr lang="es-MX" sz="4400" dirty="0">
              <a:solidFill>
                <a:schemeClr val="bg1"/>
              </a:solidFill>
            </a:endParaRPr>
          </a:p>
          <a:p>
            <a:br>
              <a:rPr lang="es-MX" sz="1600" dirty="0">
                <a:solidFill>
                  <a:schemeClr val="bg1"/>
                </a:solidFill>
              </a:rPr>
            </a:br>
            <a:r>
              <a:rPr lang="en-US" sz="1600" b="1" spc="144" dirty="0">
                <a:solidFill>
                  <a:schemeClr val="bg1"/>
                </a:solidFill>
                <a:latin typeface="Muli Heavy"/>
                <a:ea typeface="Muli Heavy"/>
                <a:cs typeface="Muli Heavy"/>
                <a:sym typeface="Muli Heavy"/>
              </a:rPr>
              <a:t> </a:t>
            </a: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C389376F-6BA6-D70C-C5C1-9C993B3B9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9922" y="2781300"/>
            <a:ext cx="7829420" cy="569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139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B4E0E-385D-7537-CE82-1018FF5E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0F60A16-9CC7-93AA-A6E5-C2D7658A9793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99900D-1954-128B-B5DE-53688428490D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10F2123-7852-39CF-97F7-093C6C9EDBDD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FA5C804-318B-F7CF-6547-9DB16F6ABC81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972414-77B0-3739-38E7-CB97590633CD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FA5D47F-E938-3CD2-C553-B06BBA9A4AC8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1D203C1-AE48-D7FF-23F3-2C4BEE751A82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A1C5004-8AFC-A19B-ACC7-5490C8503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2719"/>
            <a:ext cx="13128915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Sprint 0 backlog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CL" altLang="es-CL" sz="2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</a:t>
            </a: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re Franklin" pitchFamily="2" charset="0"/>
              </a:rPr>
              <a:t> 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108383-0D72-E262-C009-B11CEF12B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56" y="2431374"/>
            <a:ext cx="16524143" cy="524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929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72C3-93E2-0B8D-CA3F-243AC7BB9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98D675-0F38-DF6A-0EDD-15BE752C3975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5CEBD1B-73AF-6EB4-F163-03849585DB0D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68728B2-D2F1-5B07-F0DA-5B834180F805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C18C8AE-8BCF-6244-930D-E2C7F129DD2B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D7AF479-B4B8-AD5B-6241-AA74B5749BC9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60EAB08-A8B2-832D-A372-26322733DA8A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FCFAFEFE-A909-3855-3CC6-D8717565136D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ECC923D-0B0C-FE2E-4396-1C12FCF2C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870311"/>
            <a:ext cx="130302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Sprint 0 </a:t>
            </a:r>
            <a:r>
              <a:rPr kumimoji="0" lang="es-CL" altLang="es-CL" sz="4400" b="0" i="0" u="none" strike="noStrike" cap="none" normalizeH="0" baseline="0" dirty="0" err="1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Burndown</a:t>
            </a: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 chart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CL" altLang="es-CL" sz="1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</a:t>
            </a: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10E1548-1799-0D5A-C156-4CDF75534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485" y="2937518"/>
            <a:ext cx="14063512" cy="534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235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20C10-9260-4D9F-2F8A-90A98120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D66D53-D574-9DEB-C6CB-602E242F9917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58C860-ED24-308B-77F6-ED77F6F135AC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DBB87F5-BE9C-D25C-06FB-4DF640A1C7D4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000E318-C274-39F0-19DB-981D48397EE5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1F8F8F7-020A-51D2-29BD-59C1CB49F6C3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DA8100D-A9D0-1DC7-5523-BA4FC69909B5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245B199-CA12-DCD3-364D-2BF06BD49A68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9BE6F4B-F787-D6B5-17D2-B33D9CD36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70020"/>
            <a:ext cx="9517349" cy="601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Sprint 0 </a:t>
            </a:r>
            <a:r>
              <a:rPr kumimoji="0" lang="es-CL" altLang="es-CL" sz="4400" b="0" i="0" u="none" strike="noStrike" cap="none" normalizeH="0" baseline="0" dirty="0" err="1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impediment</a:t>
            </a: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 log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CL" altLang="es-CL" sz="28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</a:t>
            </a: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A105FD0-DEB3-8909-9DA6-EC8BA1938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672" y="1801366"/>
            <a:ext cx="12801600" cy="720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468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1C4B7-285F-636E-914C-2FD7B71E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54290C-B39B-A793-08F1-79291994171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1496399-77FA-01ED-AB65-050A0B4AE854}"/>
              </a:ext>
            </a:extLst>
          </p:cNvPr>
          <p:cNvGrpSpPr/>
          <p:nvPr/>
        </p:nvGrpSpPr>
        <p:grpSpPr>
          <a:xfrm rot="5400000">
            <a:off x="-1108566" y="-28249"/>
            <a:ext cx="12192397" cy="11131041"/>
            <a:chOff x="0" y="0"/>
            <a:chExt cx="3211166" cy="293163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EF29893-8B55-A5B2-84F2-7B8355316369}"/>
                </a:ext>
              </a:extLst>
            </p:cNvPr>
            <p:cNvSpPr/>
            <p:nvPr/>
          </p:nvSpPr>
          <p:spPr>
            <a:xfrm>
              <a:off x="0" y="0"/>
              <a:ext cx="3211166" cy="2931632"/>
            </a:xfrm>
            <a:custGeom>
              <a:avLst/>
              <a:gdLst/>
              <a:ahLst/>
              <a:cxnLst/>
              <a:rect l="l" t="t" r="r" b="b"/>
              <a:pathLst>
                <a:path w="3211166" h="2931632">
                  <a:moveTo>
                    <a:pt x="17779" y="0"/>
                  </a:moveTo>
                  <a:lnTo>
                    <a:pt x="3193387" y="0"/>
                  </a:lnTo>
                  <a:cubicBezTo>
                    <a:pt x="3203206" y="0"/>
                    <a:pt x="3211166" y="7960"/>
                    <a:pt x="3211166" y="17779"/>
                  </a:cubicBezTo>
                  <a:lnTo>
                    <a:pt x="3211166" y="2913853"/>
                  </a:lnTo>
                  <a:cubicBezTo>
                    <a:pt x="3211166" y="2923672"/>
                    <a:pt x="3203206" y="2931632"/>
                    <a:pt x="3193387" y="2931632"/>
                  </a:cubicBezTo>
                  <a:lnTo>
                    <a:pt x="17779" y="2931632"/>
                  </a:lnTo>
                  <a:cubicBezTo>
                    <a:pt x="7960" y="2931632"/>
                    <a:pt x="0" y="2923672"/>
                    <a:pt x="0" y="2913853"/>
                  </a:cubicBezTo>
                  <a:lnTo>
                    <a:pt x="0" y="17779"/>
                  </a:lnTo>
                  <a:cubicBezTo>
                    <a:pt x="0" y="7960"/>
                    <a:pt x="7960" y="0"/>
                    <a:pt x="17779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C97C14A-4C48-50FE-8476-54B576A0F0C3}"/>
                </a:ext>
              </a:extLst>
            </p:cNvPr>
            <p:cNvSpPr txBox="1"/>
            <p:nvPr/>
          </p:nvSpPr>
          <p:spPr>
            <a:xfrm>
              <a:off x="0" y="-38100"/>
              <a:ext cx="3211166" cy="2969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1743001C-8617-58C0-C3C4-9CBD7D4AA40B}"/>
              </a:ext>
            </a:extLst>
          </p:cNvPr>
          <p:cNvSpPr txBox="1"/>
          <p:nvPr/>
        </p:nvSpPr>
        <p:spPr>
          <a:xfrm>
            <a:off x="615390" y="4152900"/>
            <a:ext cx="7279369" cy="368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fontAlgn="base"/>
            <a:r>
              <a:rPr lang="es-MX" sz="3200" dirty="0">
                <a:solidFill>
                  <a:schemeClr val="bg1"/>
                </a:solidFill>
              </a:rPr>
              <a:t>Semanas 4–5</a:t>
            </a:r>
            <a:br>
              <a:rPr lang="es-MX" sz="3200" dirty="0">
                <a:solidFill>
                  <a:schemeClr val="bg1"/>
                </a:solidFill>
              </a:rPr>
            </a:br>
            <a:r>
              <a:rPr lang="es-MX" sz="3200" dirty="0">
                <a:solidFill>
                  <a:schemeClr val="bg1"/>
                </a:solidFill>
              </a:rPr>
              <a:t>Se implementará la estructura base  con </a:t>
            </a:r>
            <a:r>
              <a:rPr lang="es-MX" sz="3200" dirty="0" err="1">
                <a:solidFill>
                  <a:schemeClr val="bg1"/>
                </a:solidFill>
              </a:rPr>
              <a:t>endpoints</a:t>
            </a:r>
            <a:r>
              <a:rPr lang="es-MX" sz="3200" dirty="0">
                <a:solidFill>
                  <a:schemeClr val="bg1"/>
                </a:solidFill>
              </a:rPr>
              <a:t> CRUD para administrar alertas, permitiendo su integración con otras aplicaciones y garantizando respuestas en formato JSON</a:t>
            </a:r>
            <a:br>
              <a:rPr lang="es-MX" sz="3200" dirty="0"/>
            </a:br>
            <a:br>
              <a:rPr lang="es-MX" sz="2400" dirty="0"/>
            </a:br>
            <a:endParaRPr lang="en-US" sz="2370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4D5A65E-0A2D-A9CC-36B2-D522057CA778}"/>
              </a:ext>
            </a:extLst>
          </p:cNvPr>
          <p:cNvSpPr txBox="1"/>
          <p:nvPr/>
        </p:nvSpPr>
        <p:spPr>
          <a:xfrm>
            <a:off x="615390" y="2026777"/>
            <a:ext cx="778862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CL" sz="4400" dirty="0">
                <a:solidFill>
                  <a:schemeClr val="bg1"/>
                </a:solidFill>
              </a:rPr>
              <a:t>Sprint 1 – </a:t>
            </a:r>
            <a:r>
              <a:rPr lang="es-CL" sz="4400" dirty="0" err="1">
                <a:solidFill>
                  <a:schemeClr val="bg1"/>
                </a:solidFill>
              </a:rPr>
              <a:t>Backend</a:t>
            </a:r>
            <a:r>
              <a:rPr lang="es-CL" sz="4400" dirty="0">
                <a:solidFill>
                  <a:schemeClr val="bg1"/>
                </a:solidFill>
              </a:rPr>
              <a:t> Base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n-US" sz="1600" b="1" spc="144" dirty="0">
                <a:solidFill>
                  <a:schemeClr val="bg1"/>
                </a:solidFill>
                <a:latin typeface="Muli Heavy"/>
                <a:ea typeface="Muli Heavy"/>
                <a:cs typeface="Muli Heavy"/>
                <a:sym typeface="Muli Heavy"/>
              </a:rPr>
              <a:t>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813D16A-81B0-DE7A-63F2-D01A3AE3C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684135"/>
            <a:ext cx="8507012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43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B10E0-AC10-C064-0E38-622C3BC69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0E748E1-04C8-D696-5F5D-3C23CCBDD942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DB7D90F-0151-0A2D-54DB-D2E748D0F155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EB6A106-1365-2094-B447-3EAC802E4E31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F85D735-6C1D-8A81-7F62-AC12225EA9CA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7DCCEEA-09D7-BB57-6780-CA76A9B2BE54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C6852ED-5225-D11A-6560-F8E3E9C237FF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E9DCD22A-7C9F-A878-1267-75201FFA0F99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1EB5666-1C6D-D148-F474-71AB38491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2067668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Sprint 1 backlog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CL" altLang="es-CL" sz="14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    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EAE8AFD-46F3-5BC6-3ABD-0CE9249D1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467100"/>
            <a:ext cx="17387515" cy="266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455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7D30-52DC-52EB-FFEE-69BB0C1C8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A6CC3B1-9918-3A94-7950-A5223A2E4E8B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1D6F2D-4478-BC9D-2847-8ED21DFA99A7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B402317-A4BB-9682-B051-4F70674CAAFB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61A0486-F9AB-8A7D-10CB-619B642C1D32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599BE32-9699-1F03-98CB-2F8C27637EC5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AA7856B-B87F-8225-761E-D7094D11C230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64C08233-3DDE-7FB1-1B52-38D429AC106E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C52B470-095F-B05E-6B75-7E33C462D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72" y="881392"/>
            <a:ext cx="6514925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Sprint 1 </a:t>
            </a:r>
            <a:r>
              <a:rPr kumimoji="0" lang="es-CL" altLang="es-CL" sz="4400" b="0" i="0" u="none" strike="noStrike" cap="none" normalizeH="0" baseline="0" dirty="0" err="1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Burndown</a:t>
            </a: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 chart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CL" altLang="es-CL" sz="1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</a:t>
            </a: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8AB950C-AA7E-6C75-DA38-705998007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236" y="2781300"/>
            <a:ext cx="13856585" cy="572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325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C308E-BAFC-0437-B14D-997815A9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C55EE0-0B03-6382-9089-C47C88F00683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8357E65-D001-6CB1-D61B-28E26B7C1C0D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59167DE-D7F9-EB97-303D-F226A4517081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FA6899F-2438-F7F9-7186-1BF0BEFE9CD7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F560602-BA6D-F9AC-722A-F605FA73742A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8888698-B9CE-3928-567F-D97AB70A2DF0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A86A11D-1116-85EB-4DD9-2D6281AFE59D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7F08297-E149-D111-DBBF-1EA0A0E90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92" y="909161"/>
            <a:ext cx="10541668" cy="6509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Sprint 1 </a:t>
            </a:r>
            <a:r>
              <a:rPr kumimoji="0" lang="es-CL" altLang="es-CL" sz="4400" b="0" i="0" u="none" strike="noStrike" cap="none" normalizeH="0" baseline="0" dirty="0" err="1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impediment</a:t>
            </a: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 log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CL" altLang="es-CL" sz="3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</a:t>
            </a: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63D227A-0849-3CEF-9DCB-28F072808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414" y="2026476"/>
            <a:ext cx="14100115" cy="705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268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6AAB2-A7A6-4040-34EB-409F8F833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2D6917-F730-4A76-D82C-901B86A56E7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2C81802-CBFD-F6C6-DCD6-41D8A5472A48}"/>
              </a:ext>
            </a:extLst>
          </p:cNvPr>
          <p:cNvGrpSpPr/>
          <p:nvPr/>
        </p:nvGrpSpPr>
        <p:grpSpPr>
          <a:xfrm rot="5400000">
            <a:off x="-1108566" y="-28249"/>
            <a:ext cx="12192397" cy="11131041"/>
            <a:chOff x="0" y="0"/>
            <a:chExt cx="3211166" cy="293163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DC35218-22B3-83CF-3B75-A05D58795A1F}"/>
                </a:ext>
              </a:extLst>
            </p:cNvPr>
            <p:cNvSpPr/>
            <p:nvPr/>
          </p:nvSpPr>
          <p:spPr>
            <a:xfrm>
              <a:off x="0" y="0"/>
              <a:ext cx="3211166" cy="2931632"/>
            </a:xfrm>
            <a:custGeom>
              <a:avLst/>
              <a:gdLst/>
              <a:ahLst/>
              <a:cxnLst/>
              <a:rect l="l" t="t" r="r" b="b"/>
              <a:pathLst>
                <a:path w="3211166" h="2931632">
                  <a:moveTo>
                    <a:pt x="17779" y="0"/>
                  </a:moveTo>
                  <a:lnTo>
                    <a:pt x="3193387" y="0"/>
                  </a:lnTo>
                  <a:cubicBezTo>
                    <a:pt x="3203206" y="0"/>
                    <a:pt x="3211166" y="7960"/>
                    <a:pt x="3211166" y="17779"/>
                  </a:cubicBezTo>
                  <a:lnTo>
                    <a:pt x="3211166" y="2913853"/>
                  </a:lnTo>
                  <a:cubicBezTo>
                    <a:pt x="3211166" y="2923672"/>
                    <a:pt x="3203206" y="2931632"/>
                    <a:pt x="3193387" y="2931632"/>
                  </a:cubicBezTo>
                  <a:lnTo>
                    <a:pt x="17779" y="2931632"/>
                  </a:lnTo>
                  <a:cubicBezTo>
                    <a:pt x="7960" y="2931632"/>
                    <a:pt x="0" y="2923672"/>
                    <a:pt x="0" y="2913853"/>
                  </a:cubicBezTo>
                  <a:lnTo>
                    <a:pt x="0" y="17779"/>
                  </a:lnTo>
                  <a:cubicBezTo>
                    <a:pt x="0" y="7960"/>
                    <a:pt x="7960" y="0"/>
                    <a:pt x="17779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F80CE36-733C-8404-8685-F20097609C49}"/>
                </a:ext>
              </a:extLst>
            </p:cNvPr>
            <p:cNvSpPr txBox="1"/>
            <p:nvPr/>
          </p:nvSpPr>
          <p:spPr>
            <a:xfrm>
              <a:off x="0" y="-38100"/>
              <a:ext cx="3211166" cy="2969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F14608D6-E4BF-9D50-727F-BE607A2C0DEE}"/>
              </a:ext>
            </a:extLst>
          </p:cNvPr>
          <p:cNvSpPr txBox="1"/>
          <p:nvPr/>
        </p:nvSpPr>
        <p:spPr>
          <a:xfrm>
            <a:off x="615390" y="4152900"/>
            <a:ext cx="7279369" cy="4181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fontAlgn="base"/>
            <a:r>
              <a:rPr lang="es-CL" sz="3200" dirty="0">
                <a:solidFill>
                  <a:schemeClr val="bg1"/>
                </a:solidFill>
              </a:rPr>
              <a:t>Semanas 6–7</a:t>
            </a:r>
            <a:br>
              <a:rPr lang="es-CL" sz="3200" dirty="0">
                <a:solidFill>
                  <a:schemeClr val="bg1"/>
                </a:solidFill>
              </a:rPr>
            </a:br>
            <a:r>
              <a:rPr lang="es-CL" sz="3200" dirty="0">
                <a:solidFill>
                  <a:schemeClr val="bg1"/>
                </a:solidFill>
              </a:rPr>
              <a:t>Diseñar e implementar la interfaz.</a:t>
            </a:r>
          </a:p>
          <a:p>
            <a:pPr algn="ctr" fontAlgn="base"/>
            <a:endParaRPr lang="es-MX" sz="3200" dirty="0">
              <a:solidFill>
                <a:schemeClr val="bg1"/>
              </a:solidFill>
            </a:endParaRPr>
          </a:p>
          <a:p>
            <a:pPr algn="ctr" fontAlgn="base"/>
            <a:r>
              <a:rPr lang="es-MX" sz="3200" dirty="0">
                <a:solidFill>
                  <a:schemeClr val="bg1"/>
                </a:solidFill>
              </a:rPr>
              <a:t>Las tareas de </a:t>
            </a:r>
            <a:r>
              <a:rPr lang="es-MX" sz="3200" dirty="0" err="1">
                <a:solidFill>
                  <a:schemeClr val="bg1"/>
                </a:solidFill>
              </a:rPr>
              <a:t>Riverpod</a:t>
            </a:r>
            <a:r>
              <a:rPr lang="es-MX" sz="3200" dirty="0">
                <a:solidFill>
                  <a:schemeClr val="bg1"/>
                </a:solidFill>
              </a:rPr>
              <a:t>, </a:t>
            </a:r>
            <a:r>
              <a:rPr lang="es-MX" sz="3200" dirty="0" err="1">
                <a:solidFill>
                  <a:schemeClr val="bg1"/>
                </a:solidFill>
              </a:rPr>
              <a:t>LoginPage</a:t>
            </a:r>
            <a:r>
              <a:rPr lang="es-MX" sz="3200" dirty="0">
                <a:solidFill>
                  <a:schemeClr val="bg1"/>
                </a:solidFill>
              </a:rPr>
              <a:t>, </a:t>
            </a:r>
            <a:r>
              <a:rPr lang="es-MX" sz="3200" dirty="0" err="1">
                <a:solidFill>
                  <a:schemeClr val="bg1"/>
                </a:solidFill>
              </a:rPr>
              <a:t>HomePage</a:t>
            </a:r>
            <a:r>
              <a:rPr lang="es-MX" sz="3200" dirty="0">
                <a:solidFill>
                  <a:schemeClr val="bg1"/>
                </a:solidFill>
              </a:rPr>
              <a:t> y estado de sesión reflejan el entregable del “</a:t>
            </a:r>
            <a:r>
              <a:rPr lang="es-MX" sz="3200" dirty="0" err="1">
                <a:solidFill>
                  <a:schemeClr val="bg1"/>
                </a:solidFill>
              </a:rPr>
              <a:t>frontend</a:t>
            </a:r>
            <a:r>
              <a:rPr lang="es-MX" sz="3200" dirty="0">
                <a:solidFill>
                  <a:schemeClr val="bg1"/>
                </a:solidFill>
              </a:rPr>
              <a:t> base conectado al </a:t>
            </a:r>
            <a:r>
              <a:rPr lang="es-MX" sz="3200" dirty="0" err="1">
                <a:solidFill>
                  <a:schemeClr val="bg1"/>
                </a:solidFill>
              </a:rPr>
              <a:t>backend</a:t>
            </a:r>
            <a:r>
              <a:rPr lang="es-MX" sz="3200" dirty="0">
                <a:solidFill>
                  <a:schemeClr val="bg1"/>
                </a:solidFill>
              </a:rPr>
              <a:t>”.</a:t>
            </a:r>
            <a:r>
              <a:rPr lang="es-CL" sz="3200" dirty="0">
                <a:solidFill>
                  <a:schemeClr val="bg1"/>
                </a:solidFill>
              </a:rPr>
              <a:t> </a:t>
            </a:r>
            <a:endParaRPr lang="en-US" sz="3200" spc="62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 fontAlgn="base"/>
            <a:br>
              <a:rPr lang="es-MX" sz="2400" dirty="0"/>
            </a:br>
            <a:endParaRPr lang="en-US" sz="2370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2060D62-A9B6-1EA6-55D3-84AC448C0974}"/>
              </a:ext>
            </a:extLst>
          </p:cNvPr>
          <p:cNvSpPr txBox="1"/>
          <p:nvPr/>
        </p:nvSpPr>
        <p:spPr>
          <a:xfrm>
            <a:off x="615390" y="2026777"/>
            <a:ext cx="7788620" cy="1600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CL" sz="4400" dirty="0">
                <a:solidFill>
                  <a:schemeClr val="bg1"/>
                </a:solidFill>
              </a:rPr>
              <a:t>Sprint 2 – </a:t>
            </a:r>
            <a:r>
              <a:rPr lang="es-CL" sz="4400" dirty="0" err="1">
                <a:solidFill>
                  <a:schemeClr val="bg1"/>
                </a:solidFill>
              </a:rPr>
              <a:t>Frontend</a:t>
            </a:r>
            <a:r>
              <a:rPr lang="es-CL" sz="4400" dirty="0">
                <a:solidFill>
                  <a:schemeClr val="bg1"/>
                </a:solidFill>
              </a:rPr>
              <a:t> Móvil (App Base</a:t>
            </a:r>
            <a:r>
              <a:rPr lang="es-CL" dirty="0"/>
              <a:t>)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n-US" sz="1600" b="1" spc="144" dirty="0">
                <a:solidFill>
                  <a:schemeClr val="bg1"/>
                </a:solidFill>
                <a:latin typeface="Muli Heavy"/>
                <a:ea typeface="Muli Heavy"/>
                <a:cs typeface="Muli Heavy"/>
                <a:sym typeface="Muli Heavy"/>
              </a:rPr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3497806-28EA-27FD-AD5B-00CDFEFC6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787" y="2166522"/>
            <a:ext cx="8945223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879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C8228-B2DB-6878-2A0F-78370A9BE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3FE62FB-3BAD-0E21-50FF-C4A43B9D0ED5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99056A4-8A1B-F9AF-43DF-C3A82820D674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D084F00-2427-0912-A93C-47C60E5090DA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18E0282-86E2-AE91-78F7-AB97B95549FC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C8D0569-FF14-DA7A-4756-C55DCCEDDA36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5BC58F5-F889-AA0E-C7E0-68448D325B78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71A5D0E-CE25-9FD1-4287-8245137805AC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0C1DD46-D20A-AA8B-3DC0-440DA7CD3207}"/>
              </a:ext>
            </a:extLst>
          </p:cNvPr>
          <p:cNvSpPr txBox="1"/>
          <p:nvPr/>
        </p:nvSpPr>
        <p:spPr>
          <a:xfrm>
            <a:off x="632888" y="918801"/>
            <a:ext cx="1443643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s-CL" sz="4400" b="0" i="0" u="none" strike="noStrike" dirty="0">
                <a:solidFill>
                  <a:srgbClr val="191B0E"/>
                </a:solidFill>
                <a:effectLst/>
                <a:latin typeface="Libre Franklin" pitchFamily="2" charset="0"/>
              </a:rPr>
              <a:t>Sprint 2 backlog</a:t>
            </a:r>
            <a:endParaRPr lang="es-CL" sz="4400" b="0" dirty="0">
              <a:effectLst/>
            </a:endParaRPr>
          </a:p>
          <a:p>
            <a:pPr>
              <a:buNone/>
            </a:pPr>
            <a:br>
              <a:rPr lang="es-CL" b="0" dirty="0">
                <a:effectLst/>
              </a:rPr>
            </a:br>
            <a:endParaRPr lang="es-CL" b="0" dirty="0">
              <a:effectLst/>
            </a:endParaRPr>
          </a:p>
          <a:p>
            <a:pPr>
              <a:buNone/>
            </a:pPr>
            <a:br>
              <a:rPr lang="es-CL" dirty="0"/>
            </a:br>
            <a:endParaRPr lang="es-CL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956A11E-0058-B02F-E6A5-F974332A6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81" y="2438656"/>
            <a:ext cx="17838838" cy="253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9098B71C-0903-0301-DDCF-7770DF493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118" y="6185403"/>
            <a:ext cx="9591804" cy="239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480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9892-B550-594B-45F6-0126289E2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4A7BDA-9BB2-1EFC-859F-0A776614033E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255C243-4465-D2FB-7DE2-A2C57A42BAC1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5D611FC-CD28-79EF-A97C-9E32519D979E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307B8A6-E5DE-8A29-BCB8-8C63A630FB51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C5180E8-534B-9CDF-4E9F-138BB7D99576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AA93047-DEA4-F78D-EA19-3344AD5C7E97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17A3577-E0FB-0726-11B0-81F441F001D0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4029049-729B-2462-503D-717317214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04297"/>
            <a:ext cx="6590266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Sprint 2 </a:t>
            </a:r>
            <a:r>
              <a:rPr kumimoji="0" lang="es-CL" altLang="es-CL" sz="4400" b="0" i="0" u="none" strike="noStrike" cap="none" normalizeH="0" baseline="0" dirty="0" err="1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Burndown</a:t>
            </a: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 chart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CL" altLang="es-CL" sz="1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</a:t>
            </a: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00763C1-4151-E011-7C1A-9A16BD33E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58" y="2471661"/>
            <a:ext cx="13782542" cy="569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168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9CC1-F377-613E-37D1-7C1BEC6E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1CF8DB3-E1AA-E7E9-74C0-30E41809A56D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B28ACBC-030B-AD69-9ECA-7A87F069E72A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C3E452-51E5-98C3-3A1B-6EC49558A39F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7CD975F-6F3E-FF77-BC8D-A32C1C3FF0B1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AC9A355-C1EA-8913-D2CF-B6045D6FAD1B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030EAC5-8068-8041-AF75-0A6FA00FE328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B698060-9AC6-989C-82E7-AA7872891993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4AE3930-A3B7-0900-ACF7-9D40E69BF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92" y="980822"/>
            <a:ext cx="10729219" cy="8325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Sprint 2 </a:t>
            </a:r>
            <a:r>
              <a:rPr kumimoji="0" lang="es-CL" altLang="es-CL" sz="4400" b="0" i="0" u="none" strike="noStrike" cap="none" normalizeH="0" baseline="0" dirty="0" err="1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impediment</a:t>
            </a: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 log</a:t>
            </a:r>
            <a:b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</a:br>
            <a:b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</a:br>
            <a:b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</a:b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CL" altLang="es-CL" sz="3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</a:t>
            </a: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2B97A92B-F325-F5E5-95C9-BBE2F249B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894785"/>
            <a:ext cx="13639800" cy="6954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475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AB75A-D18A-2B82-F912-B09F96FC4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6EA0F7-DC76-290B-28A5-BEC416B0149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FED2409-824A-04A1-AAC2-F087EA001FAE}"/>
              </a:ext>
            </a:extLst>
          </p:cNvPr>
          <p:cNvGrpSpPr/>
          <p:nvPr/>
        </p:nvGrpSpPr>
        <p:grpSpPr>
          <a:xfrm rot="5400000">
            <a:off x="-1108566" y="-28249"/>
            <a:ext cx="12192397" cy="11131041"/>
            <a:chOff x="0" y="0"/>
            <a:chExt cx="3211166" cy="293163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C51B3C0-B4DE-1B31-DCBE-0F2FA024E87B}"/>
                </a:ext>
              </a:extLst>
            </p:cNvPr>
            <p:cNvSpPr/>
            <p:nvPr/>
          </p:nvSpPr>
          <p:spPr>
            <a:xfrm>
              <a:off x="0" y="0"/>
              <a:ext cx="3211166" cy="2931632"/>
            </a:xfrm>
            <a:custGeom>
              <a:avLst/>
              <a:gdLst/>
              <a:ahLst/>
              <a:cxnLst/>
              <a:rect l="l" t="t" r="r" b="b"/>
              <a:pathLst>
                <a:path w="3211166" h="2931632">
                  <a:moveTo>
                    <a:pt x="17779" y="0"/>
                  </a:moveTo>
                  <a:lnTo>
                    <a:pt x="3193387" y="0"/>
                  </a:lnTo>
                  <a:cubicBezTo>
                    <a:pt x="3203206" y="0"/>
                    <a:pt x="3211166" y="7960"/>
                    <a:pt x="3211166" y="17779"/>
                  </a:cubicBezTo>
                  <a:lnTo>
                    <a:pt x="3211166" y="2913853"/>
                  </a:lnTo>
                  <a:cubicBezTo>
                    <a:pt x="3211166" y="2923672"/>
                    <a:pt x="3203206" y="2931632"/>
                    <a:pt x="3193387" y="2931632"/>
                  </a:cubicBezTo>
                  <a:lnTo>
                    <a:pt x="17779" y="2931632"/>
                  </a:lnTo>
                  <a:cubicBezTo>
                    <a:pt x="7960" y="2931632"/>
                    <a:pt x="0" y="2923672"/>
                    <a:pt x="0" y="2913853"/>
                  </a:cubicBezTo>
                  <a:lnTo>
                    <a:pt x="0" y="17779"/>
                  </a:lnTo>
                  <a:cubicBezTo>
                    <a:pt x="0" y="7960"/>
                    <a:pt x="7960" y="0"/>
                    <a:pt x="17779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7D6EE9F-44DD-D9DF-96EB-DD9742FC139C}"/>
                </a:ext>
              </a:extLst>
            </p:cNvPr>
            <p:cNvSpPr txBox="1"/>
            <p:nvPr/>
          </p:nvSpPr>
          <p:spPr>
            <a:xfrm>
              <a:off x="0" y="-38100"/>
              <a:ext cx="3211166" cy="2969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259490DA-59CD-3953-9A33-3DC4A047B116}"/>
              </a:ext>
            </a:extLst>
          </p:cNvPr>
          <p:cNvSpPr txBox="1"/>
          <p:nvPr/>
        </p:nvSpPr>
        <p:spPr>
          <a:xfrm>
            <a:off x="615390" y="4152900"/>
            <a:ext cx="7279369" cy="427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Semana 8-9</a:t>
            </a:r>
          </a:p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integración </a:t>
            </a:r>
            <a:r>
              <a:rPr lang="es-MX" sz="3300" dirty="0" err="1">
                <a:solidFill>
                  <a:schemeClr val="bg1"/>
                </a:solidFill>
              </a:rPr>
              <a:t>LoRa</a:t>
            </a:r>
            <a:r>
              <a:rPr lang="es-MX" sz="3300" dirty="0">
                <a:solidFill>
                  <a:schemeClr val="bg1"/>
                </a:solidFill>
              </a:rPr>
              <a:t> </a:t>
            </a:r>
            <a:r>
              <a:rPr lang="es-MX" sz="3300" dirty="0" err="1">
                <a:solidFill>
                  <a:schemeClr val="bg1"/>
                </a:solidFill>
              </a:rPr>
              <a:t>Mesh</a:t>
            </a:r>
            <a:r>
              <a:rPr lang="es-MX" sz="3300" dirty="0">
                <a:solidFill>
                  <a:schemeClr val="bg1"/>
                </a:solidFill>
              </a:rPr>
              <a:t> / BLE</a:t>
            </a:r>
          </a:p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Descripción : Implementar la </a:t>
            </a:r>
            <a:r>
              <a:rPr lang="es-MX" sz="3300" b="1" dirty="0">
                <a:solidFill>
                  <a:schemeClr val="bg1"/>
                </a:solidFill>
              </a:rPr>
              <a:t>conectividad local y mensajería offline</a:t>
            </a:r>
            <a:r>
              <a:rPr lang="es-MX" sz="3300" dirty="0">
                <a:solidFill>
                  <a:schemeClr val="bg1"/>
                </a:solidFill>
              </a:rPr>
              <a:t> utilizando tecnologías </a:t>
            </a:r>
            <a:r>
              <a:rPr lang="es-MX" sz="3300" b="1" dirty="0" err="1">
                <a:solidFill>
                  <a:schemeClr val="bg1"/>
                </a:solidFill>
              </a:rPr>
              <a:t>LoRa</a:t>
            </a:r>
            <a:r>
              <a:rPr lang="es-MX" sz="3300" b="1" dirty="0">
                <a:solidFill>
                  <a:schemeClr val="bg1"/>
                </a:solidFill>
              </a:rPr>
              <a:t> </a:t>
            </a:r>
            <a:r>
              <a:rPr lang="es-MX" sz="3300" b="1" dirty="0" err="1">
                <a:solidFill>
                  <a:schemeClr val="bg1"/>
                </a:solidFill>
              </a:rPr>
              <a:t>Mesh</a:t>
            </a:r>
            <a:r>
              <a:rPr lang="es-MX" sz="3300" dirty="0">
                <a:solidFill>
                  <a:schemeClr val="bg1"/>
                </a:solidFill>
              </a:rPr>
              <a:t> y </a:t>
            </a:r>
            <a:r>
              <a:rPr lang="es-MX" sz="3300" b="1" dirty="0">
                <a:solidFill>
                  <a:schemeClr val="bg1"/>
                </a:solidFill>
              </a:rPr>
              <a:t>Bluetooth Low Energy (BLE)</a:t>
            </a:r>
            <a:r>
              <a:rPr lang="es-MX" sz="3300" dirty="0">
                <a:solidFill>
                  <a:schemeClr val="bg1"/>
                </a:solidFill>
              </a:rPr>
              <a:t>,</a:t>
            </a:r>
          </a:p>
          <a:p>
            <a:br>
              <a:rPr lang="es-MX" sz="3200" dirty="0"/>
            </a:br>
            <a:br>
              <a:rPr lang="es-MX" sz="2400" dirty="0"/>
            </a:br>
            <a:endParaRPr lang="en-US" sz="2370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E77F975-AF14-4B13-5BF5-B67419F47F15}"/>
              </a:ext>
            </a:extLst>
          </p:cNvPr>
          <p:cNvSpPr txBox="1"/>
          <p:nvPr/>
        </p:nvSpPr>
        <p:spPr>
          <a:xfrm>
            <a:off x="615390" y="2026777"/>
            <a:ext cx="7788620" cy="1600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CL" sz="4400" dirty="0">
                <a:solidFill>
                  <a:schemeClr val="bg1"/>
                </a:solidFill>
              </a:rPr>
              <a:t>Sprint 3 – Integración </a:t>
            </a:r>
            <a:r>
              <a:rPr lang="es-CL" sz="4400" dirty="0" err="1">
                <a:solidFill>
                  <a:schemeClr val="bg1"/>
                </a:solidFill>
              </a:rPr>
              <a:t>LoRa</a:t>
            </a:r>
            <a:r>
              <a:rPr lang="es-CL" sz="4400" dirty="0">
                <a:solidFill>
                  <a:schemeClr val="bg1"/>
                </a:solidFill>
              </a:rPr>
              <a:t> </a:t>
            </a:r>
            <a:r>
              <a:rPr lang="es-CL" sz="4400" dirty="0" err="1">
                <a:solidFill>
                  <a:schemeClr val="bg1"/>
                </a:solidFill>
              </a:rPr>
              <a:t>Mesh</a:t>
            </a:r>
            <a:r>
              <a:rPr lang="es-CL" sz="4400" dirty="0">
                <a:solidFill>
                  <a:schemeClr val="bg1"/>
                </a:solidFill>
              </a:rPr>
              <a:t> / BLE)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n-US" sz="1600" b="1" spc="144" dirty="0">
                <a:solidFill>
                  <a:schemeClr val="bg1"/>
                </a:solidFill>
                <a:latin typeface="Muli Heavy"/>
                <a:ea typeface="Muli Heavy"/>
                <a:cs typeface="Muli Heavy"/>
                <a:sym typeface="Muli Heavy"/>
              </a:rPr>
              <a:t>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4D0C8E-29E4-C861-8A95-08625853C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314311"/>
            <a:ext cx="8382000" cy="565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242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FD82-BF1D-BEA6-1CE0-E6E10BCE0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CDE40B-6CF2-D2C9-1020-79DE571B64A6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01E48F6-C845-03B0-D981-AE3B587A6A3A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CF78ABA-CE6A-785B-5873-D279855664D6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B5B32BB-4FE9-8F2E-FCA7-D3068A11EB11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3575D22-7137-6E36-D1F1-AFD8F49E3CEF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4665787-FB9F-6CD5-A1DC-542F4813FB68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F11D93AD-D0D6-B105-7386-778699832C0B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32">
            <a:extLst>
              <a:ext uri="{FF2B5EF4-FFF2-40B4-BE49-F238E27FC236}">
                <a16:creationId xmlns:a16="http://schemas.microsoft.com/office/drawing/2014/main" id="{C2847E98-43E5-4DD6-57BC-A53BA1413232}"/>
              </a:ext>
            </a:extLst>
          </p:cNvPr>
          <p:cNvSpPr txBox="1"/>
          <p:nvPr/>
        </p:nvSpPr>
        <p:spPr>
          <a:xfrm>
            <a:off x="1066800" y="590032"/>
            <a:ext cx="8725768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s-CL" sz="4400" dirty="0"/>
              <a:t>Sprint 3 backlog</a:t>
            </a:r>
            <a:endParaRPr lang="en-US" sz="440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799B14E-BBF6-4388-C890-3D565186E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907" y="1927844"/>
            <a:ext cx="15684164" cy="315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9EBD94CA-6417-016A-DC59-D500BE442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684" y="6304488"/>
            <a:ext cx="8470869" cy="2626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69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22CA8-F84F-8855-B3BA-809E9F363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38EAB45-0D57-3B53-E5F6-D276D333F1EB}"/>
              </a:ext>
            </a:extLst>
          </p:cNvPr>
          <p:cNvSpPr txBox="1"/>
          <p:nvPr/>
        </p:nvSpPr>
        <p:spPr>
          <a:xfrm>
            <a:off x="4443078" y="7349482"/>
            <a:ext cx="21252511" cy="1286996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E0C02B3-9F58-6DF9-36B4-28E964CF1704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EE77EA9-D94F-D309-A0E5-DDA59F2C117C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F745BE4-FA03-53D4-1E9E-28748B2D7D0C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Rectangle 1">
            <a:extLst>
              <a:ext uri="{FF2B5EF4-FFF2-40B4-BE49-F238E27FC236}">
                <a16:creationId xmlns:a16="http://schemas.microsoft.com/office/drawing/2014/main" id="{FB8F5779-488B-5BF6-2061-039B02F7C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72" y="938422"/>
            <a:ext cx="661431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Sprint 3 </a:t>
            </a:r>
            <a:r>
              <a:rPr kumimoji="0" lang="es-CL" altLang="es-CL" sz="4400" b="0" i="0" u="none" strike="noStrike" cap="none" normalizeH="0" baseline="0" dirty="0" err="1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Burndown</a:t>
            </a:r>
            <a:r>
              <a:rPr kumimoji="0" lang="es-CL" altLang="es-CL" sz="4400" b="0" i="0" u="none" strike="noStrike" cap="none" normalizeH="0" baseline="0" dirty="0">
                <a:ln>
                  <a:noFill/>
                </a:ln>
                <a:solidFill>
                  <a:srgbClr val="191B0E"/>
                </a:solidFill>
                <a:effectLst/>
                <a:latin typeface="Libre Franklin" pitchFamily="2" charset="0"/>
              </a:rPr>
              <a:t> chart</a:t>
            </a: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CL" altLang="es-CL" sz="1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</a:t>
            </a: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3A47D9B-9F7E-A0BA-ECA7-2E72E929C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809" y="2600518"/>
            <a:ext cx="14632699" cy="604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521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A47B8-AC3C-E530-0834-643F95C3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EDB35D-3011-C310-4C7E-4DE099848A4F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FE5471-959A-FACE-A17C-5E444D8E2F9F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59C687A-F120-FA66-CE75-A410C3FD5137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0AD6CBF-65AD-A362-0268-1B56FADB85F1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9D8AC35-EFCF-E4B9-513B-420A8A5328EE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C2A775F-3DC2-8904-CA83-A8EC1CDF19A0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D271919-1089-D811-5981-16BC210BA577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4BFF9B77-FA51-A6BE-91BD-5F62A2F51CC4}"/>
              </a:ext>
            </a:extLst>
          </p:cNvPr>
          <p:cNvSpPr txBox="1"/>
          <p:nvPr/>
        </p:nvSpPr>
        <p:spPr>
          <a:xfrm>
            <a:off x="1066800" y="590032"/>
            <a:ext cx="8725768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s-CL" sz="4400" dirty="0"/>
              <a:t>Sprint 3 </a:t>
            </a:r>
            <a:r>
              <a:rPr lang="es-CL" sz="4400" dirty="0" err="1"/>
              <a:t>impediment</a:t>
            </a:r>
            <a:r>
              <a:rPr lang="es-CL" sz="4400" dirty="0"/>
              <a:t> log</a:t>
            </a:r>
            <a:endParaRPr lang="en-US" sz="440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4C8670A-BD98-ACC1-BB59-3A6223A60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810" y="1774431"/>
            <a:ext cx="13946519" cy="6828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749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F7CC3-36F0-0857-C09B-781718686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C88D94-4C9F-B04F-866D-087997ED497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28BEF5E-2DFD-EB6B-901A-93B5F9D4C435}"/>
              </a:ext>
            </a:extLst>
          </p:cNvPr>
          <p:cNvGrpSpPr/>
          <p:nvPr/>
        </p:nvGrpSpPr>
        <p:grpSpPr>
          <a:xfrm rot="5400000">
            <a:off x="-1108566" y="-28249"/>
            <a:ext cx="12192397" cy="11131041"/>
            <a:chOff x="0" y="0"/>
            <a:chExt cx="3211166" cy="293163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29E1CB6-874E-0BED-5AA3-7318E7D20528}"/>
                </a:ext>
              </a:extLst>
            </p:cNvPr>
            <p:cNvSpPr/>
            <p:nvPr/>
          </p:nvSpPr>
          <p:spPr>
            <a:xfrm>
              <a:off x="0" y="0"/>
              <a:ext cx="3211166" cy="2931632"/>
            </a:xfrm>
            <a:custGeom>
              <a:avLst/>
              <a:gdLst/>
              <a:ahLst/>
              <a:cxnLst/>
              <a:rect l="l" t="t" r="r" b="b"/>
              <a:pathLst>
                <a:path w="3211166" h="2931632">
                  <a:moveTo>
                    <a:pt x="17779" y="0"/>
                  </a:moveTo>
                  <a:lnTo>
                    <a:pt x="3193387" y="0"/>
                  </a:lnTo>
                  <a:cubicBezTo>
                    <a:pt x="3203206" y="0"/>
                    <a:pt x="3211166" y="7960"/>
                    <a:pt x="3211166" y="17779"/>
                  </a:cubicBezTo>
                  <a:lnTo>
                    <a:pt x="3211166" y="2913853"/>
                  </a:lnTo>
                  <a:cubicBezTo>
                    <a:pt x="3211166" y="2923672"/>
                    <a:pt x="3203206" y="2931632"/>
                    <a:pt x="3193387" y="2931632"/>
                  </a:cubicBezTo>
                  <a:lnTo>
                    <a:pt x="17779" y="2931632"/>
                  </a:lnTo>
                  <a:cubicBezTo>
                    <a:pt x="7960" y="2931632"/>
                    <a:pt x="0" y="2923672"/>
                    <a:pt x="0" y="2913853"/>
                  </a:cubicBezTo>
                  <a:lnTo>
                    <a:pt x="0" y="17779"/>
                  </a:lnTo>
                  <a:cubicBezTo>
                    <a:pt x="0" y="7960"/>
                    <a:pt x="7960" y="0"/>
                    <a:pt x="17779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EB93BC-35FE-24EF-8859-837824EAE94B}"/>
                </a:ext>
              </a:extLst>
            </p:cNvPr>
            <p:cNvSpPr txBox="1"/>
            <p:nvPr/>
          </p:nvSpPr>
          <p:spPr>
            <a:xfrm>
              <a:off x="0" y="-38100"/>
              <a:ext cx="3211166" cy="2969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DA71CED9-C55D-D4DD-1F6A-9666C7F0460A}"/>
              </a:ext>
            </a:extLst>
          </p:cNvPr>
          <p:cNvSpPr txBox="1"/>
          <p:nvPr/>
        </p:nvSpPr>
        <p:spPr>
          <a:xfrm>
            <a:off x="615390" y="4152900"/>
            <a:ext cx="7279369" cy="608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Semana 11-13</a:t>
            </a:r>
          </a:p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integración Sincronización </a:t>
            </a:r>
          </a:p>
          <a:p>
            <a:pPr algn="ctr" fontAlgn="base"/>
            <a:r>
              <a:rPr lang="es-MX" sz="3300" dirty="0" err="1">
                <a:solidFill>
                  <a:schemeClr val="bg1"/>
                </a:solidFill>
              </a:rPr>
              <a:t>Descripcion</a:t>
            </a:r>
            <a:r>
              <a:rPr lang="es-MX" sz="3300" dirty="0">
                <a:solidFill>
                  <a:schemeClr val="bg1"/>
                </a:solidFill>
              </a:rPr>
              <a:t> :</a:t>
            </a:r>
          </a:p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Implementación de sincronización offline → online.</a:t>
            </a:r>
          </a:p>
          <a:p>
            <a:pPr algn="ctr"/>
            <a:r>
              <a:rPr lang="es-MX" sz="3300" dirty="0">
                <a:solidFill>
                  <a:schemeClr val="bg1"/>
                </a:solidFill>
              </a:rPr>
              <a:t>Desarrollo de panel web para autoridades (mapa + filtros).</a:t>
            </a:r>
          </a:p>
          <a:p>
            <a:pPr algn="ctr"/>
            <a:r>
              <a:rPr lang="es-MX" sz="3300" dirty="0">
                <a:solidFill>
                  <a:schemeClr val="bg1"/>
                </a:solidFill>
              </a:rPr>
              <a:t>Notificaciones </a:t>
            </a:r>
            <a:r>
              <a:rPr lang="es-MX" sz="3300" dirty="0" err="1">
                <a:solidFill>
                  <a:schemeClr val="bg1"/>
                </a:solidFill>
              </a:rPr>
              <a:t>push</a:t>
            </a:r>
            <a:r>
              <a:rPr lang="es-MX" sz="3300" dirty="0">
                <a:solidFill>
                  <a:schemeClr val="bg1"/>
                </a:solidFill>
              </a:rPr>
              <a:t> para alertas críticas.</a:t>
            </a:r>
          </a:p>
          <a:p>
            <a:br>
              <a:rPr lang="es-MX" dirty="0"/>
            </a:br>
            <a:br>
              <a:rPr lang="es-MX" dirty="0"/>
            </a:br>
            <a:endParaRPr lang="es-MX" sz="3600" dirty="0"/>
          </a:p>
          <a:p>
            <a:br>
              <a:rPr lang="es-MX" sz="3600" dirty="0"/>
            </a:br>
            <a:endParaRPr lang="en-US" sz="2370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33F192C-06E4-260C-9FDC-5D0125675C22}"/>
              </a:ext>
            </a:extLst>
          </p:cNvPr>
          <p:cNvSpPr txBox="1"/>
          <p:nvPr/>
        </p:nvSpPr>
        <p:spPr>
          <a:xfrm>
            <a:off x="615390" y="2026777"/>
            <a:ext cx="778862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CL" sz="4400" dirty="0">
                <a:solidFill>
                  <a:schemeClr val="bg1"/>
                </a:solidFill>
              </a:rPr>
              <a:t>Sprint 4 – </a:t>
            </a:r>
            <a:r>
              <a:rPr lang="es-CL" sz="4400" dirty="0" err="1">
                <a:solidFill>
                  <a:schemeClr val="bg1"/>
                </a:solidFill>
              </a:rPr>
              <a:t>Sincronizacion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n-US" sz="1600" b="1" spc="144" dirty="0">
                <a:solidFill>
                  <a:schemeClr val="bg1"/>
                </a:solidFill>
                <a:latin typeface="Muli Heavy"/>
                <a:ea typeface="Muli Heavy"/>
                <a:cs typeface="Muli Heavy"/>
                <a:sym typeface="Muli Heavy"/>
              </a:rPr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B87FAB-B9AD-031D-0981-F5176CC78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291" y="2400300"/>
            <a:ext cx="8077200" cy="492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448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305E-D443-EFDD-7A37-89A265EBC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2C57CA4-9E6F-9645-AC73-B40A4E08D051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BE0119E-87B2-1B80-D8E5-4DAA2D1FD34A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FE020AB-B406-FA3C-480E-80433F43D338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51ED668-20B3-0665-E58C-5184521011E0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7EF98EE-4CD4-3842-4934-52BDF27E441A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A3A6D02-1E1A-24E7-4806-64D91123E6EE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1D9ABEC0-B1CE-9694-7F78-EA1246B18051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08680B9-EA40-F6A1-1AC2-7CE7A5E31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18" y="2625147"/>
            <a:ext cx="16784763" cy="222394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4608CFD-7856-C67A-88D6-A42FF536E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737" y="6195844"/>
            <a:ext cx="8449403" cy="2307276"/>
          </a:xfrm>
          <a:prstGeom prst="rect">
            <a:avLst/>
          </a:prstGeom>
        </p:spPr>
      </p:pic>
      <p:sp>
        <p:nvSpPr>
          <p:cNvPr id="15" name="TextBox 32">
            <a:extLst>
              <a:ext uri="{FF2B5EF4-FFF2-40B4-BE49-F238E27FC236}">
                <a16:creationId xmlns:a16="http://schemas.microsoft.com/office/drawing/2014/main" id="{D6744C21-22D3-ED56-E298-6919E00B371F}"/>
              </a:ext>
            </a:extLst>
          </p:cNvPr>
          <p:cNvSpPr txBox="1"/>
          <p:nvPr/>
        </p:nvSpPr>
        <p:spPr>
          <a:xfrm>
            <a:off x="1066800" y="590032"/>
            <a:ext cx="8725768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s-CL" sz="4400" dirty="0"/>
              <a:t>Sprint 4 backlog</a:t>
            </a:r>
            <a:endParaRPr lang="en-US" sz="440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9274667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5D194-8CA6-5132-5CA6-0DF6A192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2A6086A-91FC-110B-A085-15E458C5AEC9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181EB82-9E8A-9D57-B34C-5ADF75AAADC5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116C1F1-0B75-3EFD-EEE8-AB6C120D6474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C649C50C-4F22-C1F9-6F39-C9E35BD16D78}"/>
              </a:ext>
            </a:extLst>
          </p:cNvPr>
          <p:cNvSpPr txBox="1"/>
          <p:nvPr/>
        </p:nvSpPr>
        <p:spPr>
          <a:xfrm>
            <a:off x="1066800" y="590032"/>
            <a:ext cx="8725768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s-CL" sz="4400" dirty="0"/>
              <a:t>Sprint 4 </a:t>
            </a:r>
            <a:r>
              <a:rPr lang="es-CL" sz="4400" dirty="0" err="1"/>
              <a:t>Burndown</a:t>
            </a:r>
            <a:r>
              <a:rPr lang="es-CL" sz="4400" dirty="0"/>
              <a:t> chart</a:t>
            </a:r>
            <a:endParaRPr lang="en-US" sz="440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1832442"/>
              </p:ext>
            </p:extLst>
          </p:nvPr>
        </p:nvGraphicFramePr>
        <p:xfrm>
          <a:off x="1789082" y="2247900"/>
          <a:ext cx="14325600" cy="7099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6096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581E-8C70-4D52-EBEA-A36DF34F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D538AA-E111-2627-E9EF-9A7463D59B57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8B33614-204E-B6FB-165F-C756A9995613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6581528-7898-7B8D-A79E-3DC1317DBB2F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2C1666C-DA61-16A6-111A-CF6A0A1E934A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92753C0-27F7-6A97-5E93-0159E6FCB49D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F19C510-94DE-9497-A393-6A747570F70D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128995F-02AB-3A25-B164-C2DBAA7B7F3D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D6CE45F-42A1-8299-FD29-6ABDFF2B4965}"/>
              </a:ext>
            </a:extLst>
          </p:cNvPr>
          <p:cNvSpPr txBox="1"/>
          <p:nvPr/>
        </p:nvSpPr>
        <p:spPr>
          <a:xfrm>
            <a:off x="1066800" y="590032"/>
            <a:ext cx="8725768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s-CL" sz="4400" dirty="0"/>
              <a:t>Sprint 4 </a:t>
            </a:r>
            <a:r>
              <a:rPr lang="es-CL" sz="4400" dirty="0" err="1"/>
              <a:t>impediment</a:t>
            </a:r>
            <a:r>
              <a:rPr lang="es-CL" sz="4400" dirty="0"/>
              <a:t> log</a:t>
            </a:r>
            <a:endParaRPr lang="en-US" sz="440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B7634EA-E8B1-4922-2F69-4D0024F13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6" y="2204282"/>
            <a:ext cx="17221207" cy="17526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9D70155-77E8-A948-262C-B2BBCC4A6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5521525"/>
            <a:ext cx="9930107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08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DC6B-9CFB-D3E3-53C0-2E472F044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4A20A8-01B2-A6C7-6183-CE27EC05767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10DF92C-E73F-A701-AEB9-836CB8ED8BF7}"/>
              </a:ext>
            </a:extLst>
          </p:cNvPr>
          <p:cNvGrpSpPr/>
          <p:nvPr/>
        </p:nvGrpSpPr>
        <p:grpSpPr>
          <a:xfrm rot="5400000">
            <a:off x="-1108566" y="-28249"/>
            <a:ext cx="12192397" cy="11131041"/>
            <a:chOff x="0" y="0"/>
            <a:chExt cx="3211166" cy="293163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C0D73C4-E880-A662-3D8D-96214A514009}"/>
                </a:ext>
              </a:extLst>
            </p:cNvPr>
            <p:cNvSpPr/>
            <p:nvPr/>
          </p:nvSpPr>
          <p:spPr>
            <a:xfrm>
              <a:off x="0" y="0"/>
              <a:ext cx="3211166" cy="2931632"/>
            </a:xfrm>
            <a:custGeom>
              <a:avLst/>
              <a:gdLst/>
              <a:ahLst/>
              <a:cxnLst/>
              <a:rect l="l" t="t" r="r" b="b"/>
              <a:pathLst>
                <a:path w="3211166" h="2931632">
                  <a:moveTo>
                    <a:pt x="17779" y="0"/>
                  </a:moveTo>
                  <a:lnTo>
                    <a:pt x="3193387" y="0"/>
                  </a:lnTo>
                  <a:cubicBezTo>
                    <a:pt x="3203206" y="0"/>
                    <a:pt x="3211166" y="7960"/>
                    <a:pt x="3211166" y="17779"/>
                  </a:cubicBezTo>
                  <a:lnTo>
                    <a:pt x="3211166" y="2913853"/>
                  </a:lnTo>
                  <a:cubicBezTo>
                    <a:pt x="3211166" y="2923672"/>
                    <a:pt x="3203206" y="2931632"/>
                    <a:pt x="3193387" y="2931632"/>
                  </a:cubicBezTo>
                  <a:lnTo>
                    <a:pt x="17779" y="2931632"/>
                  </a:lnTo>
                  <a:cubicBezTo>
                    <a:pt x="7960" y="2931632"/>
                    <a:pt x="0" y="2923672"/>
                    <a:pt x="0" y="2913853"/>
                  </a:cubicBezTo>
                  <a:lnTo>
                    <a:pt x="0" y="17779"/>
                  </a:lnTo>
                  <a:cubicBezTo>
                    <a:pt x="0" y="7960"/>
                    <a:pt x="7960" y="0"/>
                    <a:pt x="17779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1D06E99-93A5-E504-BD2A-EEE036722A38}"/>
                </a:ext>
              </a:extLst>
            </p:cNvPr>
            <p:cNvSpPr txBox="1"/>
            <p:nvPr/>
          </p:nvSpPr>
          <p:spPr>
            <a:xfrm>
              <a:off x="0" y="-38100"/>
              <a:ext cx="3211166" cy="2969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746A6112-17BD-1BE1-2037-269A4AED8727}"/>
              </a:ext>
            </a:extLst>
          </p:cNvPr>
          <p:cNvSpPr txBox="1"/>
          <p:nvPr/>
        </p:nvSpPr>
        <p:spPr>
          <a:xfrm>
            <a:off x="615390" y="4152900"/>
            <a:ext cx="7279369" cy="7659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Semana 14-15</a:t>
            </a:r>
          </a:p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Pruebas Finales + Cierre</a:t>
            </a:r>
          </a:p>
          <a:p>
            <a:pPr algn="ctr" fontAlgn="base"/>
            <a:r>
              <a:rPr lang="es-MX" sz="3300" dirty="0" err="1">
                <a:solidFill>
                  <a:schemeClr val="bg1"/>
                </a:solidFill>
              </a:rPr>
              <a:t>Descripcion</a:t>
            </a:r>
            <a:r>
              <a:rPr lang="es-MX" sz="3300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es-MX" sz="3300" dirty="0">
                <a:solidFill>
                  <a:schemeClr val="bg1"/>
                </a:solidFill>
              </a:rPr>
              <a:t>Pruebas de campo con ≥3 nodos: cobertura, latencia y confiabilidad.</a:t>
            </a:r>
          </a:p>
          <a:p>
            <a:pPr algn="ctr"/>
            <a:r>
              <a:rPr lang="es-MX" sz="3300" dirty="0">
                <a:solidFill>
                  <a:schemeClr val="bg1"/>
                </a:solidFill>
              </a:rPr>
              <a:t>Documentación, retrospectiva y preparación de demo final.</a:t>
            </a:r>
          </a:p>
          <a:p>
            <a:pPr algn="ctr"/>
            <a:br>
              <a:rPr lang="es-MX" sz="3300" dirty="0">
                <a:solidFill>
                  <a:schemeClr val="bg1"/>
                </a:solidFill>
              </a:rPr>
            </a:br>
            <a:endParaRPr lang="es-MX" sz="3300" dirty="0">
              <a:solidFill>
                <a:schemeClr val="bg1"/>
              </a:solidFill>
            </a:endParaRPr>
          </a:p>
          <a:p>
            <a:br>
              <a:rPr lang="es-MX" sz="3600" dirty="0"/>
            </a:br>
            <a:r>
              <a:rPr lang="es-MX" sz="3300" dirty="0">
                <a:solidFill>
                  <a:schemeClr val="bg1"/>
                </a:solidFill>
              </a:rPr>
              <a:t>.</a:t>
            </a:r>
          </a:p>
          <a:p>
            <a:br>
              <a:rPr lang="es-MX" dirty="0"/>
            </a:br>
            <a:br>
              <a:rPr lang="es-MX" dirty="0"/>
            </a:br>
            <a:endParaRPr lang="es-MX" sz="3600" dirty="0"/>
          </a:p>
          <a:p>
            <a:br>
              <a:rPr lang="es-MX" sz="3600" dirty="0"/>
            </a:br>
            <a:endParaRPr lang="en-US" sz="2370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6BC093C-9E5B-60EC-4FFA-7064AF3535A2}"/>
              </a:ext>
            </a:extLst>
          </p:cNvPr>
          <p:cNvSpPr txBox="1"/>
          <p:nvPr/>
        </p:nvSpPr>
        <p:spPr>
          <a:xfrm>
            <a:off x="615390" y="2026777"/>
            <a:ext cx="778862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CL" sz="4400" dirty="0">
                <a:solidFill>
                  <a:schemeClr val="bg1"/>
                </a:solidFill>
              </a:rPr>
              <a:t>Sprint  5– pruebas finales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n-US" sz="1600" b="1" spc="144" dirty="0">
                <a:solidFill>
                  <a:schemeClr val="bg1"/>
                </a:solidFill>
                <a:latin typeface="Muli Heavy"/>
                <a:ea typeface="Muli Heavy"/>
                <a:cs typeface="Muli Heavy"/>
                <a:sym typeface="Muli Heavy"/>
              </a:rPr>
              <a:t>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A108499-5B2D-7400-0FC8-ACA2AFEF9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946126"/>
            <a:ext cx="7673797" cy="465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047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8133F-BB0C-37EB-9986-D87423370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51A9B8F-07BB-5A46-FC31-3FA209A83CEB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9683078-0DF6-4FB8-7E8C-02E293F2D147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5F3AC56-B87F-F314-90D1-DDE1FD2E5CC1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564A316-0F5E-3C4F-329A-93554BCA7BA4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505F628-908E-F307-B9F7-EFD289995EB0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37CD23E-45CF-458B-4766-408C6BD5F9EF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AE84A85-6CDA-864F-66FE-843EC161FB1B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369D34A8-934A-6EC7-C52B-7727CE905137}"/>
              </a:ext>
            </a:extLst>
          </p:cNvPr>
          <p:cNvSpPr txBox="1"/>
          <p:nvPr/>
        </p:nvSpPr>
        <p:spPr>
          <a:xfrm>
            <a:off x="1066800" y="590032"/>
            <a:ext cx="8725768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s-CL" sz="4400" dirty="0"/>
              <a:t>Sprint 5 backlog</a:t>
            </a:r>
            <a:endParaRPr lang="en-US" sz="440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25F98D9-FE98-7B01-3611-46CE7EF78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60" y="2621683"/>
            <a:ext cx="17246160" cy="218678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54DB118-BF96-BF95-560E-56B7F169C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5810154"/>
            <a:ext cx="8066874" cy="232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83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4559C-2C6B-78CC-894D-5B363B35D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EB060C9-4150-2C9B-89A1-C6A312DD0E55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AA260C8-A154-E4A0-7A98-627B33AF5428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A0FFBCD-13A6-7722-C049-7559F2B33247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F6AB6C39-9A53-FFAB-EDBE-3364A8A1466F}"/>
              </a:ext>
            </a:extLst>
          </p:cNvPr>
          <p:cNvSpPr txBox="1"/>
          <p:nvPr/>
        </p:nvSpPr>
        <p:spPr>
          <a:xfrm>
            <a:off x="1066800" y="590032"/>
            <a:ext cx="8725768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s-CL" sz="4400" dirty="0"/>
              <a:t>Sprint 5 </a:t>
            </a:r>
            <a:r>
              <a:rPr lang="es-CL" sz="4400" dirty="0" err="1"/>
              <a:t>Burndown</a:t>
            </a:r>
            <a:r>
              <a:rPr lang="es-CL" sz="4400" dirty="0"/>
              <a:t> chart</a:t>
            </a:r>
            <a:endParaRPr lang="en-US" sz="440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6925297"/>
              </p:ext>
            </p:extLst>
          </p:nvPr>
        </p:nvGraphicFramePr>
        <p:xfrm>
          <a:off x="2362200" y="1945162"/>
          <a:ext cx="13264272" cy="738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67603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AB84E-AD90-B478-6A26-8776BEC2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EABBB9-0764-4D62-04EE-0D8466955393}"/>
              </a:ext>
            </a:extLst>
          </p:cNvPr>
          <p:cNvGrpSpPr/>
          <p:nvPr/>
        </p:nvGrpSpPr>
        <p:grpSpPr>
          <a:xfrm>
            <a:off x="1990858" y="6970248"/>
            <a:ext cx="26156933" cy="14619813"/>
            <a:chOff x="0" y="0"/>
            <a:chExt cx="1507889" cy="84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72FC821-7D43-08B2-2394-9EE31622A10B}"/>
                </a:ext>
              </a:extLst>
            </p:cNvPr>
            <p:cNvSpPr/>
            <p:nvPr/>
          </p:nvSpPr>
          <p:spPr>
            <a:xfrm>
              <a:off x="0" y="0"/>
              <a:ext cx="1507889" cy="842800"/>
            </a:xfrm>
            <a:custGeom>
              <a:avLst/>
              <a:gdLst/>
              <a:ahLst/>
              <a:cxnLst/>
              <a:rect l="l" t="t" r="r" b="b"/>
              <a:pathLst>
                <a:path w="1507889" h="842800">
                  <a:moveTo>
                    <a:pt x="753945" y="0"/>
                  </a:moveTo>
                  <a:cubicBezTo>
                    <a:pt x="337552" y="0"/>
                    <a:pt x="0" y="188667"/>
                    <a:pt x="0" y="421400"/>
                  </a:cubicBezTo>
                  <a:cubicBezTo>
                    <a:pt x="0" y="654133"/>
                    <a:pt x="337552" y="842800"/>
                    <a:pt x="753945" y="842800"/>
                  </a:cubicBezTo>
                  <a:cubicBezTo>
                    <a:pt x="1170337" y="842800"/>
                    <a:pt x="1507889" y="654133"/>
                    <a:pt x="1507889" y="421400"/>
                  </a:cubicBezTo>
                  <a:cubicBezTo>
                    <a:pt x="1507889" y="188667"/>
                    <a:pt x="1170337" y="0"/>
                    <a:pt x="753945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30B4F18-0965-2A27-D407-9CC5E07B400B}"/>
                </a:ext>
              </a:extLst>
            </p:cNvPr>
            <p:cNvSpPr txBox="1"/>
            <p:nvPr/>
          </p:nvSpPr>
          <p:spPr>
            <a:xfrm>
              <a:off x="141365" y="21862"/>
              <a:ext cx="1225160" cy="74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0B4F6A8-0DA0-862B-012B-51A3442821AF}"/>
              </a:ext>
            </a:extLst>
          </p:cNvPr>
          <p:cNvGrpSpPr/>
          <p:nvPr/>
        </p:nvGrpSpPr>
        <p:grpSpPr>
          <a:xfrm>
            <a:off x="-726527" y="-677565"/>
            <a:ext cx="19356819" cy="1355130"/>
            <a:chOff x="0" y="0"/>
            <a:chExt cx="5098092" cy="35690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19E4A51-6E29-7CE9-857D-E1EA90F21B82}"/>
                </a:ext>
              </a:extLst>
            </p:cNvPr>
            <p:cNvSpPr/>
            <p:nvPr/>
          </p:nvSpPr>
          <p:spPr>
            <a:xfrm>
              <a:off x="0" y="0"/>
              <a:ext cx="5098092" cy="356907"/>
            </a:xfrm>
            <a:custGeom>
              <a:avLst/>
              <a:gdLst/>
              <a:ahLst/>
              <a:cxnLst/>
              <a:rect l="l" t="t" r="r" b="b"/>
              <a:pathLst>
                <a:path w="5098092" h="356907">
                  <a:moveTo>
                    <a:pt x="0" y="0"/>
                  </a:moveTo>
                  <a:lnTo>
                    <a:pt x="5098092" y="0"/>
                  </a:lnTo>
                  <a:lnTo>
                    <a:pt x="5098092" y="356907"/>
                  </a:lnTo>
                  <a:lnTo>
                    <a:pt x="0" y="356907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D9B9ABD-2E7E-52EF-694C-F9B9F0F223AA}"/>
                </a:ext>
              </a:extLst>
            </p:cNvPr>
            <p:cNvSpPr txBox="1"/>
            <p:nvPr/>
          </p:nvSpPr>
          <p:spPr>
            <a:xfrm>
              <a:off x="0" y="-57150"/>
              <a:ext cx="5098092" cy="41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EE75B0C2-8F7B-9929-0DC2-77CC0EFAE376}"/>
              </a:ext>
            </a:extLst>
          </p:cNvPr>
          <p:cNvSpPr/>
          <p:nvPr/>
        </p:nvSpPr>
        <p:spPr>
          <a:xfrm>
            <a:off x="9443472" y="7768542"/>
            <a:ext cx="6603718" cy="1304234"/>
          </a:xfrm>
          <a:custGeom>
            <a:avLst/>
            <a:gdLst/>
            <a:ahLst/>
            <a:cxnLst/>
            <a:rect l="l" t="t" r="r" b="b"/>
            <a:pathLst>
              <a:path w="6603718" h="1304234">
                <a:moveTo>
                  <a:pt x="0" y="0"/>
                </a:moveTo>
                <a:lnTo>
                  <a:pt x="6603717" y="0"/>
                </a:lnTo>
                <a:lnTo>
                  <a:pt x="6603717" y="1304234"/>
                </a:lnTo>
                <a:lnTo>
                  <a:pt x="0" y="130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3BFD319D-CBAF-3655-73A3-FE7ED9A97446}"/>
              </a:ext>
            </a:extLst>
          </p:cNvPr>
          <p:cNvSpPr txBox="1"/>
          <p:nvPr/>
        </p:nvSpPr>
        <p:spPr>
          <a:xfrm>
            <a:off x="1066800" y="590032"/>
            <a:ext cx="8725768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s-CL" sz="4400" dirty="0"/>
              <a:t>Sprint 5 </a:t>
            </a:r>
            <a:r>
              <a:rPr lang="es-CL" sz="4400" dirty="0" err="1"/>
              <a:t>impediment</a:t>
            </a:r>
            <a:r>
              <a:rPr lang="es-CL" sz="4400" dirty="0"/>
              <a:t> log</a:t>
            </a:r>
            <a:endParaRPr lang="en-US" sz="440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4A55D03-858C-BB2E-2427-6AE9969E2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75" y="2933700"/>
            <a:ext cx="17552649" cy="157212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42DA988-7929-2DCA-BD36-1EF881E8D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6179908"/>
            <a:ext cx="9653922" cy="164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012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0A04D-1192-C017-8F12-EFB474CB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636E3D-78E2-B76B-01F0-CB945E4EF84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4D54AF0-5D5C-F8BE-6FF3-177762CB1200}"/>
              </a:ext>
            </a:extLst>
          </p:cNvPr>
          <p:cNvGrpSpPr/>
          <p:nvPr/>
        </p:nvGrpSpPr>
        <p:grpSpPr>
          <a:xfrm rot="5400000">
            <a:off x="-1108566" y="-28249"/>
            <a:ext cx="12192397" cy="11131041"/>
            <a:chOff x="0" y="0"/>
            <a:chExt cx="3211166" cy="293163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7835218-CA7A-44D3-3F91-33E223C01A0D}"/>
                </a:ext>
              </a:extLst>
            </p:cNvPr>
            <p:cNvSpPr/>
            <p:nvPr/>
          </p:nvSpPr>
          <p:spPr>
            <a:xfrm>
              <a:off x="0" y="0"/>
              <a:ext cx="3211166" cy="2931632"/>
            </a:xfrm>
            <a:custGeom>
              <a:avLst/>
              <a:gdLst/>
              <a:ahLst/>
              <a:cxnLst/>
              <a:rect l="l" t="t" r="r" b="b"/>
              <a:pathLst>
                <a:path w="3211166" h="2931632">
                  <a:moveTo>
                    <a:pt x="17779" y="0"/>
                  </a:moveTo>
                  <a:lnTo>
                    <a:pt x="3193387" y="0"/>
                  </a:lnTo>
                  <a:cubicBezTo>
                    <a:pt x="3203206" y="0"/>
                    <a:pt x="3211166" y="7960"/>
                    <a:pt x="3211166" y="17779"/>
                  </a:cubicBezTo>
                  <a:lnTo>
                    <a:pt x="3211166" y="2913853"/>
                  </a:lnTo>
                  <a:cubicBezTo>
                    <a:pt x="3211166" y="2923672"/>
                    <a:pt x="3203206" y="2931632"/>
                    <a:pt x="3193387" y="2931632"/>
                  </a:cubicBezTo>
                  <a:lnTo>
                    <a:pt x="17779" y="2931632"/>
                  </a:lnTo>
                  <a:cubicBezTo>
                    <a:pt x="7960" y="2931632"/>
                    <a:pt x="0" y="2923672"/>
                    <a:pt x="0" y="2913853"/>
                  </a:cubicBezTo>
                  <a:lnTo>
                    <a:pt x="0" y="17779"/>
                  </a:lnTo>
                  <a:cubicBezTo>
                    <a:pt x="0" y="7960"/>
                    <a:pt x="7960" y="0"/>
                    <a:pt x="17779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2B212E-A3E0-9199-ABD3-FBF9E9CBF4B6}"/>
                </a:ext>
              </a:extLst>
            </p:cNvPr>
            <p:cNvSpPr txBox="1"/>
            <p:nvPr/>
          </p:nvSpPr>
          <p:spPr>
            <a:xfrm>
              <a:off x="0" y="-38100"/>
              <a:ext cx="3211166" cy="2969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8B6AFAAB-E346-0F17-A3AE-549455D9AF1D}"/>
              </a:ext>
            </a:extLst>
          </p:cNvPr>
          <p:cNvSpPr txBox="1"/>
          <p:nvPr/>
        </p:nvSpPr>
        <p:spPr>
          <a:xfrm>
            <a:off x="615390" y="4152900"/>
            <a:ext cx="7279369" cy="5627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1.comunicacion</a:t>
            </a:r>
          </a:p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2.Los tiempos no coinciden</a:t>
            </a:r>
          </a:p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3 Falta de planificación inicial</a:t>
            </a:r>
          </a:p>
          <a:p>
            <a:pPr algn="ctr" fontAlgn="base"/>
            <a:r>
              <a:rPr lang="es-MX" sz="3300" dirty="0">
                <a:solidFill>
                  <a:schemeClr val="bg1"/>
                </a:solidFill>
              </a:rPr>
              <a:t>4.cambio de </a:t>
            </a:r>
            <a:r>
              <a:rPr lang="es-MX" sz="3300" dirty="0" err="1">
                <a:solidFill>
                  <a:schemeClr val="bg1"/>
                </a:solidFill>
              </a:rPr>
              <a:t>stack</a:t>
            </a:r>
            <a:r>
              <a:rPr lang="es-MX" sz="3300" dirty="0">
                <a:solidFill>
                  <a:schemeClr val="bg1"/>
                </a:solidFill>
              </a:rPr>
              <a:t> de desarrollo</a:t>
            </a:r>
            <a:br>
              <a:rPr lang="es-MX" sz="3300" dirty="0">
                <a:solidFill>
                  <a:schemeClr val="bg1"/>
                </a:solidFill>
              </a:rPr>
            </a:br>
            <a:endParaRPr lang="es-MX" sz="3300" dirty="0">
              <a:solidFill>
                <a:schemeClr val="bg1"/>
              </a:solidFill>
            </a:endParaRPr>
          </a:p>
          <a:p>
            <a:br>
              <a:rPr lang="es-MX" sz="3600" dirty="0"/>
            </a:br>
            <a:r>
              <a:rPr lang="es-MX" sz="3300" dirty="0">
                <a:solidFill>
                  <a:schemeClr val="bg1"/>
                </a:solidFill>
              </a:rPr>
              <a:t>.</a:t>
            </a:r>
          </a:p>
          <a:p>
            <a:br>
              <a:rPr lang="es-MX" dirty="0"/>
            </a:br>
            <a:br>
              <a:rPr lang="es-MX" dirty="0"/>
            </a:br>
            <a:endParaRPr lang="es-MX" sz="3600" dirty="0"/>
          </a:p>
          <a:p>
            <a:br>
              <a:rPr lang="es-MX" sz="3600" dirty="0"/>
            </a:br>
            <a:endParaRPr lang="en-US" sz="2370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B089E8A-2EEA-D6A1-73A6-9201CC1DAF23}"/>
              </a:ext>
            </a:extLst>
          </p:cNvPr>
          <p:cNvSpPr txBox="1"/>
          <p:nvPr/>
        </p:nvSpPr>
        <p:spPr>
          <a:xfrm>
            <a:off x="615390" y="2026777"/>
            <a:ext cx="778862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CL" sz="4400" dirty="0">
                <a:solidFill>
                  <a:schemeClr val="bg1"/>
                </a:solidFill>
              </a:rPr>
              <a:t>Problemas como equipo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n-US" sz="1600" b="1" spc="144" dirty="0">
                <a:solidFill>
                  <a:schemeClr val="bg1"/>
                </a:solidFill>
                <a:latin typeface="Muli Heavy"/>
                <a:ea typeface="Muli Heavy"/>
                <a:cs typeface="Muli Heavy"/>
                <a:sym typeface="Muli Heavy"/>
              </a:rPr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DD378FB-3CCE-7779-F9BB-CF785F7CB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992" y="1346663"/>
            <a:ext cx="7421011" cy="730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75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36F3-1683-474D-4970-FDA7EC8E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647551-D4BD-19C5-AE3F-17D69FF6F07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E611FF0-5D79-07CA-A636-7B96F77ABC9C}"/>
              </a:ext>
            </a:extLst>
          </p:cNvPr>
          <p:cNvSpPr txBox="1"/>
          <p:nvPr/>
        </p:nvSpPr>
        <p:spPr>
          <a:xfrm>
            <a:off x="2895600" y="4152900"/>
            <a:ext cx="11896462" cy="2168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69"/>
              </a:lnSpc>
            </a:pPr>
            <a:r>
              <a:rPr lang="es-CL" sz="10000" dirty="0">
                <a:solidFill>
                  <a:schemeClr val="bg1"/>
                </a:solidFill>
              </a:rPr>
              <a:t>Demostración </a:t>
            </a:r>
            <a:endParaRPr lang="en-US" sz="10000" b="1" spc="292" dirty="0">
              <a:solidFill>
                <a:schemeClr val="bg1"/>
              </a:solidFill>
              <a:latin typeface="Muli Heavy"/>
              <a:ea typeface="Muli Heavy"/>
              <a:cs typeface="Muli Heavy"/>
              <a:sym typeface="Muli Heavy"/>
            </a:endParaRPr>
          </a:p>
        </p:txBody>
      </p:sp>
      <p:pic>
        <p:nvPicPr>
          <p:cNvPr id="12" name="Imagen 11" descr="Logotipo&#10;&#10;El contenido generado por IA puede ser incorrecto.">
            <a:extLst>
              <a:ext uri="{FF2B5EF4-FFF2-40B4-BE49-F238E27FC236}">
                <a16:creationId xmlns:a16="http://schemas.microsoft.com/office/drawing/2014/main" id="{F5F2C339-7D10-080C-996B-CADCDDC72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191" y="1778772"/>
            <a:ext cx="4113618" cy="347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716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6CE3F-C08E-9F52-5563-0A64A3D5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69BE89-8D4C-C148-014A-E153688F323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2EA1C0-962A-C758-94AF-B1450CB2EE06}"/>
              </a:ext>
            </a:extLst>
          </p:cNvPr>
          <p:cNvGrpSpPr/>
          <p:nvPr/>
        </p:nvGrpSpPr>
        <p:grpSpPr>
          <a:xfrm rot="5400000">
            <a:off x="1120181" y="3917342"/>
            <a:ext cx="4742240" cy="4925202"/>
            <a:chOff x="0" y="0"/>
            <a:chExt cx="1248985" cy="129717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CE24736-8464-20AE-4DF5-CB74A15BA7DF}"/>
                </a:ext>
              </a:extLst>
            </p:cNvPr>
            <p:cNvSpPr/>
            <p:nvPr/>
          </p:nvSpPr>
          <p:spPr>
            <a:xfrm>
              <a:off x="0" y="0"/>
              <a:ext cx="1248985" cy="1297173"/>
            </a:xfrm>
            <a:custGeom>
              <a:avLst/>
              <a:gdLst/>
              <a:ahLst/>
              <a:cxnLst/>
              <a:rect l="l" t="t" r="r" b="b"/>
              <a:pathLst>
                <a:path w="1248985" h="1297173">
                  <a:moveTo>
                    <a:pt x="45711" y="0"/>
                  </a:moveTo>
                  <a:lnTo>
                    <a:pt x="1203274" y="0"/>
                  </a:lnTo>
                  <a:cubicBezTo>
                    <a:pt x="1215397" y="0"/>
                    <a:pt x="1227024" y="4816"/>
                    <a:pt x="1235597" y="13389"/>
                  </a:cubicBezTo>
                  <a:cubicBezTo>
                    <a:pt x="1244169" y="21961"/>
                    <a:pt x="1248985" y="33588"/>
                    <a:pt x="1248985" y="45711"/>
                  </a:cubicBezTo>
                  <a:lnTo>
                    <a:pt x="1248985" y="1251461"/>
                  </a:lnTo>
                  <a:cubicBezTo>
                    <a:pt x="1248985" y="1276707"/>
                    <a:pt x="1228519" y="1297173"/>
                    <a:pt x="1203274" y="1297173"/>
                  </a:cubicBezTo>
                  <a:lnTo>
                    <a:pt x="45711" y="1297173"/>
                  </a:lnTo>
                  <a:cubicBezTo>
                    <a:pt x="33588" y="1297173"/>
                    <a:pt x="21961" y="1292357"/>
                    <a:pt x="13389" y="1283784"/>
                  </a:cubicBezTo>
                  <a:cubicBezTo>
                    <a:pt x="4816" y="1275212"/>
                    <a:pt x="0" y="1263585"/>
                    <a:pt x="0" y="1251461"/>
                  </a:cubicBezTo>
                  <a:lnTo>
                    <a:pt x="0" y="45711"/>
                  </a:lnTo>
                  <a:cubicBezTo>
                    <a:pt x="0" y="33588"/>
                    <a:pt x="4816" y="21961"/>
                    <a:pt x="13389" y="13389"/>
                  </a:cubicBezTo>
                  <a:cubicBezTo>
                    <a:pt x="21961" y="4816"/>
                    <a:pt x="33588" y="0"/>
                    <a:pt x="45711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74CCE0A-5B04-A2F7-9C12-D780CD5FF7D4}"/>
                </a:ext>
              </a:extLst>
            </p:cNvPr>
            <p:cNvSpPr txBox="1"/>
            <p:nvPr/>
          </p:nvSpPr>
          <p:spPr>
            <a:xfrm>
              <a:off x="0" y="-38100"/>
              <a:ext cx="1248985" cy="133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E3AB20D-F8C7-295B-FB83-287D39818CF5}"/>
              </a:ext>
            </a:extLst>
          </p:cNvPr>
          <p:cNvGrpSpPr/>
          <p:nvPr/>
        </p:nvGrpSpPr>
        <p:grpSpPr>
          <a:xfrm rot="5400000">
            <a:off x="6772880" y="3917342"/>
            <a:ext cx="4742240" cy="4925202"/>
            <a:chOff x="0" y="0"/>
            <a:chExt cx="1248985" cy="12971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415207E-10E1-1938-5D83-47638666D1F3}"/>
                </a:ext>
              </a:extLst>
            </p:cNvPr>
            <p:cNvSpPr/>
            <p:nvPr/>
          </p:nvSpPr>
          <p:spPr>
            <a:xfrm>
              <a:off x="0" y="0"/>
              <a:ext cx="1248985" cy="1297173"/>
            </a:xfrm>
            <a:custGeom>
              <a:avLst/>
              <a:gdLst/>
              <a:ahLst/>
              <a:cxnLst/>
              <a:rect l="l" t="t" r="r" b="b"/>
              <a:pathLst>
                <a:path w="1248985" h="1297173">
                  <a:moveTo>
                    <a:pt x="45711" y="0"/>
                  </a:moveTo>
                  <a:lnTo>
                    <a:pt x="1203274" y="0"/>
                  </a:lnTo>
                  <a:cubicBezTo>
                    <a:pt x="1215397" y="0"/>
                    <a:pt x="1227024" y="4816"/>
                    <a:pt x="1235597" y="13389"/>
                  </a:cubicBezTo>
                  <a:cubicBezTo>
                    <a:pt x="1244169" y="21961"/>
                    <a:pt x="1248985" y="33588"/>
                    <a:pt x="1248985" y="45711"/>
                  </a:cubicBezTo>
                  <a:lnTo>
                    <a:pt x="1248985" y="1251461"/>
                  </a:lnTo>
                  <a:cubicBezTo>
                    <a:pt x="1248985" y="1276707"/>
                    <a:pt x="1228519" y="1297173"/>
                    <a:pt x="1203274" y="1297173"/>
                  </a:cubicBezTo>
                  <a:lnTo>
                    <a:pt x="45711" y="1297173"/>
                  </a:lnTo>
                  <a:cubicBezTo>
                    <a:pt x="33588" y="1297173"/>
                    <a:pt x="21961" y="1292357"/>
                    <a:pt x="13389" y="1283784"/>
                  </a:cubicBezTo>
                  <a:cubicBezTo>
                    <a:pt x="4816" y="1275212"/>
                    <a:pt x="0" y="1263585"/>
                    <a:pt x="0" y="1251461"/>
                  </a:cubicBezTo>
                  <a:lnTo>
                    <a:pt x="0" y="45711"/>
                  </a:lnTo>
                  <a:cubicBezTo>
                    <a:pt x="0" y="33588"/>
                    <a:pt x="4816" y="21961"/>
                    <a:pt x="13389" y="13389"/>
                  </a:cubicBezTo>
                  <a:cubicBezTo>
                    <a:pt x="21961" y="4816"/>
                    <a:pt x="33588" y="0"/>
                    <a:pt x="45711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CD7958E-A488-7E0A-1472-670C7CF8D83B}"/>
                </a:ext>
              </a:extLst>
            </p:cNvPr>
            <p:cNvSpPr txBox="1"/>
            <p:nvPr/>
          </p:nvSpPr>
          <p:spPr>
            <a:xfrm>
              <a:off x="0" y="-38100"/>
              <a:ext cx="1248985" cy="133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AA0DA95-B6D0-2C1E-CD3A-9BD3C8C5E261}"/>
              </a:ext>
            </a:extLst>
          </p:cNvPr>
          <p:cNvGrpSpPr/>
          <p:nvPr/>
        </p:nvGrpSpPr>
        <p:grpSpPr>
          <a:xfrm rot="5400000">
            <a:off x="7080022" y="-3307151"/>
            <a:ext cx="4127957" cy="7135769"/>
            <a:chOff x="0" y="0"/>
            <a:chExt cx="1087198" cy="187938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BE1A2E6-D41E-FE92-8357-9BE98821E239}"/>
                </a:ext>
              </a:extLst>
            </p:cNvPr>
            <p:cNvSpPr/>
            <p:nvPr/>
          </p:nvSpPr>
          <p:spPr>
            <a:xfrm>
              <a:off x="0" y="0"/>
              <a:ext cx="1087198" cy="1879380"/>
            </a:xfrm>
            <a:custGeom>
              <a:avLst/>
              <a:gdLst/>
              <a:ahLst/>
              <a:cxnLst/>
              <a:rect l="l" t="t" r="r" b="b"/>
              <a:pathLst>
                <a:path w="1087198" h="1879380">
                  <a:moveTo>
                    <a:pt x="52514" y="0"/>
                  </a:moveTo>
                  <a:lnTo>
                    <a:pt x="1034685" y="0"/>
                  </a:lnTo>
                  <a:cubicBezTo>
                    <a:pt x="1063687" y="0"/>
                    <a:pt x="1087198" y="23511"/>
                    <a:pt x="1087198" y="52514"/>
                  </a:cubicBezTo>
                  <a:lnTo>
                    <a:pt x="1087198" y="1826866"/>
                  </a:lnTo>
                  <a:cubicBezTo>
                    <a:pt x="1087198" y="1840794"/>
                    <a:pt x="1081666" y="1854151"/>
                    <a:pt x="1071818" y="1863999"/>
                  </a:cubicBezTo>
                  <a:cubicBezTo>
                    <a:pt x="1061969" y="1873847"/>
                    <a:pt x="1048612" y="1879380"/>
                    <a:pt x="1034685" y="1879380"/>
                  </a:cubicBezTo>
                  <a:lnTo>
                    <a:pt x="52514" y="1879380"/>
                  </a:lnTo>
                  <a:cubicBezTo>
                    <a:pt x="23511" y="1879380"/>
                    <a:pt x="0" y="1855869"/>
                    <a:pt x="0" y="1826866"/>
                  </a:cubicBezTo>
                  <a:lnTo>
                    <a:pt x="0" y="52514"/>
                  </a:lnTo>
                  <a:cubicBezTo>
                    <a:pt x="0" y="23511"/>
                    <a:pt x="23511" y="0"/>
                    <a:pt x="52514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4F176DB-414F-A3B7-A370-B175010BD8DF}"/>
                </a:ext>
              </a:extLst>
            </p:cNvPr>
            <p:cNvSpPr txBox="1"/>
            <p:nvPr/>
          </p:nvSpPr>
          <p:spPr>
            <a:xfrm>
              <a:off x="0" y="-38100"/>
              <a:ext cx="1087198" cy="1917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9483075-ED37-EC1E-1833-B3E7F9618E13}"/>
              </a:ext>
            </a:extLst>
          </p:cNvPr>
          <p:cNvSpPr txBox="1"/>
          <p:nvPr/>
        </p:nvSpPr>
        <p:spPr>
          <a:xfrm>
            <a:off x="1478816" y="4235469"/>
            <a:ext cx="4169629" cy="528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sz="2367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Claudio Escobar</a:t>
            </a:r>
          </a:p>
          <a:p>
            <a:r>
              <a:rPr lang="es-MX" sz="2400" dirty="0">
                <a:solidFill>
                  <a:schemeClr val="bg1"/>
                </a:solidFill>
              </a:rPr>
              <a:t>Nuestro proyecto, aparte de ser innovador por implementar diversas tecnologías, permite compensar un problema , que afecta a las comunidades más alejadas. Permitiendo la conectividad de una manera más accesible y de una manera mas acorde a los nuevos tiempos </a:t>
            </a:r>
          </a:p>
          <a:p>
            <a:br>
              <a:rPr lang="es-MX" sz="2400" dirty="0">
                <a:solidFill>
                  <a:schemeClr val="bg1"/>
                </a:solidFill>
              </a:rPr>
            </a:br>
            <a:endParaRPr lang="es-MX" sz="2400" dirty="0">
              <a:solidFill>
                <a:schemeClr val="bg1"/>
              </a:solidFill>
            </a:endParaRPr>
          </a:p>
          <a:p>
            <a:br>
              <a:rPr lang="es-MX" sz="2400" dirty="0"/>
            </a:br>
            <a:endParaRPr lang="en-US" sz="2367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8219D05-6AF0-119B-9414-4C3014F91FA0}"/>
              </a:ext>
            </a:extLst>
          </p:cNvPr>
          <p:cNvSpPr txBox="1"/>
          <p:nvPr/>
        </p:nvSpPr>
        <p:spPr>
          <a:xfrm>
            <a:off x="7059184" y="4255301"/>
            <a:ext cx="4169629" cy="544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</a:rPr>
              <a:t>Carlos De Ferrari</a:t>
            </a:r>
          </a:p>
          <a:p>
            <a:endParaRPr lang="es-MX" sz="2400" dirty="0">
              <a:solidFill>
                <a:schemeClr val="bg1"/>
              </a:solidFill>
            </a:endParaRPr>
          </a:p>
          <a:p>
            <a:r>
              <a:rPr lang="es-MX" sz="2400" dirty="0">
                <a:solidFill>
                  <a:schemeClr val="bg1"/>
                </a:solidFill>
              </a:rPr>
              <a:t>PRAC, se consolida como un proyecto dedicado a situación complejas, lo que permite flexibilizar alternativas en momentos que las conectividades son clave, por lograr algo </a:t>
            </a:r>
            <a:r>
              <a:rPr lang="es-MX" sz="2400" dirty="0" err="1">
                <a:solidFill>
                  <a:schemeClr val="bg1"/>
                </a:solidFill>
              </a:rPr>
              <a:t>asi</a:t>
            </a:r>
            <a:r>
              <a:rPr lang="es-MX" sz="2400" dirty="0">
                <a:solidFill>
                  <a:schemeClr val="bg1"/>
                </a:solidFill>
              </a:rPr>
              <a:t> concluye en un beneficio para la gente y la innovación.</a:t>
            </a:r>
          </a:p>
          <a:p>
            <a:br>
              <a:rPr lang="es-MX" dirty="0"/>
            </a:br>
            <a:endParaRPr lang="es-MX" sz="2400" dirty="0"/>
          </a:p>
          <a:p>
            <a:br>
              <a:rPr lang="es-MX" sz="2400" dirty="0"/>
            </a:br>
            <a:endParaRPr lang="en-US" sz="2367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B971173-0AAB-B399-B58F-E3836FFEFB8E}"/>
              </a:ext>
            </a:extLst>
          </p:cNvPr>
          <p:cNvSpPr txBox="1"/>
          <p:nvPr/>
        </p:nvSpPr>
        <p:spPr>
          <a:xfrm>
            <a:off x="5795706" y="513908"/>
            <a:ext cx="6696587" cy="119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51"/>
              </a:lnSpc>
              <a:spcBef>
                <a:spcPct val="0"/>
              </a:spcBef>
            </a:pPr>
            <a:r>
              <a:rPr lang="en-US" sz="7621" b="1" spc="144" dirty="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Conclusion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504F94ED-1B81-0767-428A-E83ACE710A0C}"/>
              </a:ext>
            </a:extLst>
          </p:cNvPr>
          <p:cNvGrpSpPr/>
          <p:nvPr/>
        </p:nvGrpSpPr>
        <p:grpSpPr>
          <a:xfrm rot="5400000">
            <a:off x="12425579" y="3917342"/>
            <a:ext cx="4742240" cy="4925202"/>
            <a:chOff x="0" y="0"/>
            <a:chExt cx="1248985" cy="129717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334A9C1-C4C5-B88B-094A-FF46FDC53444}"/>
                </a:ext>
              </a:extLst>
            </p:cNvPr>
            <p:cNvSpPr/>
            <p:nvPr/>
          </p:nvSpPr>
          <p:spPr>
            <a:xfrm>
              <a:off x="0" y="0"/>
              <a:ext cx="1248985" cy="1297173"/>
            </a:xfrm>
            <a:custGeom>
              <a:avLst/>
              <a:gdLst/>
              <a:ahLst/>
              <a:cxnLst/>
              <a:rect l="l" t="t" r="r" b="b"/>
              <a:pathLst>
                <a:path w="1248985" h="1297173">
                  <a:moveTo>
                    <a:pt x="45711" y="0"/>
                  </a:moveTo>
                  <a:lnTo>
                    <a:pt x="1203274" y="0"/>
                  </a:lnTo>
                  <a:cubicBezTo>
                    <a:pt x="1215397" y="0"/>
                    <a:pt x="1227024" y="4816"/>
                    <a:pt x="1235597" y="13389"/>
                  </a:cubicBezTo>
                  <a:cubicBezTo>
                    <a:pt x="1244169" y="21961"/>
                    <a:pt x="1248985" y="33588"/>
                    <a:pt x="1248985" y="45711"/>
                  </a:cubicBezTo>
                  <a:lnTo>
                    <a:pt x="1248985" y="1251461"/>
                  </a:lnTo>
                  <a:cubicBezTo>
                    <a:pt x="1248985" y="1276707"/>
                    <a:pt x="1228519" y="1297173"/>
                    <a:pt x="1203274" y="1297173"/>
                  </a:cubicBezTo>
                  <a:lnTo>
                    <a:pt x="45711" y="1297173"/>
                  </a:lnTo>
                  <a:cubicBezTo>
                    <a:pt x="33588" y="1297173"/>
                    <a:pt x="21961" y="1292357"/>
                    <a:pt x="13389" y="1283784"/>
                  </a:cubicBezTo>
                  <a:cubicBezTo>
                    <a:pt x="4816" y="1275212"/>
                    <a:pt x="0" y="1263585"/>
                    <a:pt x="0" y="1251461"/>
                  </a:cubicBezTo>
                  <a:lnTo>
                    <a:pt x="0" y="45711"/>
                  </a:lnTo>
                  <a:cubicBezTo>
                    <a:pt x="0" y="33588"/>
                    <a:pt x="4816" y="21961"/>
                    <a:pt x="13389" y="13389"/>
                  </a:cubicBezTo>
                  <a:cubicBezTo>
                    <a:pt x="21961" y="4816"/>
                    <a:pt x="33588" y="0"/>
                    <a:pt x="45711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D717329-C013-ABAD-A3C2-F4896C0D5F5A}"/>
                </a:ext>
              </a:extLst>
            </p:cNvPr>
            <p:cNvSpPr txBox="1"/>
            <p:nvPr/>
          </p:nvSpPr>
          <p:spPr>
            <a:xfrm>
              <a:off x="0" y="-38100"/>
              <a:ext cx="1248985" cy="133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4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AF1116BD-6D9A-176E-6569-87F6C1FA0780}"/>
              </a:ext>
            </a:extLst>
          </p:cNvPr>
          <p:cNvSpPr txBox="1"/>
          <p:nvPr/>
        </p:nvSpPr>
        <p:spPr>
          <a:xfrm>
            <a:off x="12711884" y="4166484"/>
            <a:ext cx="4169629" cy="4426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</a:rPr>
              <a:t>Renzo </a:t>
            </a:r>
            <a:r>
              <a:rPr lang="es-MX" sz="2400" dirty="0" err="1">
                <a:solidFill>
                  <a:schemeClr val="bg1"/>
                </a:solidFill>
              </a:rPr>
              <a:t>RIos</a:t>
            </a:r>
            <a:endParaRPr lang="es-MX" sz="2400" dirty="0">
              <a:solidFill>
                <a:schemeClr val="bg1"/>
              </a:solidFill>
            </a:endParaRPr>
          </a:p>
          <a:p>
            <a:br>
              <a:rPr lang="es-MX" sz="2400" dirty="0">
                <a:solidFill>
                  <a:schemeClr val="bg1"/>
                </a:solidFill>
              </a:rPr>
            </a:br>
            <a:endParaRPr lang="es-MX" sz="2400" dirty="0">
              <a:solidFill>
                <a:schemeClr val="bg1"/>
              </a:solidFill>
            </a:endParaRPr>
          </a:p>
          <a:p>
            <a:r>
              <a:rPr lang="es-MX" sz="2400" dirty="0">
                <a:solidFill>
                  <a:schemeClr val="bg1"/>
                </a:solidFill>
              </a:rPr>
              <a:t>La integración de </a:t>
            </a:r>
            <a:r>
              <a:rPr lang="es-MX" sz="2400" dirty="0" err="1">
                <a:solidFill>
                  <a:schemeClr val="bg1"/>
                </a:solidFill>
              </a:rPr>
              <a:t>LoRaMesh</a:t>
            </a:r>
            <a:r>
              <a:rPr lang="es-MX" sz="2400" dirty="0">
                <a:solidFill>
                  <a:schemeClr val="bg1"/>
                </a:solidFill>
              </a:rPr>
              <a:t> con una aplicación móvil establece un precedente técnico, ofreciendo una solución innovadora y accesible para la conectividad en comunidades remotas en situación de emergencia</a:t>
            </a:r>
          </a:p>
          <a:p>
            <a:br>
              <a:rPr lang="es-MX" sz="2400" dirty="0"/>
            </a:br>
            <a:endParaRPr lang="en-US" sz="2367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  <p:extLst>
      <p:ext uri="{BB962C8B-B14F-4D97-AF65-F5344CB8AC3E}">
        <p14:creationId xmlns:p14="http://schemas.microsoft.com/office/powerpoint/2010/main" val="21605072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3195769" y="5676900"/>
            <a:ext cx="11896462" cy="2398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69"/>
              </a:lnSpc>
            </a:pPr>
            <a:r>
              <a:rPr lang="en-US" sz="15378" b="1" spc="292" dirty="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GRACIAS</a:t>
            </a:r>
          </a:p>
        </p:txBody>
      </p:sp>
      <p:pic>
        <p:nvPicPr>
          <p:cNvPr id="12" name="Imagen 11" descr="Logotipo&#10;&#10;El contenido generado por IA puede ser incorrecto.">
            <a:extLst>
              <a:ext uri="{FF2B5EF4-FFF2-40B4-BE49-F238E27FC236}">
                <a16:creationId xmlns:a16="http://schemas.microsoft.com/office/drawing/2014/main" id="{53BB645E-B18E-77F2-743E-5B66B24EB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2211738"/>
            <a:ext cx="4113618" cy="34795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1113</Words>
  <Application>Microsoft Office PowerPoint</Application>
  <PresentationFormat>Personalizado</PresentationFormat>
  <Paragraphs>199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58" baseType="lpstr">
      <vt:lpstr>Libre Franklin</vt:lpstr>
      <vt:lpstr>Arial</vt:lpstr>
      <vt:lpstr>Garet Bold</vt:lpstr>
      <vt:lpstr>Calibri</vt:lpstr>
      <vt:lpstr>DM Sans</vt:lpstr>
      <vt:lpstr>Montserrat Bold</vt:lpstr>
      <vt:lpstr>Lazydog</vt:lpstr>
      <vt:lpstr>Poppins</vt:lpstr>
      <vt:lpstr>TT Interphases Bold</vt:lpstr>
      <vt:lpstr>TT Interphases</vt:lpstr>
      <vt:lpstr>Montserrat</vt:lpstr>
      <vt:lpstr>Pattanakarn Expanded</vt:lpstr>
      <vt:lpstr>Muli Heavy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claudio Escobar</cp:lastModifiedBy>
  <cp:revision>9</cp:revision>
  <dcterms:created xsi:type="dcterms:W3CDTF">2006-08-16T00:00:00Z</dcterms:created>
  <dcterms:modified xsi:type="dcterms:W3CDTF">2025-11-27T04:59:08Z</dcterms:modified>
  <dc:identifier>DAG5p1cVP18</dc:identifier>
</cp:coreProperties>
</file>