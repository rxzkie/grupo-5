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iYBDmKVNBR1XZ6/TR5wNnLm1Vr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C0F694-0EAC-4EDA-8326-F1DA52A8C272}">
  <a:tblStyle styleId="{25C0F694-0EAC-4EDA-8326-F1DA52A8C272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7E9EC"/>
          </a:solidFill>
        </a:fill>
      </a:tcStyle>
    </a:band1H>
    <a:band2H>
      <a:tcTxStyle/>
    </a:band2H>
    <a:band1V>
      <a:tcTxStyle/>
      <a:tcStyle>
        <a:fill>
          <a:solidFill>
            <a:srgbClr val="E7E9EC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lay-bold.fntdata"/><Relationship Id="rId14" Type="http://schemas.openxmlformats.org/officeDocument/2006/relationships/slide" Target="slides/slide9.xml"/><Relationship Id="rId36" Type="http://schemas.openxmlformats.org/officeDocument/2006/relationships/font" Target="fonts/Play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oleObject" Target="file:///E:\Escritorio\Nueva%20carpeta%20(2)\BURNDOWN%20CHART%20final,final\Burndown_Sprint0_DIAS.xlsx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oleObject" Target="file:///E:\Escritorio\Nueva%20carpeta%20(2)\BURNDOWN%20CHART%20final,final\Burndown_Sprint1_DIAS.xlsx" TargetMode="External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oleObject" Target="file:///E:\Escritorio\Nueva%20carpeta%20(2)\BURNDOWN%20CHART%20final,final\Burndown_Sprint2_DIAS.xlsx" TargetMode="External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oleObject" Target="file:///E:\Escritorio\Nueva%20carpeta%20(2)\BURNDOWN%20CHART%20final,final\Burndown_Sprint3_DIA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L"/>
              <a:t>Burndown – Sprint 0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Burndown!$E$2</c:f>
              <c:strCache>
                <c:ptCount val="1"/>
                <c:pt idx="0">
                  <c:v>Ideal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Burndown!$A$3:$A$23</c:f>
              <c:numCache>
                <c:formatCode>General</c:formatCod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numCache>
            </c:numRef>
          </c:cat>
          <c:val>
            <c:numRef>
              <c:f>Burndown!$E$3:$E$23</c:f>
              <c:numCache>
                <c:formatCode>General</c:formatCode>
                <c:ptCount val="21"/>
                <c:pt idx="0">
                  <c:v>24</c:v>
                </c:pt>
                <c:pt idx="1">
                  <c:v>22.799999999999997</c:v>
                </c:pt>
                <c:pt idx="2">
                  <c:v>21.6</c:v>
                </c:pt>
                <c:pt idx="3">
                  <c:v>20.399999999999999</c:v>
                </c:pt>
                <c:pt idx="4">
                  <c:v>19.200000000000003</c:v>
                </c:pt>
                <c:pt idx="5">
                  <c:v>18</c:v>
                </c:pt>
                <c:pt idx="6">
                  <c:v>16.799999999999997</c:v>
                </c:pt>
                <c:pt idx="7">
                  <c:v>15.600000000000001</c:v>
                </c:pt>
                <c:pt idx="8">
                  <c:v>14.399999999999999</c:v>
                </c:pt>
                <c:pt idx="9">
                  <c:v>13.200000000000001</c:v>
                </c:pt>
                <c:pt idx="10">
                  <c:v>12</c:v>
                </c:pt>
                <c:pt idx="11">
                  <c:v>10.799999999999999</c:v>
                </c:pt>
                <c:pt idx="12">
                  <c:v>9.6000000000000014</c:v>
                </c:pt>
                <c:pt idx="13">
                  <c:v>8.3999999999999986</c:v>
                </c:pt>
                <c:pt idx="14">
                  <c:v>7.2000000000000011</c:v>
                </c:pt>
                <c:pt idx="15">
                  <c:v>6</c:v>
                </c:pt>
                <c:pt idx="16">
                  <c:v>4.7999999999999989</c:v>
                </c:pt>
                <c:pt idx="17">
                  <c:v>3.6000000000000005</c:v>
                </c:pt>
                <c:pt idx="18">
                  <c:v>2.3999999999999995</c:v>
                </c:pt>
                <c:pt idx="19">
                  <c:v>1.2000000000000011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13-42E5-B23C-103B8588FD7F}"/>
            </c:ext>
          </c:extLst>
        </c:ser>
        <c:ser>
          <c:idx val="1"/>
          <c:order val="1"/>
          <c:tx>
            <c:strRef>
              <c:f>Burndown!$F$2</c:f>
              <c:strCache>
                <c:ptCount val="1"/>
                <c:pt idx="0">
                  <c:v>Real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Burndown!$A$3:$A$23</c:f>
              <c:numCache>
                <c:formatCode>General</c:formatCod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numCache>
            </c:numRef>
          </c:cat>
          <c:val>
            <c:numRef>
              <c:f>Burndown!$F$3:$F$23</c:f>
              <c:numCache>
                <c:formatCode>General</c:formatCode>
                <c:ptCount val="21"/>
                <c:pt idx="0">
                  <c:v>23</c:v>
                </c:pt>
                <c:pt idx="1">
                  <c:v>22</c:v>
                </c:pt>
                <c:pt idx="2">
                  <c:v>21</c:v>
                </c:pt>
                <c:pt idx="3">
                  <c:v>20</c:v>
                </c:pt>
                <c:pt idx="4">
                  <c:v>19</c:v>
                </c:pt>
                <c:pt idx="5">
                  <c:v>19</c:v>
                </c:pt>
                <c:pt idx="6">
                  <c:v>19</c:v>
                </c:pt>
                <c:pt idx="7">
                  <c:v>18</c:v>
                </c:pt>
                <c:pt idx="8">
                  <c:v>17</c:v>
                </c:pt>
                <c:pt idx="9">
                  <c:v>16</c:v>
                </c:pt>
                <c:pt idx="10">
                  <c:v>15</c:v>
                </c:pt>
                <c:pt idx="11">
                  <c:v>14</c:v>
                </c:pt>
                <c:pt idx="12">
                  <c:v>13</c:v>
                </c:pt>
                <c:pt idx="13">
                  <c:v>13</c:v>
                </c:pt>
                <c:pt idx="14">
                  <c:v>12</c:v>
                </c:pt>
                <c:pt idx="15">
                  <c:v>11</c:v>
                </c:pt>
                <c:pt idx="16">
                  <c:v>10</c:v>
                </c:pt>
                <c:pt idx="17">
                  <c:v>9</c:v>
                </c:pt>
                <c:pt idx="18">
                  <c:v>8</c:v>
                </c:pt>
                <c:pt idx="19">
                  <c:v>7</c:v>
                </c:pt>
                <c:pt idx="20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13-42E5-B23C-103B8588FD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Día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Horas restantes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L"/>
              <a:t>Burndown – Sprint 1 – Backend Base (Sem 4–5)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Burndown!$E$2</c:f>
              <c:strCache>
                <c:ptCount val="1"/>
                <c:pt idx="0">
                  <c:v>Ideal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Burndown!$A$3:$A$16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Burndown!$E$3:$E$16</c:f>
              <c:numCache>
                <c:formatCode>General</c:formatCode>
                <c:ptCount val="14"/>
                <c:pt idx="0">
                  <c:v>6</c:v>
                </c:pt>
                <c:pt idx="1">
                  <c:v>5.5384615384615383</c:v>
                </c:pt>
                <c:pt idx="2">
                  <c:v>5.0769230769230766</c:v>
                </c:pt>
                <c:pt idx="3">
                  <c:v>4.615384615384615</c:v>
                </c:pt>
                <c:pt idx="4">
                  <c:v>4.1538461538461533</c:v>
                </c:pt>
                <c:pt idx="5">
                  <c:v>3.6923076923076925</c:v>
                </c:pt>
                <c:pt idx="6">
                  <c:v>3.2307692307692308</c:v>
                </c:pt>
                <c:pt idx="7">
                  <c:v>2.7692307692307692</c:v>
                </c:pt>
                <c:pt idx="8">
                  <c:v>2.3076923076923075</c:v>
                </c:pt>
                <c:pt idx="9">
                  <c:v>1.8461538461538463</c:v>
                </c:pt>
                <c:pt idx="10">
                  <c:v>1.3846153846153844</c:v>
                </c:pt>
                <c:pt idx="11">
                  <c:v>0.92307692307692313</c:v>
                </c:pt>
                <c:pt idx="12">
                  <c:v>0.46153846153846123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7D-4161-A91B-1240F17D0427}"/>
            </c:ext>
          </c:extLst>
        </c:ser>
        <c:ser>
          <c:idx val="1"/>
          <c:order val="1"/>
          <c:tx>
            <c:strRef>
              <c:f>Burndown!$F$2</c:f>
              <c:strCache>
                <c:ptCount val="1"/>
                <c:pt idx="0">
                  <c:v>Real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Burndown!$A$3:$A$16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Burndown!$F$3:$F$16</c:f>
              <c:numCache>
                <c:formatCode>General</c:formatCode>
                <c:ptCount val="14"/>
                <c:pt idx="0">
                  <c:v>6</c:v>
                </c:pt>
                <c:pt idx="1">
                  <c:v>6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7D-4161-A91B-1240F17D04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Día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Horas restantes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L"/>
              <a:t>Burndown – Sprint 2 – Frontend (Sem 6–7)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Burndown!$E$2</c:f>
              <c:strCache>
                <c:ptCount val="1"/>
                <c:pt idx="0">
                  <c:v>Ideal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Burndown!$A$3:$A$16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Burndown!$E$3:$E$16</c:f>
              <c:numCache>
                <c:formatCode>General</c:formatCode>
                <c:ptCount val="14"/>
                <c:pt idx="0">
                  <c:v>65</c:v>
                </c:pt>
                <c:pt idx="1">
                  <c:v>60</c:v>
                </c:pt>
                <c:pt idx="2">
                  <c:v>55</c:v>
                </c:pt>
                <c:pt idx="3">
                  <c:v>49.999999999999993</c:v>
                </c:pt>
                <c:pt idx="4">
                  <c:v>45</c:v>
                </c:pt>
                <c:pt idx="5">
                  <c:v>40</c:v>
                </c:pt>
                <c:pt idx="6">
                  <c:v>35</c:v>
                </c:pt>
                <c:pt idx="7">
                  <c:v>30</c:v>
                </c:pt>
                <c:pt idx="8">
                  <c:v>24.999999999999996</c:v>
                </c:pt>
                <c:pt idx="9">
                  <c:v>20</c:v>
                </c:pt>
                <c:pt idx="10">
                  <c:v>14.999999999999996</c:v>
                </c:pt>
                <c:pt idx="11">
                  <c:v>10</c:v>
                </c:pt>
                <c:pt idx="12">
                  <c:v>4.9999999999999964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61-4EC7-8F37-7924070217BE}"/>
            </c:ext>
          </c:extLst>
        </c:ser>
        <c:ser>
          <c:idx val="1"/>
          <c:order val="1"/>
          <c:tx>
            <c:strRef>
              <c:f>Burndown!$F$2</c:f>
              <c:strCache>
                <c:ptCount val="1"/>
                <c:pt idx="0">
                  <c:v>Real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Burndown!$A$3:$A$16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Burndown!$F$3:$F$16</c:f>
              <c:numCache>
                <c:formatCode>General</c:formatCode>
                <c:ptCount val="14"/>
                <c:pt idx="0">
                  <c:v>62</c:v>
                </c:pt>
                <c:pt idx="1">
                  <c:v>59</c:v>
                </c:pt>
                <c:pt idx="2">
                  <c:v>56</c:v>
                </c:pt>
                <c:pt idx="3">
                  <c:v>56</c:v>
                </c:pt>
                <c:pt idx="4">
                  <c:v>56</c:v>
                </c:pt>
                <c:pt idx="5">
                  <c:v>56</c:v>
                </c:pt>
                <c:pt idx="6">
                  <c:v>56</c:v>
                </c:pt>
                <c:pt idx="7">
                  <c:v>48</c:v>
                </c:pt>
                <c:pt idx="8">
                  <c:v>40</c:v>
                </c:pt>
                <c:pt idx="9">
                  <c:v>32</c:v>
                </c:pt>
                <c:pt idx="10">
                  <c:v>24</c:v>
                </c:pt>
                <c:pt idx="11">
                  <c:v>16</c:v>
                </c:pt>
                <c:pt idx="12">
                  <c:v>8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61-4EC7-8F37-792407021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Día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Horas restantes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L"/>
              <a:t>Burndown – Sprint 3 – Integración (Sem 8–10)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Burndown!$E$2</c:f>
              <c:strCache>
                <c:ptCount val="1"/>
                <c:pt idx="0">
                  <c:v>Ideal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Burndown!$A$3:$A$23</c:f>
              <c:numCache>
                <c:formatCode>General</c:formatCod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numCache>
            </c:numRef>
          </c:cat>
          <c:val>
            <c:numRef>
              <c:f>Burndown!$E$3:$E$23</c:f>
              <c:numCache>
                <c:formatCode>General</c:formatCode>
                <c:ptCount val="21"/>
                <c:pt idx="0">
                  <c:v>55</c:v>
                </c:pt>
                <c:pt idx="1">
                  <c:v>52.25</c:v>
                </c:pt>
                <c:pt idx="2">
                  <c:v>49.5</c:v>
                </c:pt>
                <c:pt idx="3">
                  <c:v>46.75</c:v>
                </c:pt>
                <c:pt idx="4">
                  <c:v>44</c:v>
                </c:pt>
                <c:pt idx="5">
                  <c:v>41.25</c:v>
                </c:pt>
                <c:pt idx="6">
                  <c:v>38.5</c:v>
                </c:pt>
                <c:pt idx="7">
                  <c:v>35.75</c:v>
                </c:pt>
                <c:pt idx="8">
                  <c:v>33</c:v>
                </c:pt>
                <c:pt idx="9">
                  <c:v>30.250000000000004</c:v>
                </c:pt>
                <c:pt idx="10">
                  <c:v>27.5</c:v>
                </c:pt>
                <c:pt idx="11">
                  <c:v>24.749999999999996</c:v>
                </c:pt>
                <c:pt idx="12">
                  <c:v>22</c:v>
                </c:pt>
                <c:pt idx="13">
                  <c:v>19.25</c:v>
                </c:pt>
                <c:pt idx="14">
                  <c:v>16.500000000000004</c:v>
                </c:pt>
                <c:pt idx="15">
                  <c:v>13.75</c:v>
                </c:pt>
                <c:pt idx="16">
                  <c:v>10.999999999999998</c:v>
                </c:pt>
                <c:pt idx="17">
                  <c:v>8.2500000000000018</c:v>
                </c:pt>
                <c:pt idx="18">
                  <c:v>5.4999999999999991</c:v>
                </c:pt>
                <c:pt idx="19">
                  <c:v>2.7500000000000027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61-4C8C-BD69-8D7DC508DDFD}"/>
            </c:ext>
          </c:extLst>
        </c:ser>
        <c:ser>
          <c:idx val="1"/>
          <c:order val="1"/>
          <c:tx>
            <c:strRef>
              <c:f>Burndown!$F$2</c:f>
              <c:strCache>
                <c:ptCount val="1"/>
                <c:pt idx="0">
                  <c:v>Real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Burndown!$A$3:$A$23</c:f>
              <c:numCache>
                <c:formatCode>General</c:formatCod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numCache>
            </c:numRef>
          </c:cat>
          <c:val>
            <c:numRef>
              <c:f>Burndown!$F$3:$F$23</c:f>
              <c:numCache>
                <c:formatCode>General</c:formatCode>
                <c:ptCount val="21"/>
                <c:pt idx="0">
                  <c:v>54</c:v>
                </c:pt>
                <c:pt idx="1">
                  <c:v>53</c:v>
                </c:pt>
                <c:pt idx="2">
                  <c:v>52</c:v>
                </c:pt>
                <c:pt idx="3">
                  <c:v>51</c:v>
                </c:pt>
                <c:pt idx="4">
                  <c:v>50</c:v>
                </c:pt>
                <c:pt idx="5">
                  <c:v>49</c:v>
                </c:pt>
                <c:pt idx="6">
                  <c:v>49</c:v>
                </c:pt>
                <c:pt idx="7">
                  <c:v>43</c:v>
                </c:pt>
                <c:pt idx="8">
                  <c:v>36</c:v>
                </c:pt>
                <c:pt idx="9">
                  <c:v>28</c:v>
                </c:pt>
                <c:pt idx="10">
                  <c:v>21</c:v>
                </c:pt>
                <c:pt idx="11">
                  <c:v>15</c:v>
                </c:pt>
                <c:pt idx="12">
                  <c:v>8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61-4C8C-BD69-8D7DC508DD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Día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Horas restantes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.xml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chart" Target="../charts/chart2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chart" Target="../charts/chart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chart" Target="../charts/chart4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exterior, hombre, viejo, mujer&#10;&#10;El contenido generado por IA puede ser incorrecto." id="84" name="Google Shape;84;p1"/>
          <p:cNvPicPr preferRelativeResize="0"/>
          <p:nvPr/>
        </p:nvPicPr>
        <p:blipFill rotWithShape="1">
          <a:blip r:embed="rId3">
            <a:alphaModFix/>
          </a:blip>
          <a:srcRect b="0" l="38721" r="662" t="0"/>
          <a:stretch/>
        </p:blipFill>
        <p:spPr>
          <a:xfrm>
            <a:off x="20" y="10"/>
            <a:ext cx="7390243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rgbClr val="E97132">
                  <a:alpha val="0"/>
                </a:srgbClr>
              </a:gs>
              <a:gs pos="100000">
                <a:srgbClr val="E97132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 rot="-5400000">
            <a:off x="-1919061" y="1919060"/>
            <a:ext cx="6854280" cy="3016159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rgbClr val="E97132">
                  <a:alpha val="0"/>
                </a:srgbClr>
              </a:gs>
              <a:gs pos="100000">
                <a:srgbClr val="E97132">
                  <a:alpha val="0"/>
                </a:srgbClr>
              </a:gs>
            </a:gsLst>
            <a:lin ang="4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>
            <a:gsLst>
              <a:gs pos="0">
                <a:schemeClr val="accent2"/>
              </a:gs>
              <a:gs pos="51000">
                <a:srgbClr val="D86CCC">
                  <a:alpha val="0"/>
                </a:srgbClr>
              </a:gs>
              <a:gs pos="100000">
                <a:srgbClr val="D86CCC">
                  <a:alpha val="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>
            <p:ph idx="1" type="body"/>
          </p:nvPr>
        </p:nvSpPr>
        <p:spPr>
          <a:xfrm>
            <a:off x="8089122" y="668100"/>
            <a:ext cx="3369234" cy="3447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s-CL" sz="3600"/>
              <a:t>Proyecto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s-CL" sz="3600"/>
              <a:t>P.R.A.C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s-CL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Resiliente de Comunicación y Alerta en Catástrofes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br>
              <a:rPr lang="es-CL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89" name="Google Shape;89;p1"/>
          <p:cNvSpPr/>
          <p:nvPr/>
        </p:nvSpPr>
        <p:spPr>
          <a:xfrm>
            <a:off x="9048910" y="3968496"/>
            <a:ext cx="1667858" cy="179809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49803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Tabla de contenidos</a:t>
            </a:r>
            <a:endParaRPr/>
          </a:p>
        </p:txBody>
      </p:sp>
      <p:graphicFrame>
        <p:nvGraphicFramePr>
          <p:cNvPr id="100" name="Google Shape;100;p2"/>
          <p:cNvGraphicFramePr/>
          <p:nvPr/>
        </p:nvGraphicFramePr>
        <p:xfrm>
          <a:off x="4241442" y="1362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{25C0F694-0EAC-4EDA-8326-F1DA52A8C272}</a:tableStyleId>
              </a:tblPr>
              <a:tblGrid>
                <a:gridCol w="533075"/>
                <a:gridCol w="3935700"/>
                <a:gridCol w="816300"/>
                <a:gridCol w="2415550"/>
              </a:tblGrid>
              <a:tr h="592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Equipo de trabajo y Roles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Product Backlog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592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Contexto del Proyecto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Carta Gantt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592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Problemática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Presupuesto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592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Necesidad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Tablero Kanban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592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Arquitectura del Sistema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11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Sprints de Desarrollo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592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Metodología de Trabajo (Scrum)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12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Demostración del Producto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CL"/>
              <a:t>             Equipo de trabajo- Roles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666705" y="4723473"/>
            <a:ext cx="235610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Renzo Rios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Development Team (DT)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7793729" y="4865523"/>
            <a:ext cx="23561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Carlos De ferrai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 Owner(PO)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4297919" y="4403858"/>
            <a:ext cx="23561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Claudio Escobar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 Master(SM)</a:t>
            </a:r>
            <a:endParaRPr/>
          </a:p>
        </p:txBody>
      </p:sp>
      <p:pic>
        <p:nvPicPr>
          <p:cNvPr descr="Imagen en blanco y negro de un joven con una playera de color negro&#10;&#10;El contenido generado por IA puede ser incorrecto.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353" y="1783987"/>
            <a:ext cx="1657725" cy="2689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8161" y="1690688"/>
            <a:ext cx="1751814" cy="231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10343949" y="0"/>
            <a:ext cx="1848051" cy="6858000"/>
          </a:xfrm>
          <a:prstGeom prst="rect">
            <a:avLst/>
          </a:prstGeom>
          <a:solidFill>
            <a:schemeClr val="accent3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0702123" y="365125"/>
            <a:ext cx="1303354" cy="157641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7950" y="2158490"/>
            <a:ext cx="1751825" cy="2260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>
            <p:ph type="title"/>
          </p:nvPr>
        </p:nvSpPr>
        <p:spPr>
          <a:xfrm>
            <a:off x="1136397" y="502020"/>
            <a:ext cx="5323715" cy="16429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s-CL" sz="4000"/>
              <a:t>Contexto del proyecto </a:t>
            </a:r>
            <a:endParaRPr/>
          </a:p>
        </p:txBody>
      </p:sp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1144923" y="2405894"/>
            <a:ext cx="5315189" cy="353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s-CL" sz="1900">
                <a:latin typeface="Arial"/>
                <a:ea typeface="Arial"/>
                <a:cs typeface="Arial"/>
                <a:sym typeface="Arial"/>
              </a:rPr>
              <a:t>Este proyecto </a:t>
            </a:r>
            <a:r>
              <a:rPr lang="es-CL" sz="1900"/>
              <a:t>está</a:t>
            </a:r>
            <a:r>
              <a:rPr lang="es-CL" sz="1900">
                <a:latin typeface="Arial"/>
                <a:ea typeface="Arial"/>
                <a:cs typeface="Arial"/>
                <a:sym typeface="Arial"/>
              </a:rPr>
              <a:t> enfocado en </a:t>
            </a:r>
            <a:r>
              <a:rPr lang="es-CL" sz="1900"/>
              <a:t>cubrir a </a:t>
            </a:r>
            <a:r>
              <a:rPr lang="es-CL" sz="1900">
                <a:latin typeface="Arial"/>
                <a:ea typeface="Arial"/>
                <a:cs typeface="Arial"/>
                <a:sym typeface="Arial"/>
              </a:rPr>
              <a:t>Chile </a:t>
            </a:r>
            <a:r>
              <a:rPr lang="es-CL" sz="1900"/>
              <a:t>que es</a:t>
            </a:r>
            <a:r>
              <a:rPr lang="es-CL" sz="1900">
                <a:latin typeface="Arial"/>
                <a:ea typeface="Arial"/>
                <a:cs typeface="Arial"/>
                <a:sym typeface="Arial"/>
              </a:rPr>
              <a:t> un país altamente expuesto a fenómenos naturales debido a su geografía y diversidad climática. A lo largo de su territorio ocurren con frecuencia sismos, erupciones volcánicas, aluviones, temporales y marejadas, lo que genera un escenario de constante riesgo para la población y equi</a:t>
            </a:r>
            <a:r>
              <a:rPr lang="es-CL" sz="1900"/>
              <a:t>pos de emergencia y </a:t>
            </a:r>
            <a:r>
              <a:rPr lang="es-CL" sz="1900">
                <a:latin typeface="Arial"/>
                <a:ea typeface="Arial"/>
                <a:cs typeface="Arial"/>
                <a:sym typeface="Arial"/>
              </a:rPr>
              <a:t>. Esta realidad exige una preparación continua y sistemas de información confiables que permitan fortalecer la resiliencia frente a emergencias y desastres.</a:t>
            </a:r>
            <a:endParaRPr/>
          </a:p>
          <a:p>
            <a:pPr indent="-1079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  <p:sp>
        <p:nvSpPr>
          <p:cNvPr id="121" name="Google Shape;121;p4"/>
          <p:cNvSpPr/>
          <p:nvPr/>
        </p:nvSpPr>
        <p:spPr>
          <a:xfrm flipH="1" rot="10800000">
            <a:off x="8123333" y="-5"/>
            <a:ext cx="4092521" cy="6858000"/>
          </a:xfrm>
          <a:prstGeom prst="rect">
            <a:avLst/>
          </a:prstGeom>
          <a:gradFill>
            <a:gsLst>
              <a:gs pos="0">
                <a:srgbClr val="000000">
                  <a:alpha val="93725"/>
                </a:srgbClr>
              </a:gs>
              <a:gs pos="8000">
                <a:srgbClr val="000000">
                  <a:alpha val="93725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 flipH="1" rot="10800000">
            <a:off x="8123333" y="-2"/>
            <a:ext cx="4092521" cy="6400369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31000">
                <a:srgbClr val="0A3041">
                  <a:alpha val="0"/>
                </a:srgbClr>
              </a:gs>
              <a:gs pos="100000">
                <a:srgbClr val="0A3041">
                  <a:alpha val="25882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 flipH="1" rot="10800000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72000">
                <a:srgbClr val="000000">
                  <a:alpha val="20784"/>
                </a:srgbClr>
              </a:gs>
              <a:gs pos="100000">
                <a:srgbClr val="000000">
                  <a:alpha val="20784"/>
                </a:srgbClr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 flipH="1" rot="10800000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93000">
                <a:srgbClr val="000000">
                  <a:alpha val="28627"/>
                </a:srgbClr>
              </a:gs>
              <a:gs pos="100000">
                <a:srgbClr val="000000">
                  <a:alpha val="28627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tabla, hombre, sostener, pantalla&#10;&#10;El contenido generado por IA puede ser incorrecto.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5967" y="2053032"/>
            <a:ext cx="4170530" cy="2783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s-CL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PROBLEMATICA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135" name="Google Shape;135;p5"/>
          <p:cNvGrpSpPr/>
          <p:nvPr/>
        </p:nvGrpSpPr>
        <p:grpSpPr>
          <a:xfrm>
            <a:off x="644056" y="2112579"/>
            <a:ext cx="10927828" cy="4192804"/>
            <a:chOff x="0" y="0"/>
            <a:chExt cx="10927828" cy="4192804"/>
          </a:xfrm>
        </p:grpSpPr>
        <p:sp>
          <p:nvSpPr>
            <p:cNvPr id="136" name="Google Shape;136;p5"/>
            <p:cNvSpPr/>
            <p:nvPr/>
          </p:nvSpPr>
          <p:spPr>
            <a:xfrm>
              <a:off x="0" y="0"/>
              <a:ext cx="9288654" cy="1886762"/>
            </a:xfrm>
            <a:prstGeom prst="roundRect">
              <a:avLst>
                <a:gd fmla="val 10000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5"/>
            <p:cNvSpPr txBox="1"/>
            <p:nvPr/>
          </p:nvSpPr>
          <p:spPr>
            <a:xfrm>
              <a:off x="55261" y="55261"/>
              <a:ext cx="7338539" cy="177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Arial"/>
                <a:buNone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 problema principal que enfrenta este proyecto está relacionado con la falta de comunicación confiable durante catástrofes naturales en Chile. Este desafío surge porque, ante emergencias como sismos, tsunamis, aluviones o erupciones volcánicas, suelen producirse cortes de electricidad, internet y telefonía móvil, dejando a comunidades enteras incomunicadas.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1639174" y="2306042"/>
              <a:ext cx="9288654" cy="1886762"/>
            </a:xfrm>
            <a:prstGeom prst="roundRect">
              <a:avLst>
                <a:gd fmla="val 10000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1694435" y="2361303"/>
              <a:ext cx="6312562" cy="177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Arial"/>
                <a:buNone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Además, la dependencia de los sistemas de alerta oficiales, que requieren infraestructura activa, compromete la rapidez y alcance de la información crítica, lo que puede generar descoordinación, retrasos en la respuesta y mayor vulnerabilidad para la población afectada.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062259" y="1483204"/>
              <a:ext cx="1226395" cy="1226395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AD1D8">
                <a:alpha val="89803"/>
              </a:srgbClr>
            </a:solidFill>
            <a:ln cap="flat" cmpd="sng" w="19050">
              <a:solidFill>
                <a:srgbClr val="CAD1D8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8338198" y="1483204"/>
              <a:ext cx="674517" cy="92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5"/>
          <p:cNvSpPr/>
          <p:nvPr/>
        </p:nvSpPr>
        <p:spPr>
          <a:xfrm>
            <a:off x="10763943" y="-16450"/>
            <a:ext cx="1303354" cy="157641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669" y="2755712"/>
            <a:ext cx="4626700" cy="257711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10590207" y="39431"/>
            <a:ext cx="1303354" cy="157641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>
            <p:ph type="title"/>
          </p:nvPr>
        </p:nvSpPr>
        <p:spPr>
          <a:xfrm>
            <a:off x="198120" y="324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CL"/>
              <a:t>                                   Necesidad</a:t>
            </a:r>
            <a:endParaRPr/>
          </a:p>
        </p:txBody>
      </p:sp>
      <p:grpSp>
        <p:nvGrpSpPr>
          <p:cNvPr id="150" name="Google Shape;150;p6"/>
          <p:cNvGrpSpPr/>
          <p:nvPr/>
        </p:nvGrpSpPr>
        <p:grpSpPr>
          <a:xfrm>
            <a:off x="5455920" y="1792343"/>
            <a:ext cx="5372501" cy="3686401"/>
            <a:chOff x="0" y="141958"/>
            <a:chExt cx="5372501" cy="3686401"/>
          </a:xfrm>
        </p:grpSpPr>
        <p:sp>
          <p:nvSpPr>
            <p:cNvPr id="151" name="Google Shape;151;p6"/>
            <p:cNvSpPr/>
            <p:nvPr/>
          </p:nvSpPr>
          <p:spPr>
            <a:xfrm>
              <a:off x="0" y="141958"/>
              <a:ext cx="5372501" cy="1198080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58485" y="200443"/>
              <a:ext cx="5255531" cy="108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👤 </a:t>
              </a:r>
              <a:r>
                <a:rPr b="1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Ciudadano / Usuario:</a:t>
              </a:r>
              <a:b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Necesita recibir alertas confiables sin conexión para proteger a su familia.</a:t>
              </a:r>
              <a:b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➡️ </a:t>
              </a:r>
              <a:r>
                <a:rPr b="0" i="1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Comunicación oportuna ante emergencias.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0" y="1386119"/>
              <a:ext cx="5372501" cy="1198080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58485" y="1444604"/>
              <a:ext cx="5255531" cy="108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🏛️ </a:t>
              </a:r>
              <a:r>
                <a:rPr b="1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Autoridad / Administrador:</a:t>
              </a:r>
              <a:b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Requiere centralizar reportes y difundir información oficial.</a:t>
              </a:r>
              <a:b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➡️ </a:t>
              </a:r>
              <a:r>
                <a:rPr b="0" i="1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Gestión y coordinación eficiente en tiempo real.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0" y="2630279"/>
              <a:ext cx="5372501" cy="1198080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58485" y="2688764"/>
              <a:ext cx="5255531" cy="108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👪 </a:t>
              </a:r>
              <a:r>
                <a:rPr b="1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Familiares a Distancia:</a:t>
              </a:r>
              <a:b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Buscan comunicarse con seres queridos sin conectividad.</a:t>
              </a:r>
              <a:b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➡️ </a:t>
              </a:r>
              <a:r>
                <a:rPr b="0" i="1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Reducción de incertidumbre y conexión familiar en crisis.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 flipH="1" rot="10800000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0784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arquitectura</a:t>
            </a:r>
            <a:endParaRPr/>
          </a:p>
        </p:txBody>
      </p:sp>
      <p:pic>
        <p:nvPicPr>
          <p:cNvPr id="166" name="Google Shape;166;p7" title="Diagrama en blanco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4282" y="1966293"/>
            <a:ext cx="10116151" cy="445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metodologia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177" name="Google Shape;177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542" y="2259164"/>
            <a:ext cx="7536582" cy="435351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10483905" y="1622745"/>
            <a:ext cx="1303354" cy="157641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 flipH="1" rot="10800000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0784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 txBox="1"/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Product Backlog</a:t>
            </a:r>
            <a:endParaRPr/>
          </a:p>
        </p:txBody>
      </p:sp>
      <p:pic>
        <p:nvPicPr>
          <p:cNvPr id="188" name="Google Shape;188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745" y="1908976"/>
            <a:ext cx="11294688" cy="407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/>
          <p:nvPr/>
        </p:nvSpPr>
        <p:spPr>
          <a:xfrm>
            <a:off x="10590207" y="39431"/>
            <a:ext cx="1303354" cy="157641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>
            <p:ph type="title"/>
          </p:nvPr>
        </p:nvSpPr>
        <p:spPr>
          <a:xfrm>
            <a:off x="1277112" y="175294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CL"/>
              <a:t>Carta Gantt</a:t>
            </a:r>
            <a:endParaRPr/>
          </a:p>
        </p:txBody>
      </p:sp>
      <p:pic>
        <p:nvPicPr>
          <p:cNvPr descr="Imagen que contiene interior, tabla, verde, cocina&#10;&#10;El contenido generado por IA puede ser incorrecto." id="195" name="Google Shape;195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739" y="365125"/>
            <a:ext cx="8881197" cy="637628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0"/>
          <p:cNvSpPr/>
          <p:nvPr/>
        </p:nvSpPr>
        <p:spPr>
          <a:xfrm>
            <a:off x="10158308" y="0"/>
            <a:ext cx="2033691" cy="6858000"/>
          </a:xfrm>
          <a:prstGeom prst="rect">
            <a:avLst/>
          </a:prstGeom>
          <a:gradFill>
            <a:gsLst>
              <a:gs pos="0">
                <a:srgbClr val="9BB29C"/>
              </a:gs>
              <a:gs pos="50000">
                <a:srgbClr val="8EA78F"/>
              </a:gs>
              <a:gs pos="100000">
                <a:srgbClr val="799A7B"/>
              </a:gs>
            </a:gsLst>
            <a:lin ang="5400000" scaled="0"/>
          </a:gra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10560907" y="270826"/>
            <a:ext cx="1303354" cy="157641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>
            <p:ph type="title"/>
          </p:nvPr>
        </p:nvSpPr>
        <p:spPr>
          <a:xfrm>
            <a:off x="198120" y="324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CL"/>
              <a:t>                          Presupuesto</a:t>
            </a:r>
            <a:endParaRPr/>
          </a:p>
        </p:txBody>
      </p:sp>
      <p:pic>
        <p:nvPicPr>
          <p:cNvPr id="203" name="Google Shape;203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861" y="1650385"/>
            <a:ext cx="8188099" cy="477220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1"/>
          <p:cNvSpPr/>
          <p:nvPr/>
        </p:nvSpPr>
        <p:spPr>
          <a:xfrm>
            <a:off x="10343949" y="0"/>
            <a:ext cx="1848051" cy="6858000"/>
          </a:xfrm>
          <a:prstGeom prst="rect">
            <a:avLst/>
          </a:prstGeom>
          <a:solidFill>
            <a:schemeClr val="accent3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0616297" y="148076"/>
            <a:ext cx="1303354" cy="157641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1428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12"/>
          <p:cNvGrpSpPr/>
          <p:nvPr/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12" name="Google Shape;212;p12"/>
            <p:cNvSpPr/>
            <p:nvPr/>
          </p:nvSpPr>
          <p:spPr>
            <a:xfrm flipH="1" rot="10800000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5686"/>
                  </a:srgbClr>
                </a:gs>
                <a:gs pos="100000">
                  <a:srgbClr val="0F4861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2"/>
            <p:cNvSpPr/>
            <p:nvPr/>
          </p:nvSpPr>
          <p:spPr>
            <a:xfrm rot="-54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0">
                  <a:srgbClr val="156082">
                    <a:alpha val="0"/>
                  </a:srgbClr>
                </a:gs>
                <a:gs pos="45000">
                  <a:srgbClr val="156082">
                    <a:alpha val="0"/>
                  </a:srgbClr>
                </a:gs>
                <a:gs pos="99000">
                  <a:srgbClr val="000000">
                    <a:alpha val="73725"/>
                  </a:srgbClr>
                </a:gs>
                <a:gs pos="100000">
                  <a:srgbClr val="000000">
                    <a:alpha val="73725"/>
                  </a:srgbClr>
                </a:gs>
              </a:gsLst>
              <a:lin ang="11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2"/>
            <p:cNvSpPr/>
            <p:nvPr/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rgbClr val="156082">
                    <a:alpha val="16862"/>
                  </a:srgbClr>
                </a:gs>
                <a:gs pos="74000">
                  <a:srgbClr val="0A3041">
                    <a:alpha val="0"/>
                  </a:srgbClr>
                </a:gs>
                <a:gs pos="100000">
                  <a:srgbClr val="0A3041">
                    <a:alpha val="0"/>
                  </a:srgbClr>
                </a:gs>
              </a:gsLst>
              <a:lin ang="14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12"/>
          <p:cNvSpPr txBox="1"/>
          <p:nvPr>
            <p:ph type="title"/>
          </p:nvPr>
        </p:nvSpPr>
        <p:spPr>
          <a:xfrm>
            <a:off x="1371598" y="319314"/>
            <a:ext cx="9477377" cy="1030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Tablero kanban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descr="Interfaz de usuario gráfica, Aplicación&#10;&#10;El contenido generado por IA puede ser incorrecto." id="216" name="Google Shape;2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591" y="1575461"/>
            <a:ext cx="11100818" cy="52451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orreo electrónico, Teams&#10;&#10;El contenido generado por IA puede ser incorrecto." id="217" name="Google Shape;21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4914" y="5084106"/>
            <a:ext cx="4600354" cy="1357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b="0" i="0" lang="es-CL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Sprint 0 – Fase 1: Planificación y Setup</a:t>
            </a:r>
            <a:endParaRPr b="0" i="0" sz="44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>
            <a:off x="1614041" y="1839428"/>
            <a:ext cx="10515600" cy="4867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Semanas 1–3</a:t>
            </a:r>
            <a:br>
              <a:rPr b="0" i="0" lang="es-C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C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Planificación, estructura base y entorno.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s-C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 : Preparar el entorno de desarrollo, definir la estructura del proyecto, roles del equipo y los lineamientos técnicos iniciales.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Tareas relevantes 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2971800" y="4708842"/>
            <a:ext cx="2532888" cy="1709928"/>
          </a:xfrm>
          <a:prstGeom prst="ellipse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00" scaled="0"/>
          </a:gra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Configuración de entorno Flutter y dependencias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095995" y="4699381"/>
            <a:ext cx="2395728" cy="1609979"/>
          </a:xfrm>
          <a:prstGeom prst="ellipse">
            <a:avLst/>
          </a:prstGeom>
          <a:gradFill>
            <a:gsLst>
              <a:gs pos="0">
                <a:srgbClr val="9BB29C"/>
              </a:gs>
              <a:gs pos="50000">
                <a:srgbClr val="8EA78F"/>
              </a:gs>
              <a:gs pos="100000">
                <a:srgbClr val="799A7B"/>
              </a:gs>
            </a:gsLst>
            <a:lin ang="5400000" scaled="0"/>
          </a:gra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Estructuración del proyecto</a:t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9003787" y="4818253"/>
            <a:ext cx="2075688" cy="1491107"/>
          </a:xfrm>
          <a:prstGeom prst="ellipse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00" scaled="0"/>
          </a:gra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Definición de roles y ceremonias Scrum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10546228" y="55644"/>
            <a:ext cx="1376578" cy="155760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 flipH="1" rot="10800000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0784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4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4"/>
          <p:cNvSpPr txBox="1"/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Sprint 0 backlog</a:t>
            </a:r>
            <a:endParaRPr/>
          </a:p>
        </p:txBody>
      </p:sp>
      <p:pic>
        <p:nvPicPr>
          <p:cNvPr id="240" name="Google Shape;240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225" y="2974206"/>
            <a:ext cx="11754614" cy="235092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4"/>
          <p:cNvSpPr/>
          <p:nvPr/>
        </p:nvSpPr>
        <p:spPr>
          <a:xfrm>
            <a:off x="10828255" y="230194"/>
            <a:ext cx="962692" cy="1113919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5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5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5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5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Sprint 0 Burndown chart</a:t>
            </a:r>
            <a:endParaRPr/>
          </a:p>
        </p:txBody>
      </p:sp>
      <p:graphicFrame>
        <p:nvGraphicFramePr>
          <p:cNvPr id="252" name="Google Shape;252;p15"/>
          <p:cNvGraphicFramePr/>
          <p:nvPr/>
        </p:nvGraphicFramePr>
        <p:xfrm>
          <a:off x="283464" y="1853275"/>
          <a:ext cx="11567160" cy="4395951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53" name="Google Shape;253;p15"/>
          <p:cNvSpPr/>
          <p:nvPr/>
        </p:nvSpPr>
        <p:spPr>
          <a:xfrm>
            <a:off x="10706412" y="1590741"/>
            <a:ext cx="1376578" cy="155760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6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6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6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Sprint 0 impediment log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264" name="Google Shape;2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2545" y="1802034"/>
            <a:ext cx="8106906" cy="4563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CL"/>
              <a:t>Sprint 1 – Backend Base (API REST + DB)</a:t>
            </a:r>
            <a:endParaRPr/>
          </a:p>
        </p:txBody>
      </p:sp>
      <p:sp>
        <p:nvSpPr>
          <p:cNvPr id="270" name="Google Shape;270;p17"/>
          <p:cNvSpPr txBox="1"/>
          <p:nvPr>
            <p:ph idx="1" type="body"/>
          </p:nvPr>
        </p:nvSpPr>
        <p:spPr>
          <a:xfrm>
            <a:off x="838200" y="1825625"/>
            <a:ext cx="10515600" cy="4799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Semanas 4–5</a:t>
            </a:r>
            <a:br>
              <a:rPr lang="es-CL"/>
            </a:br>
            <a:r>
              <a:rPr lang="es-CL"/>
              <a:t>Implementar backend y DB local.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Descripcion: Se implementará una API REST con endpoints CRUD para administrar alertas, permitiendo su integración con otras aplicaciones y garantizando respuestas en formato JSON.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Tareas relevantes :</a:t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2066544" y="5278311"/>
            <a:ext cx="2194560" cy="1079627"/>
          </a:xfrm>
          <a:prstGeom prst="ellipse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00" scaled="0"/>
          </a:gra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del modelo de datos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5074920" y="5278311"/>
            <a:ext cx="2286000" cy="1079627"/>
          </a:xfrm>
          <a:prstGeom prst="ellipse">
            <a:avLst/>
          </a:prstGeom>
          <a:gradFill>
            <a:gsLst>
              <a:gs pos="0">
                <a:srgbClr val="9BB29C"/>
              </a:gs>
              <a:gs pos="50000">
                <a:srgbClr val="8EA78F"/>
              </a:gs>
              <a:gs pos="100000">
                <a:srgbClr val="799A7B"/>
              </a:gs>
            </a:gsLst>
            <a:lin ang="5400000" scaled="0"/>
          </a:gra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Configurar conexión con base de datos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8074152" y="5278310"/>
            <a:ext cx="2286000" cy="1079627"/>
          </a:xfrm>
          <a:prstGeom prst="ellipse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00" scaled="0"/>
          </a:gra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Seguridad y autenticación básica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8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8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8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8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Sprint 1 backlog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284" name="Google Shape;284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577" y="3234088"/>
            <a:ext cx="11776842" cy="1489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9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9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9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9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Sprint 1 Burndown chart</a:t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10706412" y="1590741"/>
            <a:ext cx="1376578" cy="155760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6" name="Google Shape;296;p19"/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0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0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0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Sprint 1 impediment log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307" name="Google Shape;307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591" y="1891970"/>
            <a:ext cx="9347573" cy="4678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1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1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1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1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CL" sz="4000">
                <a:solidFill>
                  <a:schemeClr val="lt1"/>
                </a:solidFill>
              </a:rPr>
              <a:t>Sprint 2 – Frontend Móvil (App Base)</a:t>
            </a:r>
            <a:endParaRPr/>
          </a:p>
        </p:txBody>
      </p:sp>
      <p:sp>
        <p:nvSpPr>
          <p:cNvPr id="318" name="Google Shape;318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CL" sz="2000"/>
              <a:t>Semanas 6–7</a:t>
            </a:r>
            <a:br>
              <a:rPr lang="es-CL" sz="2000"/>
            </a:br>
            <a:r>
              <a:rPr lang="es-CL" sz="2000"/>
              <a:t>Diseñar e implementar la interfaz.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CL" sz="2000"/>
              <a:t>Descripcion: Las tareas de Riverpod, LoginPage, HomePage y estado de sesión reflejan el entregable del “frontend base conectado al backend”.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CL" sz="2000"/>
              <a:t>Historias de usuario: Necesito que el sistema funcione online y offline (LoRa Mesh).</a:t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2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2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2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2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Sprint 2 backlog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329" name="Google Shape;329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598" y="3349242"/>
            <a:ext cx="11538799" cy="1003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3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3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3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3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Sprint 2 Burndown chart</a:t>
            </a:r>
            <a:endParaRPr/>
          </a:p>
        </p:txBody>
      </p:sp>
      <p:sp>
        <p:nvSpPr>
          <p:cNvPr id="340" name="Google Shape;340;p23"/>
          <p:cNvSpPr/>
          <p:nvPr/>
        </p:nvSpPr>
        <p:spPr>
          <a:xfrm>
            <a:off x="10706412" y="1590741"/>
            <a:ext cx="1376578" cy="155760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1" name="Google Shape;341;p23"/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4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4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4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4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Sprint 2 impediment log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352" name="Google Shape;3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599" y="1885279"/>
            <a:ext cx="9175107" cy="4678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CL"/>
              <a:t>Sprint 3 – Integración LoRa Mesh / BLE</a:t>
            </a:r>
            <a:endParaRPr/>
          </a:p>
        </p:txBody>
      </p:sp>
      <p:sp>
        <p:nvSpPr>
          <p:cNvPr id="358" name="Google Shape;358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Semana 8-9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integración LoRa Mesh / 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Descripcion : Implementar la </a:t>
            </a:r>
            <a:r>
              <a:rPr b="1" lang="es-CL"/>
              <a:t>conectividad local y mensajería offline</a:t>
            </a:r>
            <a:r>
              <a:rPr lang="es-CL"/>
              <a:t> utilizando tecnologías </a:t>
            </a:r>
            <a:r>
              <a:rPr b="1" lang="es-CL"/>
              <a:t>LoRa Mesh</a:t>
            </a:r>
            <a:r>
              <a:rPr lang="es-CL"/>
              <a:t> y </a:t>
            </a:r>
            <a:r>
              <a:rPr b="1" lang="es-CL"/>
              <a:t>Bluetooth Low Energy (BLE)</a:t>
            </a:r>
            <a:r>
              <a:rPr lang="es-CL"/>
              <a:t>,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/>
              <a:t>Historias de usuario:Necesito comunicarme con mis seres queridos en zonas afectadas.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6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6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6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Sprint 3 backlog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369" name="Google Shape;369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83" y="3199720"/>
            <a:ext cx="11860830" cy="1027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7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7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7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7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7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Sprint 3 Burndown chart</a:t>
            </a:r>
            <a:endParaRPr/>
          </a:p>
        </p:txBody>
      </p:sp>
      <p:sp>
        <p:nvSpPr>
          <p:cNvPr id="380" name="Google Shape;380;p27"/>
          <p:cNvSpPr/>
          <p:nvPr/>
        </p:nvSpPr>
        <p:spPr>
          <a:xfrm>
            <a:off x="10706412" y="1590741"/>
            <a:ext cx="1376578" cy="1557603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1" name="Google Shape;381;p27"/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8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8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8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8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CL" sz="4000">
                <a:solidFill>
                  <a:srgbClr val="FFFFFF"/>
                </a:solidFill>
              </a:rPr>
              <a:t>Sprint 3 impediment log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392" name="Google Shape;39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043" y="1748942"/>
            <a:ext cx="10097909" cy="4944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CL"/>
              <a:t>                         Demostración </a:t>
            </a:r>
            <a:endParaRPr/>
          </a:p>
        </p:txBody>
      </p:sp>
      <p:sp>
        <p:nvSpPr>
          <p:cNvPr id="398" name="Google Shape;398;p29"/>
          <p:cNvSpPr/>
          <p:nvPr/>
        </p:nvSpPr>
        <p:spPr>
          <a:xfrm>
            <a:off x="4077012" y="2151531"/>
            <a:ext cx="2360364" cy="2792680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10343949" y="0"/>
            <a:ext cx="1848051" cy="6858000"/>
          </a:xfrm>
          <a:prstGeom prst="rect">
            <a:avLst/>
          </a:prstGeom>
          <a:solidFill>
            <a:schemeClr val="accent3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10661601" y="242533"/>
            <a:ext cx="1384398" cy="1448155"/>
          </a:xfrm>
          <a:custGeom>
            <a:rect b="b" l="l" r="r" t="t"/>
            <a:pathLst>
              <a:path extrusionOk="0" h="2727833" w="2202872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0"/>
          <p:cNvSpPr/>
          <p:nvPr/>
        </p:nvSpPr>
        <p:spPr>
          <a:xfrm>
            <a:off x="3474359" y="583345"/>
            <a:ext cx="139039" cy="13903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0"/>
          <p:cNvSpPr/>
          <p:nvPr/>
        </p:nvSpPr>
        <p:spPr>
          <a:xfrm>
            <a:off x="3833139" y="812640"/>
            <a:ext cx="91138" cy="91138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0"/>
          <p:cNvSpPr/>
          <p:nvPr/>
        </p:nvSpPr>
        <p:spPr>
          <a:xfrm>
            <a:off x="3458819" y="1037066"/>
            <a:ext cx="127714" cy="127714"/>
          </a:xfrm>
          <a:custGeom>
            <a:rect b="b" l="l" r="r" t="t"/>
            <a:pathLst>
              <a:path extrusionOk="0" h="127714" w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30"/>
          <p:cNvCxnSpPr/>
          <p:nvPr/>
        </p:nvCxnSpPr>
        <p:spPr>
          <a:xfrm>
            <a:off x="856114" y="3503032"/>
            <a:ext cx="0" cy="3346090"/>
          </a:xfrm>
          <a:prstGeom prst="straightConnector1">
            <a:avLst/>
          </a:prstGeom>
          <a:noFill/>
          <a:ln cap="sq" cmpd="sng" w="254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410" name="Google Shape;410;p30"/>
          <p:cNvSpPr/>
          <p:nvPr/>
        </p:nvSpPr>
        <p:spPr>
          <a:xfrm>
            <a:off x="10836425" y="5636680"/>
            <a:ext cx="151536" cy="151536"/>
          </a:xfrm>
          <a:custGeom>
            <a:rect b="b" l="l" r="r" t="t"/>
            <a:pathLst>
              <a:path extrusionOk="0" h="151536" w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0"/>
          <p:cNvSpPr/>
          <p:nvPr/>
        </p:nvSpPr>
        <p:spPr>
          <a:xfrm>
            <a:off x="11245175" y="6096759"/>
            <a:ext cx="108625" cy="108625"/>
          </a:xfrm>
          <a:custGeom>
            <a:rect b="b" l="l" r="r" t="t"/>
            <a:pathLst>
              <a:path extrusionOk="0" h="108625" w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10554288" y="6238029"/>
            <a:ext cx="95759" cy="95759"/>
          </a:xfrm>
          <a:custGeom>
            <a:rect b="b" l="l" r="r" t="t"/>
            <a:pathLst>
              <a:path extrusionOk="0" h="95759" w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0"/>
          <p:cNvSpPr txBox="1"/>
          <p:nvPr>
            <p:ph type="title"/>
          </p:nvPr>
        </p:nvSpPr>
        <p:spPr>
          <a:xfrm>
            <a:off x="729575" y="338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s-CL">
                <a:solidFill>
                  <a:schemeClr val="lt1"/>
                </a:solidFill>
              </a:rPr>
              <a:t>Conclusión</a:t>
            </a:r>
            <a:endParaRPr/>
          </a:p>
        </p:txBody>
      </p:sp>
      <p:sp>
        <p:nvSpPr>
          <p:cNvPr id="414" name="Google Shape;414;p30"/>
          <p:cNvSpPr txBox="1"/>
          <p:nvPr/>
        </p:nvSpPr>
        <p:spPr>
          <a:xfrm>
            <a:off x="1408176" y="2048256"/>
            <a:ext cx="28163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Carlos de ferrari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0"/>
          <p:cNvSpPr txBox="1"/>
          <p:nvPr/>
        </p:nvSpPr>
        <p:spPr>
          <a:xfrm>
            <a:off x="4700016" y="2130552"/>
            <a:ext cx="28164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Claudio Escobar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Nuestro proyecto, aparte de ser innovador por implementar diversas tecnologías, permite compensar un problema , que afecta a las comunidades </a:t>
            </a:r>
            <a:r>
              <a:rPr lang="es-CL" sz="1800">
                <a:solidFill>
                  <a:schemeClr val="lt1"/>
                </a:solidFill>
              </a:rPr>
              <a:t>más</a:t>
            </a: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alejadas. Permitiendo la conectividad de una manera </a:t>
            </a:r>
            <a:r>
              <a:rPr lang="es-CL" sz="1800">
                <a:solidFill>
                  <a:schemeClr val="lt1"/>
                </a:solidFill>
              </a:rPr>
              <a:t>más</a:t>
            </a: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accesible y de una manera mas acorde a los nuevos tiempos </a:t>
            </a:r>
            <a:endParaRPr/>
          </a:p>
        </p:txBody>
      </p:sp>
      <p:sp>
        <p:nvSpPr>
          <p:cNvPr id="416" name="Google Shape;416;p30"/>
          <p:cNvSpPr txBox="1"/>
          <p:nvPr/>
        </p:nvSpPr>
        <p:spPr>
          <a:xfrm>
            <a:off x="8314465" y="2130542"/>
            <a:ext cx="281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Renzo </a:t>
            </a:r>
            <a:r>
              <a:rPr lang="es-CL" sz="1800">
                <a:solidFill>
                  <a:schemeClr val="lt1"/>
                </a:solidFill>
              </a:rPr>
              <a:t>RIos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0"/>
          <p:cNvSpPr txBox="1"/>
          <p:nvPr/>
        </p:nvSpPr>
        <p:spPr>
          <a:xfrm>
            <a:off x="1266850" y="2650950"/>
            <a:ext cx="2816400" cy="3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PRAC, se consolida como un proyecto dedicado a </a:t>
            </a:r>
            <a:r>
              <a:rPr lang="es-CL" sz="1800">
                <a:solidFill>
                  <a:schemeClr val="lt1"/>
                </a:solidFill>
              </a:rPr>
              <a:t>situación</a:t>
            </a:r>
            <a:r>
              <a:rPr lang="es-CL" sz="1800">
                <a:solidFill>
                  <a:schemeClr val="lt1"/>
                </a:solidFill>
              </a:rPr>
              <a:t> complejas, lo que permite flexibilizar alternativas en momentos que las conectividades son clave, por lograr algo asi concluye en un beneficio para la gente y la </a:t>
            </a:r>
            <a:r>
              <a:rPr lang="es-CL" sz="1800">
                <a:solidFill>
                  <a:schemeClr val="lt1"/>
                </a:solidFill>
              </a:rPr>
              <a:t>innovación</a:t>
            </a:r>
            <a:r>
              <a:rPr lang="es-CL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18" name="Google Shape;418;p30"/>
          <p:cNvSpPr txBox="1"/>
          <p:nvPr/>
        </p:nvSpPr>
        <p:spPr>
          <a:xfrm>
            <a:off x="8314450" y="2534000"/>
            <a:ext cx="2816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800">
                <a:solidFill>
                  <a:schemeClr val="lt1"/>
                </a:solidFill>
              </a:rPr>
              <a:t>La integración de LoRaMesh con una </a:t>
            </a:r>
            <a:r>
              <a:rPr lang="es-CL" sz="1800">
                <a:solidFill>
                  <a:schemeClr val="lt1"/>
                </a:solidFill>
              </a:rPr>
              <a:t>aplicación</a:t>
            </a:r>
            <a:r>
              <a:rPr lang="es-CL" sz="1800">
                <a:solidFill>
                  <a:schemeClr val="lt1"/>
                </a:solidFill>
              </a:rPr>
              <a:t> </a:t>
            </a:r>
            <a:r>
              <a:rPr lang="es-CL" sz="1800">
                <a:solidFill>
                  <a:schemeClr val="lt1"/>
                </a:solidFill>
              </a:rPr>
              <a:t>móvil</a:t>
            </a:r>
            <a:r>
              <a:rPr lang="es-CL" sz="1800">
                <a:solidFill>
                  <a:schemeClr val="lt1"/>
                </a:solidFill>
              </a:rPr>
              <a:t> establece un precedente técnico, ofreciendo una solución innovadora y accesible para la conectividad en comunidades remotas en </a:t>
            </a:r>
            <a:r>
              <a:rPr lang="es-CL" sz="1800">
                <a:solidFill>
                  <a:schemeClr val="lt1"/>
                </a:solidFill>
              </a:rPr>
              <a:t>situación</a:t>
            </a:r>
            <a:r>
              <a:rPr lang="es-CL" sz="1800">
                <a:solidFill>
                  <a:schemeClr val="lt1"/>
                </a:solidFill>
              </a:rPr>
              <a:t> de emergencia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2025-10-16T01:58:34Z</dcterms:created>
  <dc:creator>claudio Escobar</dc:creator>
</cp:coreProperties>
</file>