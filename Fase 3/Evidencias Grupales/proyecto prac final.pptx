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10287000" cx="18288000"/>
  <p:notesSz cx="6858000" cy="9144000"/>
  <p:embeddedFontLst>
    <p:embeddedFont>
      <p:font typeface="Libre Franklin"/>
      <p:regular r:id="rId49"/>
      <p:bold r:id="rId50"/>
      <p:italic r:id="rId51"/>
      <p:boldItalic r:id="rId52"/>
    </p:embeddedFont>
    <p:embeddedFont>
      <p:font typeface="Inter"/>
      <p:bold r:id="rId53"/>
      <p:boldItalic r:id="rId54"/>
    </p:embeddedFont>
    <p:embeddedFont>
      <p:font typeface="Montserrat"/>
      <p:regular r:id="rId55"/>
      <p:bold r:id="rId56"/>
      <p:italic r:id="rId57"/>
      <p:boldItalic r:id="rId58"/>
    </p:embeddedFont>
    <p:embeddedFont>
      <p:font typeface="Poppins"/>
      <p:regular r:id="rId59"/>
      <p:bold r:id="rId60"/>
      <p:italic r:id="rId61"/>
      <p:boldItalic r:id="rId62"/>
    </p:embeddedFont>
    <p:embeddedFont>
      <p:font typeface="DM Sans"/>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7" roundtripDataSignature="AMtx7miYhtxwZNg2gCJNs19b3vTFh6WW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LibreFranklin-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oppins-boldItalic.fntdata"/><Relationship Id="rId61" Type="http://schemas.openxmlformats.org/officeDocument/2006/relationships/font" Target="fonts/Poppins-italic.fntdata"/><Relationship Id="rId20" Type="http://schemas.openxmlformats.org/officeDocument/2006/relationships/slide" Target="slides/slide15.xml"/><Relationship Id="rId64" Type="http://schemas.openxmlformats.org/officeDocument/2006/relationships/font" Target="fonts/DMSans-bold.fntdata"/><Relationship Id="rId63" Type="http://schemas.openxmlformats.org/officeDocument/2006/relationships/font" Target="fonts/DMSans-regular.fntdata"/><Relationship Id="rId22" Type="http://schemas.openxmlformats.org/officeDocument/2006/relationships/slide" Target="slides/slide17.xml"/><Relationship Id="rId66" Type="http://schemas.openxmlformats.org/officeDocument/2006/relationships/font" Target="fonts/DMSans-boldItalic.fntdata"/><Relationship Id="rId21" Type="http://schemas.openxmlformats.org/officeDocument/2006/relationships/slide" Target="slides/slide16.xml"/><Relationship Id="rId65" Type="http://schemas.openxmlformats.org/officeDocument/2006/relationships/font" Target="fonts/DMSans-italic.fntdata"/><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font" Target="fonts/Poppi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ibreFranklin-italic.fntdata"/><Relationship Id="rId50" Type="http://schemas.openxmlformats.org/officeDocument/2006/relationships/font" Target="fonts/LibreFranklin-bold.fntdata"/><Relationship Id="rId53" Type="http://schemas.openxmlformats.org/officeDocument/2006/relationships/font" Target="fonts/Inter-bold.fntdata"/><Relationship Id="rId52" Type="http://schemas.openxmlformats.org/officeDocument/2006/relationships/font" Target="fonts/LibreFranklin-boldItalic.fntdata"/><Relationship Id="rId11" Type="http://schemas.openxmlformats.org/officeDocument/2006/relationships/slide" Target="slides/slide6.xml"/><Relationship Id="rId55" Type="http://schemas.openxmlformats.org/officeDocument/2006/relationships/font" Target="fonts/Montserrat-regular.fntdata"/><Relationship Id="rId10" Type="http://schemas.openxmlformats.org/officeDocument/2006/relationships/slide" Target="slides/slide5.xml"/><Relationship Id="rId54" Type="http://schemas.openxmlformats.org/officeDocument/2006/relationships/font" Target="fonts/Inter-boldItalic.fntdata"/><Relationship Id="rId13" Type="http://schemas.openxmlformats.org/officeDocument/2006/relationships/slide" Target="slides/slide8.xml"/><Relationship Id="rId57" Type="http://schemas.openxmlformats.org/officeDocument/2006/relationships/font" Target="fonts/Montserrat-italic.fntdata"/><Relationship Id="rId12" Type="http://schemas.openxmlformats.org/officeDocument/2006/relationships/slide" Target="slides/slide7.xml"/><Relationship Id="rId56" Type="http://schemas.openxmlformats.org/officeDocument/2006/relationships/font" Target="fonts/Montserrat-bold.fntdata"/><Relationship Id="rId15" Type="http://schemas.openxmlformats.org/officeDocument/2006/relationships/slide" Target="slides/slide10.xml"/><Relationship Id="rId59" Type="http://schemas.openxmlformats.org/officeDocument/2006/relationships/font" Target="fonts/Poppins-regular.fntdata"/><Relationship Id="rId14" Type="http://schemas.openxmlformats.org/officeDocument/2006/relationships/slide" Target="slides/slide9.xml"/><Relationship Id="rId58"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oleObject" Target="file:///E:\Escritorio\evudencias\BURNDOWN%20CHART%20final,final\Burndown_Sprint4_DI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Escritorio\evudencias\BURNDOWN%20CHART%20final,final\Burndown_Sprint5_DI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CL"/>
              <a:t>Burndown – Sprint 4 – Integración (Sem 11–13)</a:t>
            </a:r>
          </a:p>
        </c:rich>
      </c:tx>
      <c:overlay val="0"/>
    </c:title>
    <c:autoTitleDeleted val="0"/>
    <c:plotArea>
      <c:layout/>
      <c:lineChart>
        <c:grouping val="standard"/>
        <c:varyColors val="0"/>
        <c:ser>
          <c:idx val="0"/>
          <c:order val="0"/>
          <c:tx>
            <c:strRef>
              <c:f>Burndown!$E$2</c:f>
              <c:strCache>
                <c:ptCount val="1"/>
                <c:pt idx="0">
                  <c:v>Ideal restante</c:v>
                </c:pt>
              </c:strCache>
            </c:strRef>
          </c:tx>
          <c:spPr>
            <a:ln>
              <a:prstDash val="solid"/>
            </a:ln>
          </c:spPr>
          <c:marker>
            <c:symbol val="none"/>
          </c:marker>
          <c:cat>
            <c:numRef>
              <c:f>Burndown!$A$3:$A$16</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Burndown!$E$3:$E$16</c:f>
              <c:numCache>
                <c:formatCode>General</c:formatCode>
                <c:ptCount val="14"/>
                <c:pt idx="0">
                  <c:v>30</c:v>
                </c:pt>
                <c:pt idx="1">
                  <c:v>27.7</c:v>
                </c:pt>
                <c:pt idx="2">
                  <c:v>25.4</c:v>
                </c:pt>
                <c:pt idx="3">
                  <c:v>23.1</c:v>
                </c:pt>
                <c:pt idx="4">
                  <c:v>20.8</c:v>
                </c:pt>
                <c:pt idx="5">
                  <c:v>18.5</c:v>
                </c:pt>
                <c:pt idx="6">
                  <c:v>16.2</c:v>
                </c:pt>
                <c:pt idx="7">
                  <c:v>13.9</c:v>
                </c:pt>
                <c:pt idx="8">
                  <c:v>11.6</c:v>
                </c:pt>
                <c:pt idx="9">
                  <c:v>9.3000000000000007</c:v>
                </c:pt>
                <c:pt idx="10">
                  <c:v>7</c:v>
                </c:pt>
                <c:pt idx="11">
                  <c:v>4.7</c:v>
                </c:pt>
                <c:pt idx="12">
                  <c:v>2.4</c:v>
                </c:pt>
                <c:pt idx="13">
                  <c:v>0</c:v>
                </c:pt>
              </c:numCache>
            </c:numRef>
          </c:val>
          <c:smooth val="0"/>
          <c:extLst>
            <c:ext xmlns:c16="http://schemas.microsoft.com/office/drawing/2014/chart" uri="{C3380CC4-5D6E-409C-BE32-E72D297353CC}">
              <c16:uniqueId val="{00000000-6544-4759-B38D-5D24CD2D7AEC}"/>
            </c:ext>
          </c:extLst>
        </c:ser>
        <c:ser>
          <c:idx val="1"/>
          <c:order val="1"/>
          <c:tx>
            <c:strRef>
              <c:f>Burndown!$F$2</c:f>
              <c:strCache>
                <c:ptCount val="1"/>
                <c:pt idx="0">
                  <c:v>Real restante</c:v>
                </c:pt>
              </c:strCache>
            </c:strRef>
          </c:tx>
          <c:spPr>
            <a:ln>
              <a:prstDash val="solid"/>
            </a:ln>
          </c:spPr>
          <c:marker>
            <c:symbol val="none"/>
          </c:marker>
          <c:cat>
            <c:numRef>
              <c:f>Burndown!$A$3:$A$16</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Burndown!$F$3:$F$16</c:f>
              <c:numCache>
                <c:formatCode>General</c:formatCode>
                <c:ptCount val="14"/>
                <c:pt idx="0">
                  <c:v>30</c:v>
                </c:pt>
                <c:pt idx="1">
                  <c:v>29</c:v>
                </c:pt>
                <c:pt idx="2">
                  <c:v>28</c:v>
                </c:pt>
                <c:pt idx="3">
                  <c:v>27</c:v>
                </c:pt>
                <c:pt idx="4">
                  <c:v>25</c:v>
                </c:pt>
                <c:pt idx="5">
                  <c:v>23</c:v>
                </c:pt>
                <c:pt idx="6">
                  <c:v>21</c:v>
                </c:pt>
                <c:pt idx="7">
                  <c:v>18</c:v>
                </c:pt>
                <c:pt idx="8">
                  <c:v>14</c:v>
                </c:pt>
                <c:pt idx="9">
                  <c:v>10</c:v>
                </c:pt>
                <c:pt idx="10">
                  <c:v>7</c:v>
                </c:pt>
                <c:pt idx="11">
                  <c:v>4</c:v>
                </c:pt>
                <c:pt idx="12">
                  <c:v>2</c:v>
                </c:pt>
                <c:pt idx="13">
                  <c:v>0</c:v>
                </c:pt>
              </c:numCache>
            </c:numRef>
          </c:val>
          <c:smooth val="0"/>
          <c:extLst>
            <c:ext xmlns:c16="http://schemas.microsoft.com/office/drawing/2014/chart" uri="{C3380CC4-5D6E-409C-BE32-E72D297353CC}">
              <c16:uniqueId val="{00000001-6544-4759-B38D-5D24CD2D7AEC}"/>
            </c:ext>
          </c:extLst>
        </c:ser>
        <c:dLbls>
          <c:showLegendKey val="0"/>
          <c:showVal val="0"/>
          <c:showCatName val="0"/>
          <c:showSerName val="0"/>
          <c:showPercent val="0"/>
          <c:showBubbleSize val="0"/>
        </c:dLbls>
        <c:smooth val="0"/>
        <c:axId val="10"/>
        <c:axId val="100"/>
      </c:lineChart>
      <c:catAx>
        <c:axId val="10"/>
        <c:scaling>
          <c:orientation val="minMax"/>
        </c:scaling>
        <c:delete val="0"/>
        <c:axPos val="b"/>
        <c:title>
          <c:tx>
            <c:rich>
              <a:bodyPr/>
              <a:lstStyle/>
              <a:p>
                <a:pPr>
                  <a:defRPr/>
                </a:pPr>
                <a:r>
                  <a:rPr lang="es-CL"/>
                  <a:t>Día</a:t>
                </a:r>
              </a:p>
            </c:rich>
          </c:tx>
          <c:overlay val="0"/>
        </c:title>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title>
          <c:tx>
            <c:rich>
              <a:bodyPr/>
              <a:lstStyle/>
              <a:p>
                <a:pPr>
                  <a:defRPr/>
                </a:pPr>
                <a:r>
                  <a:rPr lang="es-CL"/>
                  <a:t>Horas restantes</a:t>
                </a:r>
              </a:p>
            </c:rich>
          </c:tx>
          <c:overlay val="0"/>
        </c:title>
        <c:numFmt formatCode="General" sourceLinked="1"/>
        <c:majorTickMark val="none"/>
        <c:minorTickMark val="none"/>
        <c:tickLblPos val="nextTo"/>
        <c:crossAx val="10"/>
        <c:crosses val="autoZero"/>
        <c:crossBetween val="between"/>
      </c:val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CL"/>
              <a:t>Burndown – Sprint 5 – Pruebas finales (Sem 14-16)</a:t>
            </a:r>
          </a:p>
        </c:rich>
      </c:tx>
      <c:overlay val="0"/>
    </c:title>
    <c:autoTitleDeleted val="0"/>
    <c:plotArea>
      <c:layout/>
      <c:lineChart>
        <c:grouping val="standard"/>
        <c:varyColors val="0"/>
        <c:ser>
          <c:idx val="0"/>
          <c:order val="0"/>
          <c:tx>
            <c:strRef>
              <c:f>Burndown!$E$2</c:f>
              <c:strCache>
                <c:ptCount val="1"/>
                <c:pt idx="0">
                  <c:v>Ideal restante</c:v>
                </c:pt>
              </c:strCache>
            </c:strRef>
          </c:tx>
          <c:spPr>
            <a:ln>
              <a:prstDash val="solid"/>
            </a:ln>
          </c:spPr>
          <c:marker>
            <c:symbol val="none"/>
          </c:marker>
          <c:cat>
            <c:numRef>
              <c:f>Burndown!$A$3:$A$16</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Burndown!$E$3:$E$16</c:f>
              <c:numCache>
                <c:formatCode>General</c:formatCode>
                <c:ptCount val="14"/>
                <c:pt idx="0">
                  <c:v>30</c:v>
                </c:pt>
                <c:pt idx="1">
                  <c:v>27.7</c:v>
                </c:pt>
                <c:pt idx="2">
                  <c:v>25.4</c:v>
                </c:pt>
                <c:pt idx="3">
                  <c:v>23.1</c:v>
                </c:pt>
                <c:pt idx="4">
                  <c:v>20.8</c:v>
                </c:pt>
                <c:pt idx="5">
                  <c:v>18.5</c:v>
                </c:pt>
                <c:pt idx="6">
                  <c:v>16.2</c:v>
                </c:pt>
                <c:pt idx="7">
                  <c:v>13.9</c:v>
                </c:pt>
                <c:pt idx="8">
                  <c:v>11.6</c:v>
                </c:pt>
                <c:pt idx="9">
                  <c:v>9.3000000000000007</c:v>
                </c:pt>
                <c:pt idx="10">
                  <c:v>7</c:v>
                </c:pt>
                <c:pt idx="11">
                  <c:v>4.7</c:v>
                </c:pt>
                <c:pt idx="12">
                  <c:v>2.4</c:v>
                </c:pt>
                <c:pt idx="13">
                  <c:v>0</c:v>
                </c:pt>
              </c:numCache>
            </c:numRef>
          </c:val>
          <c:smooth val="0"/>
          <c:extLst>
            <c:ext xmlns:c16="http://schemas.microsoft.com/office/drawing/2014/chart" uri="{C3380CC4-5D6E-409C-BE32-E72D297353CC}">
              <c16:uniqueId val="{00000000-9B21-4E81-BB67-508CE650EE69}"/>
            </c:ext>
          </c:extLst>
        </c:ser>
        <c:ser>
          <c:idx val="1"/>
          <c:order val="1"/>
          <c:tx>
            <c:strRef>
              <c:f>Burndown!$F$2</c:f>
              <c:strCache>
                <c:ptCount val="1"/>
                <c:pt idx="0">
                  <c:v>Real restante</c:v>
                </c:pt>
              </c:strCache>
            </c:strRef>
          </c:tx>
          <c:spPr>
            <a:ln>
              <a:prstDash val="solid"/>
            </a:ln>
          </c:spPr>
          <c:marker>
            <c:symbol val="none"/>
          </c:marker>
          <c:cat>
            <c:numRef>
              <c:f>Burndown!$A$3:$A$16</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Burndown!$F$3:$F$16</c:f>
              <c:numCache>
                <c:formatCode>General</c:formatCode>
                <c:ptCount val="14"/>
                <c:pt idx="0">
                  <c:v>30</c:v>
                </c:pt>
                <c:pt idx="1">
                  <c:v>30</c:v>
                </c:pt>
                <c:pt idx="2">
                  <c:v>29</c:v>
                </c:pt>
                <c:pt idx="3">
                  <c:v>28</c:v>
                </c:pt>
                <c:pt idx="4">
                  <c:v>27</c:v>
                </c:pt>
                <c:pt idx="5">
                  <c:v>25</c:v>
                </c:pt>
                <c:pt idx="6">
                  <c:v>24</c:v>
                </c:pt>
                <c:pt idx="7">
                  <c:v>21</c:v>
                </c:pt>
                <c:pt idx="8">
                  <c:v>18</c:v>
                </c:pt>
                <c:pt idx="9">
                  <c:v>15</c:v>
                </c:pt>
                <c:pt idx="10">
                  <c:v>12</c:v>
                </c:pt>
                <c:pt idx="11">
                  <c:v>8</c:v>
                </c:pt>
                <c:pt idx="12">
                  <c:v>3</c:v>
                </c:pt>
                <c:pt idx="13">
                  <c:v>0</c:v>
                </c:pt>
              </c:numCache>
            </c:numRef>
          </c:val>
          <c:smooth val="0"/>
          <c:extLst>
            <c:ext xmlns:c16="http://schemas.microsoft.com/office/drawing/2014/chart" uri="{C3380CC4-5D6E-409C-BE32-E72D297353CC}">
              <c16:uniqueId val="{00000001-9B21-4E81-BB67-508CE650EE69}"/>
            </c:ext>
          </c:extLst>
        </c:ser>
        <c:dLbls>
          <c:showLegendKey val="0"/>
          <c:showVal val="0"/>
          <c:showCatName val="0"/>
          <c:showSerName val="0"/>
          <c:showPercent val="0"/>
          <c:showBubbleSize val="0"/>
        </c:dLbls>
        <c:smooth val="0"/>
        <c:axId val="10"/>
        <c:axId val="100"/>
      </c:lineChart>
      <c:catAx>
        <c:axId val="10"/>
        <c:scaling>
          <c:orientation val="minMax"/>
        </c:scaling>
        <c:delete val="0"/>
        <c:axPos val="b"/>
        <c:title>
          <c:tx>
            <c:rich>
              <a:bodyPr/>
              <a:lstStyle/>
              <a:p>
                <a:pPr>
                  <a:defRPr/>
                </a:pPr>
                <a:r>
                  <a:rPr lang="es-CL"/>
                  <a:t>Día</a:t>
                </a:r>
              </a:p>
            </c:rich>
          </c:tx>
          <c:overlay val="0"/>
        </c:title>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title>
          <c:tx>
            <c:rich>
              <a:bodyPr/>
              <a:lstStyle/>
              <a:p>
                <a:pPr>
                  <a:defRPr/>
                </a:pPr>
                <a:r>
                  <a:rPr lang="es-CL"/>
                  <a:t>Horas restantes</a:t>
                </a:r>
              </a:p>
            </c:rich>
          </c:tx>
          <c:overlay val="0"/>
        </c:title>
        <c:numFmt formatCode="General" sourceLinked="1"/>
        <c:majorTickMark val="none"/>
        <c:minorTickMark val="none"/>
        <c:tickLblPos val="nextTo"/>
        <c:crossAx val="10"/>
        <c:crosses val="autoZero"/>
        <c:crossBetween val="between"/>
      </c:valAx>
    </c:plotArea>
    <c:legend>
      <c:legendPos val="r"/>
      <c:overlay val="0"/>
    </c:legend>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p:nvPr>
            <p:ph idx="2" type="pic"/>
          </p:nvPr>
        </p:nvSpPr>
        <p:spPr>
          <a:xfrm>
            <a:off x="1792288" y="612775"/>
            <a:ext cx="5486400" cy="4114800"/>
          </a:xfrm>
          <a:prstGeom prst="rect">
            <a:avLst/>
          </a:prstGeom>
          <a:noFill/>
          <a:ln>
            <a:noFill/>
          </a:ln>
        </p:spPr>
      </p:sp>
      <p:sp>
        <p:nvSpPr>
          <p:cNvPr id="64" name="Google Shape;64;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7.jp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0.jp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0.jp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0.jp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7.jp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7.jp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7.jp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33.png"/><Relationship Id="rId5"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7.jp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7.jp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40.png"/><Relationship Id="rId5"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42.png"/><Relationship Id="rId5"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7.jp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image" Target="../media/image45.png"/><Relationship Id="rId5"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chart" Target="../charts/char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47.png"/><Relationship Id="rId5"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7.jpg"/><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7.png"/><Relationship Id="rId4" Type="http://schemas.openxmlformats.org/officeDocument/2006/relationships/image" Target="../media/image53.png"/><Relationship Id="rId5" Type="http://schemas.openxmlformats.org/officeDocument/2006/relationships/image" Target="../media/image52.png"/><Relationship Id="rId6" Type="http://schemas.openxmlformats.org/officeDocument/2006/relationships/image" Target="../media/image54.png"/><Relationship Id="rId7" Type="http://schemas.openxmlformats.org/officeDocument/2006/relationships/image" Target="../media/image5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7.jp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7.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2286" y="0"/>
            <a:ext cx="18283428" cy="1028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n que contiene exterior, hombre, viejo, mujer&#10;&#10;El contenido generado por IA puede ser incorrecto." id="85" name="Google Shape;85;p1"/>
          <p:cNvPicPr preferRelativeResize="0"/>
          <p:nvPr/>
        </p:nvPicPr>
        <p:blipFill rotWithShape="1">
          <a:blip r:embed="rId3">
            <a:alphaModFix amt="50000"/>
          </a:blip>
          <a:srcRect b="0" l="0" r="0" t="19"/>
          <a:stretch/>
        </p:blipFill>
        <p:spPr>
          <a:xfrm>
            <a:off x="20" y="1923"/>
            <a:ext cx="18287980" cy="10285077"/>
          </a:xfrm>
          <a:prstGeom prst="rect">
            <a:avLst/>
          </a:prstGeom>
          <a:noFill/>
          <a:ln>
            <a:noFill/>
          </a:ln>
        </p:spPr>
      </p:pic>
      <p:grpSp>
        <p:nvGrpSpPr>
          <p:cNvPr id="86" name="Google Shape;86;p1"/>
          <p:cNvGrpSpPr/>
          <p:nvPr/>
        </p:nvGrpSpPr>
        <p:grpSpPr>
          <a:xfrm rot="5400000">
            <a:off x="5092491" y="-5002600"/>
            <a:ext cx="8247675" cy="20883726"/>
            <a:chOff x="0" y="-38100"/>
            <a:chExt cx="2016434" cy="5500241"/>
          </a:xfrm>
        </p:grpSpPr>
        <p:sp>
          <p:nvSpPr>
            <p:cNvPr id="87" name="Google Shape;87;p1"/>
            <p:cNvSpPr/>
            <p:nvPr/>
          </p:nvSpPr>
          <p:spPr>
            <a:xfrm>
              <a:off x="0" y="0"/>
              <a:ext cx="2016434" cy="5462141"/>
            </a:xfrm>
            <a:custGeom>
              <a:rect b="b" l="l" r="r" t="t"/>
              <a:pathLst>
                <a:path extrusionOk="0" h="5462141" w="2016434">
                  <a:moveTo>
                    <a:pt x="28314" y="0"/>
                  </a:moveTo>
                  <a:lnTo>
                    <a:pt x="1988121" y="0"/>
                  </a:lnTo>
                  <a:cubicBezTo>
                    <a:pt x="1995630" y="0"/>
                    <a:pt x="2002832" y="2983"/>
                    <a:pt x="2008142" y="8293"/>
                  </a:cubicBezTo>
                  <a:cubicBezTo>
                    <a:pt x="2013452" y="13603"/>
                    <a:pt x="2016434" y="20804"/>
                    <a:pt x="2016434" y="28314"/>
                  </a:cubicBezTo>
                  <a:lnTo>
                    <a:pt x="2016434" y="5433827"/>
                  </a:lnTo>
                  <a:cubicBezTo>
                    <a:pt x="2016434" y="5441336"/>
                    <a:pt x="2013452" y="5448538"/>
                    <a:pt x="2008142" y="5453848"/>
                  </a:cubicBezTo>
                  <a:cubicBezTo>
                    <a:pt x="2002832" y="5459157"/>
                    <a:pt x="1995630" y="5462141"/>
                    <a:pt x="1988121" y="5462141"/>
                  </a:cubicBezTo>
                  <a:lnTo>
                    <a:pt x="28314" y="5462141"/>
                  </a:lnTo>
                  <a:cubicBezTo>
                    <a:pt x="20804" y="5462141"/>
                    <a:pt x="13603" y="5459157"/>
                    <a:pt x="8293" y="5453848"/>
                  </a:cubicBezTo>
                  <a:cubicBezTo>
                    <a:pt x="2983" y="5448538"/>
                    <a:pt x="0" y="5441336"/>
                    <a:pt x="0" y="5433827"/>
                  </a:cubicBezTo>
                  <a:lnTo>
                    <a:pt x="0" y="28314"/>
                  </a:lnTo>
                  <a:cubicBezTo>
                    <a:pt x="0" y="20804"/>
                    <a:pt x="2983" y="13603"/>
                    <a:pt x="8293" y="8293"/>
                  </a:cubicBezTo>
                  <a:cubicBezTo>
                    <a:pt x="13603" y="2983"/>
                    <a:pt x="20804" y="0"/>
                    <a:pt x="28314"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1"/>
            <p:cNvSpPr txBox="1"/>
            <p:nvPr/>
          </p:nvSpPr>
          <p:spPr>
            <a:xfrm>
              <a:off x="0" y="-38100"/>
              <a:ext cx="2016434" cy="550024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9" name="Google Shape;89;p1"/>
          <p:cNvSpPr txBox="1"/>
          <p:nvPr/>
        </p:nvSpPr>
        <p:spPr>
          <a:xfrm>
            <a:off x="3195782" y="4470969"/>
            <a:ext cx="11896500" cy="1354500"/>
          </a:xfrm>
          <a:prstGeom prst="rect">
            <a:avLst/>
          </a:prstGeom>
          <a:noFill/>
          <a:ln>
            <a:noFill/>
          </a:ln>
        </p:spPr>
        <p:txBody>
          <a:bodyPr anchorCtr="0" anchor="t" bIns="0" lIns="0" spcFirstLastPara="1" rIns="0" wrap="square" tIns="0">
            <a:spAutoFit/>
          </a:bodyPr>
          <a:lstStyle/>
          <a:p>
            <a:pPr indent="0" lvl="0" marL="0" marR="0" rtl="0" algn="ctr">
              <a:lnSpc>
                <a:spcPct val="216693"/>
              </a:lnSpc>
              <a:spcBef>
                <a:spcPts val="0"/>
              </a:spcBef>
              <a:spcAft>
                <a:spcPts val="0"/>
              </a:spcAft>
              <a:buNone/>
            </a:pPr>
            <a:r>
              <a:rPr b="1" lang="es-MX" sz="8800">
                <a:solidFill>
                  <a:srgbClr val="FFFFFF"/>
                </a:solidFill>
                <a:latin typeface="Arial"/>
                <a:ea typeface="Arial"/>
                <a:cs typeface="Arial"/>
                <a:sym typeface="Arial"/>
              </a:rPr>
              <a:t>PROYECTO P.R.A.C</a:t>
            </a:r>
            <a:endParaRPr/>
          </a:p>
        </p:txBody>
      </p:sp>
      <p:sp>
        <p:nvSpPr>
          <p:cNvPr id="90" name="Google Shape;90;p1"/>
          <p:cNvSpPr txBox="1"/>
          <p:nvPr/>
        </p:nvSpPr>
        <p:spPr>
          <a:xfrm>
            <a:off x="4557021" y="8097981"/>
            <a:ext cx="8305800" cy="1049711"/>
          </a:xfrm>
          <a:prstGeom prst="rect">
            <a:avLst/>
          </a:prstGeom>
          <a:noFill/>
          <a:ln>
            <a:noFill/>
          </a:ln>
        </p:spPr>
        <p:txBody>
          <a:bodyPr anchorCtr="0" anchor="t" bIns="0" lIns="0" spcFirstLastPara="1" rIns="0" wrap="square" tIns="0">
            <a:spAutoFit/>
          </a:bodyPr>
          <a:lstStyle/>
          <a:p>
            <a:pPr indent="0" lvl="0" marL="0" marR="0" rtl="0" algn="ctr">
              <a:lnSpc>
                <a:spcPct val="140079"/>
              </a:lnSpc>
              <a:spcBef>
                <a:spcPts val="0"/>
              </a:spcBef>
              <a:spcAft>
                <a:spcPts val="0"/>
              </a:spcAft>
              <a:buNone/>
            </a:pPr>
            <a:r>
              <a:rPr b="1" lang="es-MX" sz="2021">
                <a:solidFill>
                  <a:schemeClr val="lt1"/>
                </a:solidFill>
                <a:latin typeface="Inter"/>
                <a:ea typeface="Inter"/>
                <a:cs typeface="Inter"/>
                <a:sym typeface="Inter"/>
              </a:rPr>
              <a:t>Carlos de Ferrari </a:t>
            </a:r>
            <a:endParaRPr b="1" sz="2021">
              <a:solidFill>
                <a:schemeClr val="lt1"/>
              </a:solidFill>
              <a:latin typeface="Inter"/>
              <a:ea typeface="Inter"/>
              <a:cs typeface="Inter"/>
              <a:sym typeface="Inter"/>
            </a:endParaRPr>
          </a:p>
          <a:p>
            <a:pPr indent="0" lvl="0" marL="0" marR="0" rtl="0" algn="ctr">
              <a:lnSpc>
                <a:spcPct val="140079"/>
              </a:lnSpc>
              <a:spcBef>
                <a:spcPts val="0"/>
              </a:spcBef>
              <a:spcAft>
                <a:spcPts val="0"/>
              </a:spcAft>
              <a:buNone/>
            </a:pPr>
            <a:r>
              <a:rPr b="1" lang="es-MX" sz="2021">
                <a:solidFill>
                  <a:schemeClr val="lt1"/>
                </a:solidFill>
                <a:latin typeface="Inter"/>
                <a:ea typeface="Inter"/>
                <a:cs typeface="Inter"/>
                <a:sym typeface="Inter"/>
              </a:rPr>
              <a:t>Claudio Escobar</a:t>
            </a:r>
            <a:endParaRPr/>
          </a:p>
          <a:p>
            <a:pPr indent="0" lvl="0" marL="0" marR="0" rtl="0" algn="ctr">
              <a:lnSpc>
                <a:spcPct val="140079"/>
              </a:lnSpc>
              <a:spcBef>
                <a:spcPts val="0"/>
              </a:spcBef>
              <a:spcAft>
                <a:spcPts val="0"/>
              </a:spcAft>
              <a:buNone/>
            </a:pPr>
            <a:r>
              <a:rPr b="1" lang="es-MX" sz="2021">
                <a:solidFill>
                  <a:schemeClr val="lt1"/>
                </a:solidFill>
                <a:latin typeface="Inter"/>
                <a:ea typeface="Inter"/>
                <a:cs typeface="Inter"/>
                <a:sym typeface="Inter"/>
              </a:rPr>
              <a:t>Renzo rios</a:t>
            </a:r>
            <a:endParaRPr b="1" sz="2021">
              <a:solidFill>
                <a:schemeClr val="lt1"/>
              </a:solidFill>
              <a:latin typeface="Inter"/>
              <a:ea typeface="Inter"/>
              <a:cs typeface="Inter"/>
              <a:sym typeface="Inter"/>
            </a:endParaRPr>
          </a:p>
        </p:txBody>
      </p:sp>
      <p:sp>
        <p:nvSpPr>
          <p:cNvPr id="91" name="Google Shape;91;p1"/>
          <p:cNvSpPr txBox="1"/>
          <p:nvPr/>
        </p:nvSpPr>
        <p:spPr>
          <a:xfrm>
            <a:off x="4891578" y="6369591"/>
            <a:ext cx="7636686" cy="241899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200">
                <a:solidFill>
                  <a:schemeClr val="lt1"/>
                </a:solidFill>
                <a:latin typeface="Calibri"/>
                <a:ea typeface="Calibri"/>
                <a:cs typeface="Calibri"/>
                <a:sym typeface="Calibri"/>
              </a:rPr>
              <a:t>Plataforma Resiliente de Comunicación y Alerta en Catástrofes</a:t>
            </a:r>
            <a:endParaRPr/>
          </a:p>
          <a:p>
            <a:pPr indent="0" lvl="0" marL="0" marR="0" rtl="0" algn="l">
              <a:spcBef>
                <a:spcPts val="0"/>
              </a:spcBef>
              <a:spcAft>
                <a:spcPts val="0"/>
              </a:spcAft>
              <a:buNone/>
            </a:pPr>
            <a:br>
              <a:rPr lang="es-MX" sz="4800">
                <a:solidFill>
                  <a:schemeClr val="dk1"/>
                </a:solidFill>
                <a:latin typeface="Calibri"/>
                <a:ea typeface="Calibri"/>
                <a:cs typeface="Calibri"/>
                <a:sym typeface="Calibri"/>
              </a:rPr>
            </a:br>
            <a:endParaRPr sz="4519">
              <a:solidFill>
                <a:srgbClr val="FFFFFF"/>
              </a:solidFill>
              <a:latin typeface="Inter"/>
              <a:ea typeface="Inter"/>
              <a:cs typeface="Inter"/>
              <a:sym typeface="Inter"/>
            </a:endParaRPr>
          </a:p>
        </p:txBody>
      </p:sp>
      <p:pic>
        <p:nvPicPr>
          <p:cNvPr descr="Logotipo&#10;&#10;El contenido generado por IA puede ser incorrecto." id="92" name="Google Shape;92;p1"/>
          <p:cNvPicPr preferRelativeResize="0"/>
          <p:nvPr/>
        </p:nvPicPr>
        <p:blipFill rotWithShape="1">
          <a:blip r:embed="rId4">
            <a:alphaModFix/>
          </a:blip>
          <a:srcRect b="0" l="0" r="0" t="0"/>
          <a:stretch/>
        </p:blipFill>
        <p:spPr>
          <a:xfrm>
            <a:off x="6946162" y="1075447"/>
            <a:ext cx="4113618" cy="34795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nvSpPr>
        <p:spPr>
          <a:xfrm rot="5400000">
            <a:off x="5388255" y="-5802390"/>
            <a:ext cx="7656149" cy="2189178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2"/>
          <p:cNvSpPr/>
          <p:nvPr/>
        </p:nvSpPr>
        <p:spPr>
          <a:xfrm>
            <a:off x="-11879"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2"/>
          <p:cNvSpPr txBox="1"/>
          <p:nvPr/>
        </p:nvSpPr>
        <p:spPr>
          <a:xfrm>
            <a:off x="6477000" y="935265"/>
            <a:ext cx="4520777" cy="1190019"/>
          </a:xfrm>
          <a:prstGeom prst="rect">
            <a:avLst/>
          </a:prstGeom>
          <a:noFill/>
          <a:ln>
            <a:noFill/>
          </a:ln>
        </p:spPr>
        <p:txBody>
          <a:bodyPr anchorCtr="0" anchor="t" bIns="0" lIns="0" spcFirstLastPara="1" rIns="0" wrap="square" tIns="0">
            <a:spAutoFit/>
          </a:bodyPr>
          <a:lstStyle/>
          <a:p>
            <a:pPr indent="0" lvl="0" marL="0" marR="0" rtl="0" algn="l">
              <a:lnSpc>
                <a:spcPct val="124012"/>
              </a:lnSpc>
              <a:spcBef>
                <a:spcPts val="0"/>
              </a:spcBef>
              <a:spcAft>
                <a:spcPts val="0"/>
              </a:spcAft>
              <a:buNone/>
            </a:pPr>
            <a:r>
              <a:rPr b="1" lang="es-MX" sz="7621">
                <a:solidFill>
                  <a:srgbClr val="FFFFFF"/>
                </a:solidFill>
                <a:latin typeface="Arial"/>
                <a:ea typeface="Arial"/>
                <a:cs typeface="Arial"/>
                <a:sym typeface="Arial"/>
              </a:rPr>
              <a:t>ÍNDICE</a:t>
            </a:r>
            <a:endParaRPr/>
          </a:p>
        </p:txBody>
      </p:sp>
      <p:sp>
        <p:nvSpPr>
          <p:cNvPr id="100" name="Google Shape;100;p2"/>
          <p:cNvSpPr txBox="1"/>
          <p:nvPr/>
        </p:nvSpPr>
        <p:spPr>
          <a:xfrm>
            <a:off x="4372571" y="5264255"/>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Problematica</a:t>
            </a:r>
            <a:endParaRPr sz="4000" u="none" strike="noStrike">
              <a:solidFill>
                <a:srgbClr val="FFFFFF"/>
              </a:solidFill>
              <a:latin typeface="Inter"/>
              <a:ea typeface="Inter"/>
              <a:cs typeface="Inter"/>
              <a:sym typeface="Inter"/>
            </a:endParaRPr>
          </a:p>
        </p:txBody>
      </p:sp>
      <p:sp>
        <p:nvSpPr>
          <p:cNvPr id="101" name="Google Shape;101;p2"/>
          <p:cNvSpPr txBox="1"/>
          <p:nvPr/>
        </p:nvSpPr>
        <p:spPr>
          <a:xfrm>
            <a:off x="4372571" y="6247221"/>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Necesidad</a:t>
            </a:r>
            <a:endParaRPr sz="4000" u="none" strike="noStrike">
              <a:solidFill>
                <a:srgbClr val="FFFFFF"/>
              </a:solidFill>
              <a:latin typeface="Inter"/>
              <a:ea typeface="Inter"/>
              <a:cs typeface="Inter"/>
              <a:sym typeface="Inter"/>
            </a:endParaRPr>
          </a:p>
        </p:txBody>
      </p:sp>
      <p:sp>
        <p:nvSpPr>
          <p:cNvPr id="102" name="Google Shape;102;p2"/>
          <p:cNvSpPr txBox="1"/>
          <p:nvPr/>
        </p:nvSpPr>
        <p:spPr>
          <a:xfrm>
            <a:off x="10077720" y="4292000"/>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Carta gantt</a:t>
            </a:r>
            <a:endParaRPr sz="4000" u="none" strike="noStrike">
              <a:solidFill>
                <a:srgbClr val="FFFFFF"/>
              </a:solidFill>
              <a:latin typeface="Inter"/>
              <a:ea typeface="Inter"/>
              <a:cs typeface="Inter"/>
              <a:sym typeface="Inter"/>
            </a:endParaRPr>
          </a:p>
        </p:txBody>
      </p:sp>
      <p:sp>
        <p:nvSpPr>
          <p:cNvPr id="103" name="Google Shape;103;p2"/>
          <p:cNvSpPr txBox="1"/>
          <p:nvPr/>
        </p:nvSpPr>
        <p:spPr>
          <a:xfrm>
            <a:off x="10077720" y="3309034"/>
            <a:ext cx="3810000" cy="615553"/>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a:solidFill>
                  <a:schemeClr val="lt1"/>
                </a:solidFill>
                <a:latin typeface="Inter"/>
                <a:ea typeface="Inter"/>
                <a:cs typeface="Inter"/>
                <a:sym typeface="Inter"/>
              </a:rPr>
              <a:t>Product</a:t>
            </a:r>
            <a:r>
              <a:rPr lang="es-MX" sz="1800">
                <a:solidFill>
                  <a:schemeClr val="lt1"/>
                </a:solidFill>
                <a:latin typeface="Inter"/>
                <a:ea typeface="Inter"/>
                <a:cs typeface="Inter"/>
                <a:sym typeface="Inter"/>
              </a:rPr>
              <a:t> </a:t>
            </a:r>
            <a:r>
              <a:rPr lang="es-MX" sz="4000">
                <a:solidFill>
                  <a:schemeClr val="lt1"/>
                </a:solidFill>
                <a:latin typeface="Inter"/>
                <a:ea typeface="Inter"/>
                <a:cs typeface="Inter"/>
                <a:sym typeface="Inter"/>
              </a:rPr>
              <a:t>Backlog</a:t>
            </a:r>
            <a:endParaRPr sz="4000" u="none" strike="noStrike">
              <a:solidFill>
                <a:schemeClr val="lt1"/>
              </a:solidFill>
              <a:latin typeface="Inter"/>
              <a:ea typeface="Inter"/>
              <a:cs typeface="Inter"/>
              <a:sym typeface="Inter"/>
            </a:endParaRPr>
          </a:p>
        </p:txBody>
      </p:sp>
      <p:sp>
        <p:nvSpPr>
          <p:cNvPr id="104" name="Google Shape;104;p2"/>
          <p:cNvSpPr txBox="1"/>
          <p:nvPr/>
        </p:nvSpPr>
        <p:spPr>
          <a:xfrm>
            <a:off x="4372570" y="3285574"/>
            <a:ext cx="4238029" cy="615553"/>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Equipo de trabajo </a:t>
            </a:r>
            <a:endParaRPr/>
          </a:p>
        </p:txBody>
      </p:sp>
      <p:sp>
        <p:nvSpPr>
          <p:cNvPr id="105" name="Google Shape;105;p2"/>
          <p:cNvSpPr txBox="1"/>
          <p:nvPr/>
        </p:nvSpPr>
        <p:spPr>
          <a:xfrm>
            <a:off x="4372571" y="4285144"/>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contexto</a:t>
            </a:r>
            <a:endParaRPr sz="4000" u="none" strike="noStrike">
              <a:solidFill>
                <a:srgbClr val="FFFFFF"/>
              </a:solidFill>
              <a:latin typeface="Inter"/>
              <a:ea typeface="Inter"/>
              <a:cs typeface="Inter"/>
              <a:sym typeface="Inter"/>
            </a:endParaRPr>
          </a:p>
        </p:txBody>
      </p:sp>
      <p:sp>
        <p:nvSpPr>
          <p:cNvPr id="106" name="Google Shape;106;p2"/>
          <p:cNvSpPr txBox="1"/>
          <p:nvPr/>
        </p:nvSpPr>
        <p:spPr>
          <a:xfrm>
            <a:off x="4396902" y="7230187"/>
            <a:ext cx="4390429" cy="1231106"/>
          </a:xfrm>
          <a:prstGeom prst="rect">
            <a:avLst/>
          </a:prstGeom>
          <a:noFill/>
          <a:ln>
            <a:noFill/>
          </a:ln>
        </p:spPr>
        <p:txBody>
          <a:bodyPr anchorCtr="0" anchor="t" bIns="0" lIns="0" spcFirstLastPara="1" rIns="0" wrap="square" tIns="0">
            <a:spAutoFit/>
          </a:bodyPr>
          <a:lstStyle/>
          <a:p>
            <a:pPr indent="0" lvl="0" marL="0" marR="0" rtl="0" algn="l">
              <a:lnSpc>
                <a:spcPct val="134472"/>
              </a:lnSpc>
              <a:spcBef>
                <a:spcPts val="0"/>
              </a:spcBef>
              <a:spcAft>
                <a:spcPts val="0"/>
              </a:spcAft>
              <a:buNone/>
            </a:pPr>
            <a:r>
              <a:rPr lang="es-MX" sz="3600" u="none" strike="noStrike">
                <a:solidFill>
                  <a:srgbClr val="FFFFFF"/>
                </a:solidFill>
                <a:latin typeface="Inter"/>
                <a:ea typeface="Inter"/>
                <a:cs typeface="Inter"/>
                <a:sym typeface="Inter"/>
              </a:rPr>
              <a:t>Arquitectura de sistema</a:t>
            </a:r>
            <a:endParaRPr sz="3600" u="none" strike="noStrike">
              <a:solidFill>
                <a:srgbClr val="FFFFFF"/>
              </a:solidFill>
              <a:latin typeface="Inter"/>
              <a:ea typeface="Inter"/>
              <a:cs typeface="Inter"/>
              <a:sym typeface="Inter"/>
            </a:endParaRPr>
          </a:p>
        </p:txBody>
      </p:sp>
      <p:sp>
        <p:nvSpPr>
          <p:cNvPr id="107" name="Google Shape;107;p2"/>
          <p:cNvSpPr txBox="1"/>
          <p:nvPr/>
        </p:nvSpPr>
        <p:spPr>
          <a:xfrm>
            <a:off x="4386426" y="8732095"/>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Procesos</a:t>
            </a:r>
            <a:endParaRPr sz="4000" u="none" strike="noStrike">
              <a:solidFill>
                <a:srgbClr val="FFFFFF"/>
              </a:solidFill>
              <a:latin typeface="Inter"/>
              <a:ea typeface="Inter"/>
              <a:cs typeface="Inter"/>
              <a:sym typeface="Inter"/>
            </a:endParaRPr>
          </a:p>
        </p:txBody>
      </p:sp>
      <p:grpSp>
        <p:nvGrpSpPr>
          <p:cNvPr id="108" name="Google Shape;108;p2"/>
          <p:cNvGrpSpPr/>
          <p:nvPr/>
        </p:nvGrpSpPr>
        <p:grpSpPr>
          <a:xfrm>
            <a:off x="3483896" y="3281034"/>
            <a:ext cx="632635" cy="632635"/>
            <a:chOff x="0" y="0"/>
            <a:chExt cx="843514" cy="843514"/>
          </a:xfrm>
        </p:grpSpPr>
        <p:grpSp>
          <p:nvGrpSpPr>
            <p:cNvPr id="109" name="Google Shape;109;p2"/>
            <p:cNvGrpSpPr/>
            <p:nvPr/>
          </p:nvGrpSpPr>
          <p:grpSpPr>
            <a:xfrm>
              <a:off x="0" y="0"/>
              <a:ext cx="843514" cy="843514"/>
              <a:chOff x="0" y="0"/>
              <a:chExt cx="812800" cy="812800"/>
            </a:xfrm>
          </p:grpSpPr>
          <p:sp>
            <p:nvSpPr>
              <p:cNvPr id="110" name="Google Shape;11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2" name="Google Shape;112;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1</a:t>
              </a:r>
              <a:endParaRPr/>
            </a:p>
          </p:txBody>
        </p:sp>
      </p:grpSp>
      <p:grpSp>
        <p:nvGrpSpPr>
          <p:cNvPr id="113" name="Google Shape;113;p2"/>
          <p:cNvGrpSpPr/>
          <p:nvPr/>
        </p:nvGrpSpPr>
        <p:grpSpPr>
          <a:xfrm>
            <a:off x="3476812" y="7469191"/>
            <a:ext cx="632635" cy="632635"/>
            <a:chOff x="0" y="0"/>
            <a:chExt cx="843514" cy="843514"/>
          </a:xfrm>
        </p:grpSpPr>
        <p:grpSp>
          <p:nvGrpSpPr>
            <p:cNvPr id="114" name="Google Shape;114;p2"/>
            <p:cNvGrpSpPr/>
            <p:nvPr/>
          </p:nvGrpSpPr>
          <p:grpSpPr>
            <a:xfrm>
              <a:off x="0" y="0"/>
              <a:ext cx="843514" cy="843514"/>
              <a:chOff x="0" y="0"/>
              <a:chExt cx="812800" cy="812800"/>
            </a:xfrm>
          </p:grpSpPr>
          <p:sp>
            <p:nvSpPr>
              <p:cNvPr id="115" name="Google Shape;11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7" name="Google Shape;117;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5</a:t>
              </a:r>
              <a:endParaRPr/>
            </a:p>
          </p:txBody>
        </p:sp>
      </p:grpSp>
      <p:grpSp>
        <p:nvGrpSpPr>
          <p:cNvPr id="118" name="Google Shape;118;p2"/>
          <p:cNvGrpSpPr/>
          <p:nvPr/>
        </p:nvGrpSpPr>
        <p:grpSpPr>
          <a:xfrm>
            <a:off x="3483896" y="4280604"/>
            <a:ext cx="632635" cy="632635"/>
            <a:chOff x="0" y="0"/>
            <a:chExt cx="843514" cy="843514"/>
          </a:xfrm>
        </p:grpSpPr>
        <p:grpSp>
          <p:nvGrpSpPr>
            <p:cNvPr id="119" name="Google Shape;119;p2"/>
            <p:cNvGrpSpPr/>
            <p:nvPr/>
          </p:nvGrpSpPr>
          <p:grpSpPr>
            <a:xfrm>
              <a:off x="0" y="0"/>
              <a:ext cx="843514" cy="843514"/>
              <a:chOff x="0" y="0"/>
              <a:chExt cx="812800" cy="812800"/>
            </a:xfrm>
          </p:grpSpPr>
          <p:sp>
            <p:nvSpPr>
              <p:cNvPr id="120" name="Google Shape;12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2" name="Google Shape;122;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2</a:t>
              </a:r>
              <a:endParaRPr/>
            </a:p>
          </p:txBody>
        </p:sp>
      </p:grpSp>
      <p:grpSp>
        <p:nvGrpSpPr>
          <p:cNvPr id="123" name="Google Shape;123;p2"/>
          <p:cNvGrpSpPr/>
          <p:nvPr/>
        </p:nvGrpSpPr>
        <p:grpSpPr>
          <a:xfrm>
            <a:off x="3476812" y="8719102"/>
            <a:ext cx="632635" cy="632635"/>
            <a:chOff x="0" y="0"/>
            <a:chExt cx="843514" cy="843514"/>
          </a:xfrm>
        </p:grpSpPr>
        <p:grpSp>
          <p:nvGrpSpPr>
            <p:cNvPr id="124" name="Google Shape;124;p2"/>
            <p:cNvGrpSpPr/>
            <p:nvPr/>
          </p:nvGrpSpPr>
          <p:grpSpPr>
            <a:xfrm>
              <a:off x="0" y="0"/>
              <a:ext cx="843514" cy="843514"/>
              <a:chOff x="0" y="0"/>
              <a:chExt cx="812800" cy="812800"/>
            </a:xfrm>
          </p:grpSpPr>
          <p:sp>
            <p:nvSpPr>
              <p:cNvPr id="125" name="Google Shape;12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7" name="Google Shape;127;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6</a:t>
              </a:r>
              <a:endParaRPr/>
            </a:p>
          </p:txBody>
        </p:sp>
      </p:grpSp>
      <p:grpSp>
        <p:nvGrpSpPr>
          <p:cNvPr id="128" name="Google Shape;128;p2"/>
          <p:cNvGrpSpPr/>
          <p:nvPr/>
        </p:nvGrpSpPr>
        <p:grpSpPr>
          <a:xfrm>
            <a:off x="3483896" y="5280174"/>
            <a:ext cx="632635" cy="632635"/>
            <a:chOff x="0" y="0"/>
            <a:chExt cx="843514" cy="843514"/>
          </a:xfrm>
        </p:grpSpPr>
        <p:grpSp>
          <p:nvGrpSpPr>
            <p:cNvPr id="129" name="Google Shape;129;p2"/>
            <p:cNvGrpSpPr/>
            <p:nvPr/>
          </p:nvGrpSpPr>
          <p:grpSpPr>
            <a:xfrm>
              <a:off x="0" y="0"/>
              <a:ext cx="843514" cy="843514"/>
              <a:chOff x="0" y="0"/>
              <a:chExt cx="812800" cy="812800"/>
            </a:xfrm>
          </p:grpSpPr>
          <p:sp>
            <p:nvSpPr>
              <p:cNvPr id="130" name="Google Shape;13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2" name="Google Shape;132;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3</a:t>
              </a:r>
              <a:endParaRPr/>
            </a:p>
          </p:txBody>
        </p:sp>
      </p:grpSp>
      <p:grpSp>
        <p:nvGrpSpPr>
          <p:cNvPr id="133" name="Google Shape;133;p2"/>
          <p:cNvGrpSpPr/>
          <p:nvPr/>
        </p:nvGrpSpPr>
        <p:grpSpPr>
          <a:xfrm>
            <a:off x="9181961" y="3324953"/>
            <a:ext cx="632635" cy="632635"/>
            <a:chOff x="0" y="0"/>
            <a:chExt cx="843514" cy="843514"/>
          </a:xfrm>
        </p:grpSpPr>
        <p:grpSp>
          <p:nvGrpSpPr>
            <p:cNvPr id="134" name="Google Shape;134;p2"/>
            <p:cNvGrpSpPr/>
            <p:nvPr/>
          </p:nvGrpSpPr>
          <p:grpSpPr>
            <a:xfrm>
              <a:off x="0" y="0"/>
              <a:ext cx="843514" cy="843514"/>
              <a:chOff x="0" y="0"/>
              <a:chExt cx="812800" cy="812800"/>
            </a:xfrm>
          </p:grpSpPr>
          <p:sp>
            <p:nvSpPr>
              <p:cNvPr id="135" name="Google Shape;13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7" name="Google Shape;137;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7</a:t>
              </a:r>
              <a:endParaRPr/>
            </a:p>
          </p:txBody>
        </p:sp>
      </p:grpSp>
      <p:grpSp>
        <p:nvGrpSpPr>
          <p:cNvPr id="138" name="Google Shape;138;p2"/>
          <p:cNvGrpSpPr/>
          <p:nvPr/>
        </p:nvGrpSpPr>
        <p:grpSpPr>
          <a:xfrm>
            <a:off x="3483896" y="6279745"/>
            <a:ext cx="632635" cy="632635"/>
            <a:chOff x="0" y="0"/>
            <a:chExt cx="843514" cy="843514"/>
          </a:xfrm>
        </p:grpSpPr>
        <p:grpSp>
          <p:nvGrpSpPr>
            <p:cNvPr id="139" name="Google Shape;139;p2"/>
            <p:cNvGrpSpPr/>
            <p:nvPr/>
          </p:nvGrpSpPr>
          <p:grpSpPr>
            <a:xfrm>
              <a:off x="0" y="0"/>
              <a:ext cx="843514" cy="843514"/>
              <a:chOff x="0" y="0"/>
              <a:chExt cx="812800" cy="812800"/>
            </a:xfrm>
          </p:grpSpPr>
          <p:sp>
            <p:nvSpPr>
              <p:cNvPr id="140" name="Google Shape;14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2" name="Google Shape;142;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4</a:t>
              </a:r>
              <a:endParaRPr/>
            </a:p>
          </p:txBody>
        </p:sp>
      </p:grpSp>
      <p:grpSp>
        <p:nvGrpSpPr>
          <p:cNvPr id="143" name="Google Shape;143;p2"/>
          <p:cNvGrpSpPr/>
          <p:nvPr/>
        </p:nvGrpSpPr>
        <p:grpSpPr>
          <a:xfrm>
            <a:off x="9181961" y="4324524"/>
            <a:ext cx="632635" cy="632635"/>
            <a:chOff x="0" y="0"/>
            <a:chExt cx="843514" cy="843514"/>
          </a:xfrm>
        </p:grpSpPr>
        <p:grpSp>
          <p:nvGrpSpPr>
            <p:cNvPr id="144" name="Google Shape;144;p2"/>
            <p:cNvGrpSpPr/>
            <p:nvPr/>
          </p:nvGrpSpPr>
          <p:grpSpPr>
            <a:xfrm>
              <a:off x="0" y="0"/>
              <a:ext cx="843514" cy="843514"/>
              <a:chOff x="0" y="0"/>
              <a:chExt cx="812800" cy="812800"/>
            </a:xfrm>
          </p:grpSpPr>
          <p:sp>
            <p:nvSpPr>
              <p:cNvPr id="145" name="Google Shape;14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7" name="Google Shape;147;p2"/>
            <p:cNvSpPr txBox="1"/>
            <p:nvPr/>
          </p:nvSpPr>
          <p:spPr>
            <a:xfrm>
              <a:off x="223126" y="14143"/>
              <a:ext cx="397262" cy="74855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8</a:t>
              </a:r>
              <a:endParaRPr/>
            </a:p>
          </p:txBody>
        </p:sp>
      </p:grpSp>
      <p:sp>
        <p:nvSpPr>
          <p:cNvPr id="148" name="Google Shape;148;p2"/>
          <p:cNvSpPr txBox="1"/>
          <p:nvPr/>
        </p:nvSpPr>
        <p:spPr>
          <a:xfrm>
            <a:off x="10027880" y="6329413"/>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Tablero kanban</a:t>
            </a:r>
            <a:endParaRPr/>
          </a:p>
        </p:txBody>
      </p:sp>
      <p:sp>
        <p:nvSpPr>
          <p:cNvPr id="149" name="Google Shape;149;p2"/>
          <p:cNvSpPr txBox="1"/>
          <p:nvPr/>
        </p:nvSpPr>
        <p:spPr>
          <a:xfrm>
            <a:off x="10027880" y="5346447"/>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Presupuesto</a:t>
            </a:r>
            <a:endParaRPr sz="4000" u="none" strike="noStrike">
              <a:solidFill>
                <a:srgbClr val="FFFFFF"/>
              </a:solidFill>
              <a:latin typeface="Inter"/>
              <a:ea typeface="Inter"/>
              <a:cs typeface="Inter"/>
              <a:sym typeface="Inter"/>
            </a:endParaRPr>
          </a:p>
        </p:txBody>
      </p:sp>
      <p:grpSp>
        <p:nvGrpSpPr>
          <p:cNvPr id="150" name="Google Shape;150;p2"/>
          <p:cNvGrpSpPr/>
          <p:nvPr/>
        </p:nvGrpSpPr>
        <p:grpSpPr>
          <a:xfrm>
            <a:off x="9132121" y="5362366"/>
            <a:ext cx="632635" cy="632635"/>
            <a:chOff x="0" y="0"/>
            <a:chExt cx="843514" cy="843514"/>
          </a:xfrm>
        </p:grpSpPr>
        <p:grpSp>
          <p:nvGrpSpPr>
            <p:cNvPr id="151" name="Google Shape;151;p2"/>
            <p:cNvGrpSpPr/>
            <p:nvPr/>
          </p:nvGrpSpPr>
          <p:grpSpPr>
            <a:xfrm>
              <a:off x="0" y="0"/>
              <a:ext cx="843514" cy="843514"/>
              <a:chOff x="0" y="0"/>
              <a:chExt cx="812800" cy="812800"/>
            </a:xfrm>
          </p:grpSpPr>
          <p:sp>
            <p:nvSpPr>
              <p:cNvPr id="152" name="Google Shape;15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4" name="Google Shape;154;p2"/>
            <p:cNvSpPr txBox="1"/>
            <p:nvPr/>
          </p:nvSpPr>
          <p:spPr>
            <a:xfrm>
              <a:off x="223126" y="14143"/>
              <a:ext cx="397262" cy="75653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9</a:t>
              </a:r>
              <a:endParaRPr/>
            </a:p>
          </p:txBody>
        </p:sp>
      </p:grpSp>
      <p:grpSp>
        <p:nvGrpSpPr>
          <p:cNvPr id="155" name="Google Shape;155;p2"/>
          <p:cNvGrpSpPr/>
          <p:nvPr/>
        </p:nvGrpSpPr>
        <p:grpSpPr>
          <a:xfrm>
            <a:off x="9132121" y="6361937"/>
            <a:ext cx="632635" cy="632635"/>
            <a:chOff x="0" y="0"/>
            <a:chExt cx="843514" cy="843514"/>
          </a:xfrm>
        </p:grpSpPr>
        <p:grpSp>
          <p:nvGrpSpPr>
            <p:cNvPr id="156" name="Google Shape;156;p2"/>
            <p:cNvGrpSpPr/>
            <p:nvPr/>
          </p:nvGrpSpPr>
          <p:grpSpPr>
            <a:xfrm>
              <a:off x="0" y="0"/>
              <a:ext cx="843514" cy="843514"/>
              <a:chOff x="0" y="0"/>
              <a:chExt cx="812800" cy="812800"/>
            </a:xfrm>
          </p:grpSpPr>
          <p:sp>
            <p:nvSpPr>
              <p:cNvPr id="157" name="Google Shape;15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9" name="Google Shape;159;p2"/>
            <p:cNvSpPr txBox="1"/>
            <p:nvPr/>
          </p:nvSpPr>
          <p:spPr>
            <a:xfrm>
              <a:off x="112277" y="16304"/>
              <a:ext cx="644711" cy="75653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10</a:t>
              </a:r>
              <a:endParaRPr/>
            </a:p>
          </p:txBody>
        </p:sp>
      </p:grpSp>
      <p:sp>
        <p:nvSpPr>
          <p:cNvPr id="160" name="Google Shape;160;p2"/>
          <p:cNvSpPr txBox="1"/>
          <p:nvPr/>
        </p:nvSpPr>
        <p:spPr>
          <a:xfrm>
            <a:off x="10105431" y="8365171"/>
            <a:ext cx="3810000" cy="614030"/>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Demostracion</a:t>
            </a:r>
            <a:endParaRPr sz="4000" u="none" strike="noStrike">
              <a:solidFill>
                <a:srgbClr val="FFFFFF"/>
              </a:solidFill>
              <a:latin typeface="Inter"/>
              <a:ea typeface="Inter"/>
              <a:cs typeface="Inter"/>
              <a:sym typeface="Inter"/>
            </a:endParaRPr>
          </a:p>
        </p:txBody>
      </p:sp>
      <p:sp>
        <p:nvSpPr>
          <p:cNvPr id="161" name="Google Shape;161;p2"/>
          <p:cNvSpPr txBox="1"/>
          <p:nvPr/>
        </p:nvSpPr>
        <p:spPr>
          <a:xfrm>
            <a:off x="10105430" y="7382205"/>
            <a:ext cx="4982169" cy="615553"/>
          </a:xfrm>
          <a:prstGeom prst="rect">
            <a:avLst/>
          </a:prstGeom>
          <a:noFill/>
          <a:ln>
            <a:noFill/>
          </a:ln>
        </p:spPr>
        <p:txBody>
          <a:bodyPr anchorCtr="0" anchor="t" bIns="0" lIns="0" spcFirstLastPara="1" rIns="0" wrap="square" tIns="0">
            <a:spAutoFit/>
          </a:bodyPr>
          <a:lstStyle/>
          <a:p>
            <a:pPr indent="0" lvl="0" marL="0" marR="0" rtl="0" algn="l">
              <a:lnSpc>
                <a:spcPct val="121025"/>
              </a:lnSpc>
              <a:spcBef>
                <a:spcPts val="0"/>
              </a:spcBef>
              <a:spcAft>
                <a:spcPts val="0"/>
              </a:spcAft>
              <a:buNone/>
            </a:pPr>
            <a:r>
              <a:rPr lang="es-MX" sz="4000" u="none" strike="noStrike">
                <a:solidFill>
                  <a:srgbClr val="FFFFFF"/>
                </a:solidFill>
                <a:latin typeface="Inter"/>
                <a:ea typeface="Inter"/>
                <a:cs typeface="Inter"/>
                <a:sym typeface="Inter"/>
              </a:rPr>
              <a:t>Sprints de Desarrollo</a:t>
            </a:r>
            <a:endParaRPr/>
          </a:p>
        </p:txBody>
      </p:sp>
      <p:grpSp>
        <p:nvGrpSpPr>
          <p:cNvPr id="162" name="Google Shape;162;p2"/>
          <p:cNvGrpSpPr/>
          <p:nvPr/>
        </p:nvGrpSpPr>
        <p:grpSpPr>
          <a:xfrm>
            <a:off x="9209672" y="7398124"/>
            <a:ext cx="632635" cy="632635"/>
            <a:chOff x="0" y="0"/>
            <a:chExt cx="843514" cy="843514"/>
          </a:xfrm>
        </p:grpSpPr>
        <p:grpSp>
          <p:nvGrpSpPr>
            <p:cNvPr id="163" name="Google Shape;163;p2"/>
            <p:cNvGrpSpPr/>
            <p:nvPr/>
          </p:nvGrpSpPr>
          <p:grpSpPr>
            <a:xfrm>
              <a:off x="0" y="0"/>
              <a:ext cx="843514" cy="843514"/>
              <a:chOff x="0" y="0"/>
              <a:chExt cx="812800" cy="812800"/>
            </a:xfrm>
          </p:grpSpPr>
          <p:sp>
            <p:nvSpPr>
              <p:cNvPr id="164" name="Google Shape;16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6" name="Google Shape;166;p2"/>
            <p:cNvSpPr txBox="1"/>
            <p:nvPr/>
          </p:nvSpPr>
          <p:spPr>
            <a:xfrm>
              <a:off x="88348" y="14461"/>
              <a:ext cx="620388" cy="75653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11</a:t>
              </a:r>
              <a:endParaRPr/>
            </a:p>
          </p:txBody>
        </p:sp>
      </p:grpSp>
      <p:grpSp>
        <p:nvGrpSpPr>
          <p:cNvPr id="167" name="Google Shape;167;p2"/>
          <p:cNvGrpSpPr/>
          <p:nvPr/>
        </p:nvGrpSpPr>
        <p:grpSpPr>
          <a:xfrm>
            <a:off x="9209672" y="8395177"/>
            <a:ext cx="632635" cy="635153"/>
            <a:chOff x="0" y="-3357"/>
            <a:chExt cx="843514" cy="846871"/>
          </a:xfrm>
        </p:grpSpPr>
        <p:grpSp>
          <p:nvGrpSpPr>
            <p:cNvPr id="168" name="Google Shape;168;p2"/>
            <p:cNvGrpSpPr/>
            <p:nvPr/>
          </p:nvGrpSpPr>
          <p:grpSpPr>
            <a:xfrm>
              <a:off x="0" y="0"/>
              <a:ext cx="843514" cy="843514"/>
              <a:chOff x="0" y="0"/>
              <a:chExt cx="812800" cy="812800"/>
            </a:xfrm>
          </p:grpSpPr>
          <p:sp>
            <p:nvSpPr>
              <p:cNvPr id="169" name="Google Shape;16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1" name="Google Shape;171;p2"/>
            <p:cNvSpPr txBox="1"/>
            <p:nvPr/>
          </p:nvSpPr>
          <p:spPr>
            <a:xfrm>
              <a:off x="88348" y="-3357"/>
              <a:ext cx="722725" cy="75653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1" lang="es-MX" sz="3434">
                  <a:solidFill>
                    <a:srgbClr val="000A1F"/>
                  </a:solidFill>
                  <a:latin typeface="Inter"/>
                  <a:ea typeface="Inter"/>
                  <a:cs typeface="Inter"/>
                  <a:sym typeface="Inter"/>
                </a:rPr>
                <a:t>12</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3"/>
          <p:cNvSpPr/>
          <p:nvPr/>
        </p:nvSpPr>
        <p:spPr>
          <a:xfrm>
            <a:off x="2286" y="0"/>
            <a:ext cx="18283428" cy="1028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Un dibujo de un barco en la calle&#10;&#10;El contenido generado por IA puede ser incorrecto." id="177" name="Google Shape;177;p3"/>
          <p:cNvPicPr preferRelativeResize="0"/>
          <p:nvPr/>
        </p:nvPicPr>
        <p:blipFill rotWithShape="1">
          <a:blip r:embed="rId3">
            <a:alphaModFix amt="50000"/>
          </a:blip>
          <a:srcRect b="0" l="0" r="0" t="4273"/>
          <a:stretch/>
        </p:blipFill>
        <p:spPr>
          <a:xfrm>
            <a:off x="20" y="1923"/>
            <a:ext cx="18287980" cy="10285077"/>
          </a:xfrm>
          <a:prstGeom prst="rect">
            <a:avLst/>
          </a:prstGeom>
          <a:noFill/>
          <a:ln>
            <a:noFill/>
          </a:ln>
        </p:spPr>
      </p:pic>
      <p:grpSp>
        <p:nvGrpSpPr>
          <p:cNvPr id="178" name="Google Shape;178;p3"/>
          <p:cNvGrpSpPr/>
          <p:nvPr/>
        </p:nvGrpSpPr>
        <p:grpSpPr>
          <a:xfrm rot="5400000">
            <a:off x="5388255" y="-5298363"/>
            <a:ext cx="7656149" cy="20883726"/>
            <a:chOff x="0" y="-38100"/>
            <a:chExt cx="2016434" cy="5500241"/>
          </a:xfrm>
        </p:grpSpPr>
        <p:sp>
          <p:nvSpPr>
            <p:cNvPr id="179" name="Google Shape;179;p3"/>
            <p:cNvSpPr/>
            <p:nvPr/>
          </p:nvSpPr>
          <p:spPr>
            <a:xfrm>
              <a:off x="0" y="0"/>
              <a:ext cx="2016434" cy="5462141"/>
            </a:xfrm>
            <a:custGeom>
              <a:rect b="b" l="l" r="r" t="t"/>
              <a:pathLst>
                <a:path extrusionOk="0" h="5462141" w="2016434">
                  <a:moveTo>
                    <a:pt x="28314" y="0"/>
                  </a:moveTo>
                  <a:lnTo>
                    <a:pt x="1988121" y="0"/>
                  </a:lnTo>
                  <a:cubicBezTo>
                    <a:pt x="1995630" y="0"/>
                    <a:pt x="2002832" y="2983"/>
                    <a:pt x="2008142" y="8293"/>
                  </a:cubicBezTo>
                  <a:cubicBezTo>
                    <a:pt x="2013452" y="13603"/>
                    <a:pt x="2016434" y="20804"/>
                    <a:pt x="2016434" y="28314"/>
                  </a:cubicBezTo>
                  <a:lnTo>
                    <a:pt x="2016434" y="5433827"/>
                  </a:lnTo>
                  <a:cubicBezTo>
                    <a:pt x="2016434" y="5441336"/>
                    <a:pt x="2013452" y="5448538"/>
                    <a:pt x="2008142" y="5453848"/>
                  </a:cubicBezTo>
                  <a:cubicBezTo>
                    <a:pt x="2002832" y="5459157"/>
                    <a:pt x="1995630" y="5462141"/>
                    <a:pt x="1988121" y="5462141"/>
                  </a:cubicBezTo>
                  <a:lnTo>
                    <a:pt x="28314" y="5462141"/>
                  </a:lnTo>
                  <a:cubicBezTo>
                    <a:pt x="20804" y="5462141"/>
                    <a:pt x="13603" y="5459157"/>
                    <a:pt x="8293" y="5453848"/>
                  </a:cubicBezTo>
                  <a:cubicBezTo>
                    <a:pt x="2983" y="5448538"/>
                    <a:pt x="0" y="5441336"/>
                    <a:pt x="0" y="5433827"/>
                  </a:cubicBezTo>
                  <a:lnTo>
                    <a:pt x="0" y="28314"/>
                  </a:lnTo>
                  <a:cubicBezTo>
                    <a:pt x="0" y="20804"/>
                    <a:pt x="2983" y="13603"/>
                    <a:pt x="8293" y="8293"/>
                  </a:cubicBezTo>
                  <a:cubicBezTo>
                    <a:pt x="13603" y="2983"/>
                    <a:pt x="20804" y="0"/>
                    <a:pt x="28314"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3"/>
            <p:cNvSpPr txBox="1"/>
            <p:nvPr/>
          </p:nvSpPr>
          <p:spPr>
            <a:xfrm>
              <a:off x="0" y="-38100"/>
              <a:ext cx="2016434" cy="550024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1" name="Google Shape;181;p3"/>
          <p:cNvSpPr txBox="1"/>
          <p:nvPr/>
        </p:nvSpPr>
        <p:spPr>
          <a:xfrm>
            <a:off x="3404986" y="3885665"/>
            <a:ext cx="11478028" cy="40626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MX" sz="3300">
                <a:solidFill>
                  <a:schemeClr val="lt1"/>
                </a:solidFill>
                <a:latin typeface="Calibri"/>
                <a:ea typeface="Calibri"/>
                <a:cs typeface="Calibri"/>
                <a:sym typeface="Calibri"/>
              </a:rPr>
              <a:t>Este proyecto está enfocado en entender que Chile es un país altamente expuesto a fenómenos naturales debido a su geografía y diversidad climática. A lo largo de su territorio ocurren con frecuencia sismos, erupciones volcánicas, aluviones, temporales y marejadas, lo que genera un escenario de constante riesgo para la población y equipos de emergencia . Esta realidad exige una preparación continua y sistemas de información confiables que permitan fortalecer la resiliencia frente a emergencias y desastres.</a:t>
            </a:r>
            <a:endParaRPr/>
          </a:p>
        </p:txBody>
      </p:sp>
      <p:sp>
        <p:nvSpPr>
          <p:cNvPr id="182" name="Google Shape;182;p3"/>
          <p:cNvSpPr txBox="1"/>
          <p:nvPr/>
        </p:nvSpPr>
        <p:spPr>
          <a:xfrm>
            <a:off x="2514600" y="2284388"/>
            <a:ext cx="13639800" cy="1147365"/>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lang="es-MX" sz="7621" u="none" strike="noStrike">
                <a:solidFill>
                  <a:srgbClr val="FFFFFF"/>
                </a:solidFill>
                <a:latin typeface="Arial"/>
                <a:ea typeface="Arial"/>
                <a:cs typeface="Arial"/>
                <a:sym typeface="Arial"/>
              </a:rPr>
              <a:t>Contexto del proyecto</a:t>
            </a:r>
            <a:endParaRPr b="1" sz="7621" u="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4"/>
          <p:cNvSpPr/>
          <p:nvPr/>
        </p:nvSpPr>
        <p:spPr>
          <a:xfrm>
            <a:off x="2286" y="0"/>
            <a:ext cx="18283428" cy="1028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Un grupo de personas en un barco&#10;&#10;El contenido generado por IA puede ser incorrecto." id="188" name="Google Shape;188;p4"/>
          <p:cNvPicPr preferRelativeResize="0"/>
          <p:nvPr/>
        </p:nvPicPr>
        <p:blipFill rotWithShape="1">
          <a:blip r:embed="rId3">
            <a:alphaModFix amt="70000"/>
          </a:blip>
          <a:srcRect b="0" l="9854" r="6575" t="0"/>
          <a:stretch/>
        </p:blipFill>
        <p:spPr>
          <a:xfrm>
            <a:off x="20" y="1923"/>
            <a:ext cx="18287980" cy="10285077"/>
          </a:xfrm>
          <a:prstGeom prst="rect">
            <a:avLst/>
          </a:prstGeom>
          <a:noFill/>
          <a:ln>
            <a:noFill/>
          </a:ln>
        </p:spPr>
      </p:pic>
      <p:grpSp>
        <p:nvGrpSpPr>
          <p:cNvPr id="189" name="Google Shape;189;p4"/>
          <p:cNvGrpSpPr/>
          <p:nvPr/>
        </p:nvGrpSpPr>
        <p:grpSpPr>
          <a:xfrm rot="5400000">
            <a:off x="5388255" y="-5298363"/>
            <a:ext cx="7656149" cy="20883726"/>
            <a:chOff x="0" y="-38100"/>
            <a:chExt cx="2016434" cy="5500241"/>
          </a:xfrm>
        </p:grpSpPr>
        <p:sp>
          <p:nvSpPr>
            <p:cNvPr id="190" name="Google Shape;190;p4"/>
            <p:cNvSpPr/>
            <p:nvPr/>
          </p:nvSpPr>
          <p:spPr>
            <a:xfrm>
              <a:off x="0" y="0"/>
              <a:ext cx="2016434" cy="5462141"/>
            </a:xfrm>
            <a:custGeom>
              <a:rect b="b" l="l" r="r" t="t"/>
              <a:pathLst>
                <a:path extrusionOk="0" h="5462141" w="2016434">
                  <a:moveTo>
                    <a:pt x="28314" y="0"/>
                  </a:moveTo>
                  <a:lnTo>
                    <a:pt x="1988121" y="0"/>
                  </a:lnTo>
                  <a:cubicBezTo>
                    <a:pt x="1995630" y="0"/>
                    <a:pt x="2002832" y="2983"/>
                    <a:pt x="2008142" y="8293"/>
                  </a:cubicBezTo>
                  <a:cubicBezTo>
                    <a:pt x="2013452" y="13603"/>
                    <a:pt x="2016434" y="20804"/>
                    <a:pt x="2016434" y="28314"/>
                  </a:cubicBezTo>
                  <a:lnTo>
                    <a:pt x="2016434" y="5433827"/>
                  </a:lnTo>
                  <a:cubicBezTo>
                    <a:pt x="2016434" y="5441336"/>
                    <a:pt x="2013452" y="5448538"/>
                    <a:pt x="2008142" y="5453848"/>
                  </a:cubicBezTo>
                  <a:cubicBezTo>
                    <a:pt x="2002832" y="5459157"/>
                    <a:pt x="1995630" y="5462141"/>
                    <a:pt x="1988121" y="5462141"/>
                  </a:cubicBezTo>
                  <a:lnTo>
                    <a:pt x="28314" y="5462141"/>
                  </a:lnTo>
                  <a:cubicBezTo>
                    <a:pt x="20804" y="5462141"/>
                    <a:pt x="13603" y="5459157"/>
                    <a:pt x="8293" y="5453848"/>
                  </a:cubicBezTo>
                  <a:cubicBezTo>
                    <a:pt x="2983" y="5448538"/>
                    <a:pt x="0" y="5441336"/>
                    <a:pt x="0" y="5433827"/>
                  </a:cubicBezTo>
                  <a:lnTo>
                    <a:pt x="0" y="28314"/>
                  </a:lnTo>
                  <a:cubicBezTo>
                    <a:pt x="0" y="20804"/>
                    <a:pt x="2983" y="13603"/>
                    <a:pt x="8293" y="8293"/>
                  </a:cubicBezTo>
                  <a:cubicBezTo>
                    <a:pt x="13603" y="2983"/>
                    <a:pt x="20804" y="0"/>
                    <a:pt x="28314"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4"/>
            <p:cNvSpPr txBox="1"/>
            <p:nvPr/>
          </p:nvSpPr>
          <p:spPr>
            <a:xfrm>
              <a:off x="0" y="-38100"/>
              <a:ext cx="2016434" cy="5500241"/>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2" name="Google Shape;192;p4"/>
          <p:cNvSpPr txBox="1"/>
          <p:nvPr/>
        </p:nvSpPr>
        <p:spPr>
          <a:xfrm>
            <a:off x="3404986" y="3885665"/>
            <a:ext cx="11478028" cy="21544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MX" sz="2800">
                <a:solidFill>
                  <a:schemeClr val="lt1"/>
                </a:solidFill>
                <a:latin typeface="Calibri"/>
                <a:ea typeface="Calibri"/>
                <a:cs typeface="Calibri"/>
                <a:sym typeface="Calibri"/>
              </a:rPr>
              <a:t>Uno de los problemas principales es la interrupción de los servicios, esto ocurre cuando hay una adversidad natural, en este país es el tema de la comunicación y de los servicios básicos , como internet y electricidad. Los cuales quedad inutilizados. Por lo que es necesario un nuevo sistema de cobertura que garantize la comunicación. </a:t>
            </a:r>
            <a:endParaRPr/>
          </a:p>
        </p:txBody>
      </p:sp>
      <p:sp>
        <p:nvSpPr>
          <p:cNvPr id="193" name="Google Shape;193;p4"/>
          <p:cNvSpPr txBox="1"/>
          <p:nvPr/>
        </p:nvSpPr>
        <p:spPr>
          <a:xfrm>
            <a:off x="2514600" y="2284388"/>
            <a:ext cx="13639800" cy="1218282"/>
          </a:xfrm>
          <a:prstGeom prst="rect">
            <a:avLst/>
          </a:prstGeom>
          <a:noFill/>
          <a:ln>
            <a:noFill/>
          </a:ln>
        </p:spPr>
        <p:txBody>
          <a:bodyPr anchorCtr="0" anchor="t" bIns="0" lIns="0" spcFirstLastPara="1" rIns="0" wrap="square" tIns="0">
            <a:spAutoFit/>
          </a:bodyPr>
          <a:lstStyle/>
          <a:p>
            <a:pPr indent="0" lvl="0" marL="0" marR="0" rtl="0" algn="ctr">
              <a:lnSpc>
                <a:spcPct val="118137"/>
              </a:lnSpc>
              <a:spcBef>
                <a:spcPts val="0"/>
              </a:spcBef>
              <a:spcAft>
                <a:spcPts val="0"/>
              </a:spcAft>
              <a:buNone/>
            </a:pPr>
            <a:r>
              <a:rPr lang="es-MX" sz="8000">
                <a:solidFill>
                  <a:schemeClr val="lt1"/>
                </a:solidFill>
                <a:latin typeface="Calibri"/>
                <a:ea typeface="Calibri"/>
                <a:cs typeface="Calibri"/>
                <a:sym typeface="Calibri"/>
              </a:rPr>
              <a:t>Problemática</a:t>
            </a:r>
            <a:endParaRPr b="1" sz="7621" u="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5"/>
          <p:cNvSpPr/>
          <p:nvPr/>
        </p:nvSpPr>
        <p:spPr>
          <a:xfrm>
            <a:off x="2286" y="0"/>
            <a:ext cx="18283428" cy="1028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Imagen que contiene exterior, edificio, cerca, nieve&#10;&#10;El contenido generado por IA puede ser incorrecto." id="199" name="Google Shape;199;p5"/>
          <p:cNvPicPr preferRelativeResize="0"/>
          <p:nvPr/>
        </p:nvPicPr>
        <p:blipFill rotWithShape="1">
          <a:blip r:embed="rId3">
            <a:alphaModFix amt="50000"/>
          </a:blip>
          <a:srcRect b="0" l="0" r="0" t="19"/>
          <a:stretch/>
        </p:blipFill>
        <p:spPr>
          <a:xfrm>
            <a:off x="20" y="1923"/>
            <a:ext cx="18287980" cy="10285077"/>
          </a:xfrm>
          <a:prstGeom prst="rect">
            <a:avLst/>
          </a:prstGeom>
          <a:noFill/>
          <a:ln>
            <a:noFill/>
          </a:ln>
        </p:spPr>
      </p:pic>
      <p:grpSp>
        <p:nvGrpSpPr>
          <p:cNvPr id="200" name="Google Shape;200;p5"/>
          <p:cNvGrpSpPr/>
          <p:nvPr/>
        </p:nvGrpSpPr>
        <p:grpSpPr>
          <a:xfrm rot="5400000">
            <a:off x="1192511" y="3845012"/>
            <a:ext cx="4742240" cy="5069863"/>
            <a:chOff x="0" y="-38100"/>
            <a:chExt cx="1248985" cy="1335273"/>
          </a:xfrm>
        </p:grpSpPr>
        <p:sp>
          <p:nvSpPr>
            <p:cNvPr id="201" name="Google Shape;201;p5"/>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5"/>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3" name="Google Shape;203;p5"/>
          <p:cNvGrpSpPr/>
          <p:nvPr/>
        </p:nvGrpSpPr>
        <p:grpSpPr>
          <a:xfrm rot="5400000">
            <a:off x="6845210" y="3845012"/>
            <a:ext cx="4742240" cy="5069863"/>
            <a:chOff x="0" y="-38100"/>
            <a:chExt cx="1248985" cy="1335273"/>
          </a:xfrm>
        </p:grpSpPr>
        <p:sp>
          <p:nvSpPr>
            <p:cNvPr id="204" name="Google Shape;204;p5"/>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5"/>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6" name="Google Shape;206;p5"/>
          <p:cNvSpPr txBox="1"/>
          <p:nvPr/>
        </p:nvSpPr>
        <p:spPr>
          <a:xfrm>
            <a:off x="1406487" y="4736211"/>
            <a:ext cx="4169629" cy="2881686"/>
          </a:xfrm>
          <a:prstGeom prst="rect">
            <a:avLst/>
          </a:prstGeom>
          <a:noFill/>
          <a:ln>
            <a:noFill/>
          </a:ln>
        </p:spPr>
        <p:txBody>
          <a:bodyPr anchorCtr="0" anchor="t" bIns="0" lIns="0" spcFirstLastPara="1" rIns="0" wrap="square" tIns="0">
            <a:spAutoFit/>
          </a:bodyPr>
          <a:lstStyle/>
          <a:p>
            <a:pPr indent="0" lvl="0" marL="0" marR="0" rtl="0" algn="ctr">
              <a:lnSpc>
                <a:spcPct val="158791"/>
              </a:lnSpc>
              <a:spcBef>
                <a:spcPts val="0"/>
              </a:spcBef>
              <a:spcAft>
                <a:spcPts val="0"/>
              </a:spcAft>
              <a:buNone/>
            </a:pPr>
            <a:r>
              <a:rPr b="1" lang="es-MX" sz="2400">
                <a:solidFill>
                  <a:schemeClr val="lt1"/>
                </a:solidFill>
                <a:latin typeface="Calibri"/>
                <a:ea typeface="Calibri"/>
                <a:cs typeface="Calibri"/>
                <a:sym typeface="Calibri"/>
              </a:rPr>
              <a:t>Ciudadano</a:t>
            </a:r>
            <a:br>
              <a:rPr lang="es-MX" sz="2400">
                <a:solidFill>
                  <a:schemeClr val="lt1"/>
                </a:solidFill>
                <a:latin typeface="Calibri"/>
                <a:ea typeface="Calibri"/>
                <a:cs typeface="Calibri"/>
                <a:sym typeface="Calibri"/>
              </a:rPr>
            </a:br>
            <a:r>
              <a:rPr lang="es-MX" sz="2400">
                <a:solidFill>
                  <a:schemeClr val="lt1"/>
                </a:solidFill>
                <a:latin typeface="Calibri"/>
                <a:ea typeface="Calibri"/>
                <a:cs typeface="Calibri"/>
                <a:sym typeface="Calibri"/>
              </a:rPr>
              <a:t>Necesidad de poder recibir información, ya sea en el lugar de la emergencia o si se encuentra lejos de ella, para poder comunicarse.</a:t>
            </a:r>
            <a:endParaRPr sz="2367">
              <a:solidFill>
                <a:schemeClr val="lt1"/>
              </a:solidFill>
              <a:latin typeface="Inter"/>
              <a:ea typeface="Inter"/>
              <a:cs typeface="Inter"/>
              <a:sym typeface="Inter"/>
            </a:endParaRPr>
          </a:p>
        </p:txBody>
      </p:sp>
      <p:sp>
        <p:nvSpPr>
          <p:cNvPr id="207" name="Google Shape;207;p5"/>
          <p:cNvSpPr txBox="1"/>
          <p:nvPr/>
        </p:nvSpPr>
        <p:spPr>
          <a:xfrm>
            <a:off x="7059186" y="4736211"/>
            <a:ext cx="4169629" cy="3856312"/>
          </a:xfrm>
          <a:prstGeom prst="rect">
            <a:avLst/>
          </a:prstGeom>
          <a:noFill/>
          <a:ln>
            <a:noFill/>
          </a:ln>
        </p:spPr>
        <p:txBody>
          <a:bodyPr anchorCtr="0" anchor="t" bIns="0" lIns="0" spcFirstLastPara="1" rIns="0" wrap="square" tIns="0">
            <a:spAutoFit/>
          </a:bodyPr>
          <a:lstStyle/>
          <a:p>
            <a:pPr indent="0" lvl="0" marL="0" marR="0" rtl="0" algn="ctr">
              <a:lnSpc>
                <a:spcPct val="158791"/>
              </a:lnSpc>
              <a:spcBef>
                <a:spcPts val="0"/>
              </a:spcBef>
              <a:spcAft>
                <a:spcPts val="0"/>
              </a:spcAft>
              <a:buNone/>
            </a:pPr>
            <a:r>
              <a:rPr b="1" lang="es-MX" sz="2400">
                <a:solidFill>
                  <a:schemeClr val="lt1"/>
                </a:solidFill>
                <a:latin typeface="Calibri"/>
                <a:ea typeface="Calibri"/>
                <a:cs typeface="Calibri"/>
                <a:sym typeface="Calibri"/>
              </a:rPr>
              <a:t>Autoridades</a:t>
            </a:r>
            <a:br>
              <a:rPr lang="es-MX" sz="2400">
                <a:solidFill>
                  <a:schemeClr val="lt1"/>
                </a:solidFill>
                <a:latin typeface="Calibri"/>
                <a:ea typeface="Calibri"/>
                <a:cs typeface="Calibri"/>
                <a:sym typeface="Calibri"/>
              </a:rPr>
            </a:br>
            <a:r>
              <a:rPr lang="es-MX" sz="2400">
                <a:solidFill>
                  <a:schemeClr val="lt1"/>
                </a:solidFill>
                <a:latin typeface="Calibri"/>
                <a:ea typeface="Calibri"/>
                <a:cs typeface="Calibri"/>
                <a:sym typeface="Calibri"/>
              </a:rPr>
              <a:t>Permite la descentralización, otorgando a las distintas entidades la posibilidad de recibir información en tiempo real sobre lo que está sucediendo, para así poder informar oportunamente a la población.</a:t>
            </a:r>
            <a:endParaRPr sz="2367">
              <a:solidFill>
                <a:schemeClr val="lt1"/>
              </a:solidFill>
              <a:latin typeface="Inter"/>
              <a:ea typeface="Inter"/>
              <a:cs typeface="Inter"/>
              <a:sym typeface="Inter"/>
            </a:endParaRPr>
          </a:p>
        </p:txBody>
      </p:sp>
      <p:grpSp>
        <p:nvGrpSpPr>
          <p:cNvPr id="208" name="Google Shape;208;p5"/>
          <p:cNvGrpSpPr/>
          <p:nvPr/>
        </p:nvGrpSpPr>
        <p:grpSpPr>
          <a:xfrm rot="5400000">
            <a:off x="12497909" y="3845012"/>
            <a:ext cx="4742240" cy="5069863"/>
            <a:chOff x="0" y="-38100"/>
            <a:chExt cx="1248985" cy="1335273"/>
          </a:xfrm>
        </p:grpSpPr>
        <p:sp>
          <p:nvSpPr>
            <p:cNvPr id="209" name="Google Shape;209;p5"/>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5"/>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1" name="Google Shape;211;p5"/>
          <p:cNvSpPr txBox="1"/>
          <p:nvPr/>
        </p:nvSpPr>
        <p:spPr>
          <a:xfrm>
            <a:off x="12711885" y="4736211"/>
            <a:ext cx="4169629" cy="3368999"/>
          </a:xfrm>
          <a:prstGeom prst="rect">
            <a:avLst/>
          </a:prstGeom>
          <a:noFill/>
          <a:ln>
            <a:noFill/>
          </a:ln>
        </p:spPr>
        <p:txBody>
          <a:bodyPr anchorCtr="0" anchor="t" bIns="0" lIns="0" spcFirstLastPara="1" rIns="0" wrap="square" tIns="0">
            <a:spAutoFit/>
          </a:bodyPr>
          <a:lstStyle/>
          <a:p>
            <a:pPr indent="0" lvl="0" marL="0" marR="0" rtl="0" algn="ctr">
              <a:lnSpc>
                <a:spcPct val="158791"/>
              </a:lnSpc>
              <a:spcBef>
                <a:spcPts val="0"/>
              </a:spcBef>
              <a:spcAft>
                <a:spcPts val="0"/>
              </a:spcAft>
              <a:buNone/>
            </a:pPr>
            <a:r>
              <a:rPr b="1" lang="es-MX" sz="2400">
                <a:solidFill>
                  <a:schemeClr val="lt1"/>
                </a:solidFill>
                <a:latin typeface="Calibri"/>
                <a:ea typeface="Calibri"/>
                <a:cs typeface="Calibri"/>
                <a:sym typeface="Calibri"/>
              </a:rPr>
              <a:t>Persona a distancia</a:t>
            </a:r>
            <a:br>
              <a:rPr lang="es-MX" sz="2400">
                <a:solidFill>
                  <a:schemeClr val="lt1"/>
                </a:solidFill>
                <a:latin typeface="Calibri"/>
                <a:ea typeface="Calibri"/>
                <a:cs typeface="Calibri"/>
                <a:sym typeface="Calibri"/>
              </a:rPr>
            </a:br>
            <a:r>
              <a:rPr lang="es-MX" sz="2400">
                <a:solidFill>
                  <a:schemeClr val="lt1"/>
                </a:solidFill>
                <a:latin typeface="Calibri"/>
                <a:ea typeface="Calibri"/>
                <a:cs typeface="Calibri"/>
                <a:sym typeface="Calibri"/>
              </a:rPr>
              <a:t>Poder visualizar la información de lo que está ocurriendo, aun cuando no se encuentre en el lugar de la emergencia, y poder comunicarse con alguien que sí esté allí.</a:t>
            </a:r>
            <a:endParaRPr sz="2367">
              <a:solidFill>
                <a:schemeClr val="lt1"/>
              </a:solidFill>
              <a:latin typeface="Inter"/>
              <a:ea typeface="Inter"/>
              <a:cs typeface="Inter"/>
              <a:sym typeface="Inter"/>
            </a:endParaRPr>
          </a:p>
        </p:txBody>
      </p:sp>
      <p:grpSp>
        <p:nvGrpSpPr>
          <p:cNvPr id="212" name="Google Shape;212;p5"/>
          <p:cNvGrpSpPr/>
          <p:nvPr/>
        </p:nvGrpSpPr>
        <p:grpSpPr>
          <a:xfrm rot="5400000">
            <a:off x="6774564" y="-3395654"/>
            <a:ext cx="4127957" cy="7280430"/>
            <a:chOff x="0" y="-38100"/>
            <a:chExt cx="1087198" cy="1917480"/>
          </a:xfrm>
        </p:grpSpPr>
        <p:sp>
          <p:nvSpPr>
            <p:cNvPr id="213" name="Google Shape;213;p5"/>
            <p:cNvSpPr/>
            <p:nvPr/>
          </p:nvSpPr>
          <p:spPr>
            <a:xfrm>
              <a:off x="0" y="0"/>
              <a:ext cx="1087198" cy="1879380"/>
            </a:xfrm>
            <a:custGeom>
              <a:rect b="b" l="l" r="r" t="t"/>
              <a:pathLst>
                <a:path extrusionOk="0" h="1879380" w="1087198">
                  <a:moveTo>
                    <a:pt x="52514" y="0"/>
                  </a:moveTo>
                  <a:lnTo>
                    <a:pt x="1034685" y="0"/>
                  </a:lnTo>
                  <a:cubicBezTo>
                    <a:pt x="1063687" y="0"/>
                    <a:pt x="1087198" y="23511"/>
                    <a:pt x="1087198" y="52514"/>
                  </a:cubicBezTo>
                  <a:lnTo>
                    <a:pt x="1087198" y="1826866"/>
                  </a:lnTo>
                  <a:cubicBezTo>
                    <a:pt x="1087198" y="1840794"/>
                    <a:pt x="1081666" y="1854151"/>
                    <a:pt x="1071818" y="1863999"/>
                  </a:cubicBezTo>
                  <a:cubicBezTo>
                    <a:pt x="1061969" y="1873847"/>
                    <a:pt x="1048612" y="1879380"/>
                    <a:pt x="1034685" y="1879380"/>
                  </a:cubicBezTo>
                  <a:lnTo>
                    <a:pt x="52514" y="1879380"/>
                  </a:lnTo>
                  <a:cubicBezTo>
                    <a:pt x="23511" y="1879380"/>
                    <a:pt x="0" y="1855869"/>
                    <a:pt x="0" y="1826866"/>
                  </a:cubicBezTo>
                  <a:lnTo>
                    <a:pt x="0" y="52514"/>
                  </a:lnTo>
                  <a:cubicBezTo>
                    <a:pt x="0" y="23511"/>
                    <a:pt x="23511" y="0"/>
                    <a:pt x="52514"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5"/>
            <p:cNvSpPr txBox="1"/>
            <p:nvPr/>
          </p:nvSpPr>
          <p:spPr>
            <a:xfrm>
              <a:off x="0" y="-38100"/>
              <a:ext cx="1087198" cy="191748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 name="Google Shape;215;p5"/>
          <p:cNvSpPr txBox="1"/>
          <p:nvPr/>
        </p:nvSpPr>
        <p:spPr>
          <a:xfrm>
            <a:off x="5322571" y="523423"/>
            <a:ext cx="6696587" cy="1218282"/>
          </a:xfrm>
          <a:prstGeom prst="rect">
            <a:avLst/>
          </a:prstGeom>
          <a:noFill/>
          <a:ln>
            <a:noFill/>
          </a:ln>
        </p:spPr>
        <p:txBody>
          <a:bodyPr anchorCtr="0" anchor="t" bIns="0" lIns="0" spcFirstLastPara="1" rIns="0" wrap="square" tIns="0">
            <a:spAutoFit/>
          </a:bodyPr>
          <a:lstStyle/>
          <a:p>
            <a:pPr indent="0" lvl="0" marL="0" marR="0" rtl="0" algn="ctr">
              <a:lnSpc>
                <a:spcPct val="118137"/>
              </a:lnSpc>
              <a:spcBef>
                <a:spcPts val="0"/>
              </a:spcBef>
              <a:spcAft>
                <a:spcPts val="0"/>
              </a:spcAft>
              <a:buNone/>
            </a:pPr>
            <a:r>
              <a:rPr lang="es-MX" sz="8000">
                <a:solidFill>
                  <a:schemeClr val="lt1"/>
                </a:solidFill>
                <a:latin typeface="Calibri"/>
                <a:ea typeface="Calibri"/>
                <a:cs typeface="Calibri"/>
                <a:sym typeface="Calibri"/>
              </a:rPr>
              <a:t>Necesidades</a:t>
            </a:r>
            <a:endParaRPr b="1" sz="7621">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1" name="Google Shape;221;p6"/>
          <p:cNvGrpSpPr/>
          <p:nvPr/>
        </p:nvGrpSpPr>
        <p:grpSpPr>
          <a:xfrm rot="5400000">
            <a:off x="-1036236" y="-100579"/>
            <a:ext cx="12192397" cy="11275702"/>
            <a:chOff x="0" y="-38100"/>
            <a:chExt cx="3211166" cy="2969732"/>
          </a:xfrm>
        </p:grpSpPr>
        <p:sp>
          <p:nvSpPr>
            <p:cNvPr id="222" name="Google Shape;222;p6"/>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6"/>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4" name="Google Shape;224;p6"/>
          <p:cNvSpPr txBox="1"/>
          <p:nvPr/>
        </p:nvSpPr>
        <p:spPr>
          <a:xfrm>
            <a:off x="685624" y="3246741"/>
            <a:ext cx="7279369" cy="3856312"/>
          </a:xfrm>
          <a:prstGeom prst="rect">
            <a:avLst/>
          </a:prstGeom>
          <a:noFill/>
          <a:ln>
            <a:noFill/>
          </a:ln>
        </p:spPr>
        <p:txBody>
          <a:bodyPr anchorCtr="0" anchor="t" bIns="0" lIns="0" spcFirstLastPara="1" rIns="0" wrap="square" tIns="0">
            <a:spAutoFit/>
          </a:bodyPr>
          <a:lstStyle/>
          <a:p>
            <a:pPr indent="0" lvl="0" marL="0" marR="0" rtl="0" algn="l">
              <a:lnSpc>
                <a:spcPct val="158791"/>
              </a:lnSpc>
              <a:spcBef>
                <a:spcPts val="0"/>
              </a:spcBef>
              <a:spcAft>
                <a:spcPts val="0"/>
              </a:spcAft>
              <a:buNone/>
            </a:pPr>
            <a:r>
              <a:rPr lang="es-MX" sz="2400">
                <a:solidFill>
                  <a:schemeClr val="lt1"/>
                </a:solidFill>
                <a:latin typeface="Calibri"/>
                <a:ea typeface="Calibri"/>
                <a:cs typeface="Calibri"/>
                <a:sym typeface="Calibri"/>
              </a:rPr>
              <a:t>El Proyecto PRAC es una plataforma móvil que permite mantener la comunicación incluso cuando los sistemas tradicionales no están disponibles. Esto es posible gracias a su funcionamiento mediante tecnología LoRa Mesh, la cual permite utilizar el dispositivo móvil como medio de recepción y envío de mensajes, asegurando la comunicación independientemente de las condiciones del momento.</a:t>
            </a:r>
            <a:endParaRPr sz="2370">
              <a:solidFill>
                <a:schemeClr val="lt1"/>
              </a:solidFill>
              <a:latin typeface="Inter"/>
              <a:ea typeface="Inter"/>
              <a:cs typeface="Inter"/>
              <a:sym typeface="Inter"/>
            </a:endParaRPr>
          </a:p>
        </p:txBody>
      </p:sp>
      <p:sp>
        <p:nvSpPr>
          <p:cNvPr id="225" name="Google Shape;225;p6"/>
          <p:cNvSpPr txBox="1"/>
          <p:nvPr/>
        </p:nvSpPr>
        <p:spPr>
          <a:xfrm>
            <a:off x="1563995" y="1623653"/>
            <a:ext cx="6518388" cy="1166410"/>
          </a:xfrm>
          <a:prstGeom prst="rect">
            <a:avLst/>
          </a:prstGeom>
          <a:noFill/>
          <a:ln>
            <a:noFill/>
          </a:ln>
        </p:spPr>
        <p:txBody>
          <a:bodyPr anchorCtr="0" anchor="t" bIns="0" lIns="0" spcFirstLastPara="1" rIns="0" wrap="square" tIns="0">
            <a:spAutoFit/>
          </a:bodyPr>
          <a:lstStyle/>
          <a:p>
            <a:pPr indent="0" lvl="0" marL="0" marR="0" rtl="0" algn="l">
              <a:lnSpc>
                <a:spcPct val="124012"/>
              </a:lnSpc>
              <a:spcBef>
                <a:spcPts val="0"/>
              </a:spcBef>
              <a:spcAft>
                <a:spcPts val="0"/>
              </a:spcAft>
              <a:buNone/>
            </a:pPr>
            <a:r>
              <a:rPr lang="es-MX" sz="7619">
                <a:solidFill>
                  <a:schemeClr val="lt1"/>
                </a:solidFill>
                <a:latin typeface="Calibri"/>
                <a:ea typeface="Calibri"/>
                <a:cs typeface="Calibri"/>
                <a:sym typeface="Calibri"/>
              </a:rPr>
              <a:t>Solución</a:t>
            </a:r>
            <a:r>
              <a:rPr b="1" lang="es-MX" sz="7621">
                <a:solidFill>
                  <a:srgbClr val="FFFFFF"/>
                </a:solidFill>
                <a:latin typeface="Arial"/>
                <a:ea typeface="Arial"/>
                <a:cs typeface="Arial"/>
                <a:sym typeface="Arial"/>
              </a:rPr>
              <a:t> </a:t>
            </a:r>
            <a:endParaRPr/>
          </a:p>
        </p:txBody>
      </p:sp>
      <p:pic>
        <p:nvPicPr>
          <p:cNvPr descr="Interfaz de usuario gráfica, Texto, Aplicación" id="226" name="Google Shape;226;p6"/>
          <p:cNvPicPr preferRelativeResize="0"/>
          <p:nvPr/>
        </p:nvPicPr>
        <p:blipFill rotWithShape="1">
          <a:blip r:embed="rId4">
            <a:alphaModFix/>
          </a:blip>
          <a:srcRect b="0" l="0" r="0" t="0"/>
          <a:stretch/>
        </p:blipFill>
        <p:spPr>
          <a:xfrm>
            <a:off x="12627490" y="1545585"/>
            <a:ext cx="3534412" cy="7867909"/>
          </a:xfrm>
          <a:prstGeom prst="rect">
            <a:avLst/>
          </a:prstGeom>
          <a:noFill/>
          <a:ln>
            <a:noFill/>
          </a:ln>
        </p:spPr>
      </p:pic>
      <p:grpSp>
        <p:nvGrpSpPr>
          <p:cNvPr id="227" name="Google Shape;227;p6"/>
          <p:cNvGrpSpPr/>
          <p:nvPr/>
        </p:nvGrpSpPr>
        <p:grpSpPr>
          <a:xfrm>
            <a:off x="12315119" y="1365747"/>
            <a:ext cx="4159154" cy="8227584"/>
            <a:chOff x="0" y="0"/>
            <a:chExt cx="2620010" cy="5182870"/>
          </a:xfrm>
        </p:grpSpPr>
        <p:sp>
          <p:nvSpPr>
            <p:cNvPr id="228" name="Google Shape;228;p6"/>
            <p:cNvSpPr/>
            <p:nvPr/>
          </p:nvSpPr>
          <p:spPr>
            <a:xfrm>
              <a:off x="53340" y="25400"/>
              <a:ext cx="2513330" cy="5132070"/>
            </a:xfrm>
            <a:custGeom>
              <a:rect b="b" l="l" r="r" t="t"/>
              <a:pathLst>
                <a:path extrusionOk="0"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6"/>
            <p:cNvSpPr/>
            <p:nvPr/>
          </p:nvSpPr>
          <p:spPr>
            <a:xfrm>
              <a:off x="1121410" y="198120"/>
              <a:ext cx="347980" cy="43180"/>
            </a:xfrm>
            <a:custGeom>
              <a:rect b="b" l="l" r="r" t="t"/>
              <a:pathLst>
                <a:path extrusionOk="0"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6"/>
            <p:cNvSpPr/>
            <p:nvPr/>
          </p:nvSpPr>
          <p:spPr>
            <a:xfrm>
              <a:off x="1579738" y="187960"/>
              <a:ext cx="63785" cy="63501"/>
            </a:xfrm>
            <a:custGeom>
              <a:rect b="b" l="l" r="r" t="t"/>
              <a:pathLst>
                <a:path extrusionOk="0"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6"/>
            <p:cNvSpPr/>
            <p:nvPr/>
          </p:nvSpPr>
          <p:spPr>
            <a:xfrm>
              <a:off x="0" y="685800"/>
              <a:ext cx="27940" cy="213360"/>
            </a:xfrm>
            <a:custGeom>
              <a:rect b="b" l="l" r="r" t="t"/>
              <a:pathLst>
                <a:path extrusionOk="0"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000A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6"/>
            <p:cNvSpPr/>
            <p:nvPr/>
          </p:nvSpPr>
          <p:spPr>
            <a:xfrm>
              <a:off x="0" y="1057910"/>
              <a:ext cx="27940" cy="384810"/>
            </a:xfrm>
            <a:custGeom>
              <a:rect b="b" l="l" r="r" t="t"/>
              <a:pathLst>
                <a:path extrusionOk="0"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000A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6"/>
            <p:cNvSpPr/>
            <p:nvPr/>
          </p:nvSpPr>
          <p:spPr>
            <a:xfrm>
              <a:off x="0" y="1526540"/>
              <a:ext cx="27940" cy="386080"/>
            </a:xfrm>
            <a:custGeom>
              <a:rect b="b" l="l" r="r" t="t"/>
              <a:pathLst>
                <a:path extrusionOk="0"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000A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6"/>
            <p:cNvSpPr/>
            <p:nvPr/>
          </p:nvSpPr>
          <p:spPr>
            <a:xfrm>
              <a:off x="2592070" y="1184910"/>
              <a:ext cx="27940" cy="618490"/>
            </a:xfrm>
            <a:custGeom>
              <a:rect b="b" l="l" r="r" t="t"/>
              <a:pathLst>
                <a:path extrusionOk="0"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000A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6"/>
            <p:cNvSpPr/>
            <p:nvPr/>
          </p:nvSpPr>
          <p:spPr>
            <a:xfrm>
              <a:off x="27940" y="0"/>
              <a:ext cx="2564130" cy="5182870"/>
            </a:xfrm>
            <a:custGeom>
              <a:rect b="b" l="l" r="r" t="t"/>
              <a:pathLst>
                <a:path extrusionOk="0"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22592" l="0" r="0" t="-551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7"/>
          <p:cNvSpPr/>
          <p:nvPr/>
        </p:nvSpPr>
        <p:spPr>
          <a:xfrm flipH="1">
            <a:off x="2416720" y="9258300"/>
            <a:ext cx="5210615" cy="1676871"/>
          </a:xfrm>
          <a:custGeom>
            <a:rect b="b" l="l" r="r" t="t"/>
            <a:pathLst>
              <a:path extrusionOk="0" h="1676871" w="5210615">
                <a:moveTo>
                  <a:pt x="5210615" y="0"/>
                </a:moveTo>
                <a:lnTo>
                  <a:pt x="0" y="0"/>
                </a:lnTo>
                <a:lnTo>
                  <a:pt x="0" y="1676871"/>
                </a:lnTo>
                <a:lnTo>
                  <a:pt x="5210615" y="1676871"/>
                </a:lnTo>
                <a:lnTo>
                  <a:pt x="5210615"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7"/>
          <p:cNvSpPr/>
          <p:nvPr/>
        </p:nvSpPr>
        <p:spPr>
          <a:xfrm rot="5400000">
            <a:off x="-229458" y="-1204618"/>
            <a:ext cx="3173540" cy="4114800"/>
          </a:xfrm>
          <a:custGeom>
            <a:rect b="b" l="l" r="r" t="t"/>
            <a:pathLst>
              <a:path extrusionOk="0" h="4114800" w="3173540">
                <a:moveTo>
                  <a:pt x="0" y="0"/>
                </a:moveTo>
                <a:lnTo>
                  <a:pt x="3173539" y="0"/>
                </a:lnTo>
                <a:lnTo>
                  <a:pt x="3173539" y="4114800"/>
                </a:lnTo>
                <a:lnTo>
                  <a:pt x="0" y="41148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7"/>
          <p:cNvSpPr/>
          <p:nvPr/>
        </p:nvSpPr>
        <p:spPr>
          <a:xfrm>
            <a:off x="3933385" y="321902"/>
            <a:ext cx="3693950" cy="463423"/>
          </a:xfrm>
          <a:custGeom>
            <a:rect b="b" l="l" r="r" t="t"/>
            <a:pathLst>
              <a:path extrusionOk="0" h="463423" w="3693950">
                <a:moveTo>
                  <a:pt x="0" y="0"/>
                </a:moveTo>
                <a:lnTo>
                  <a:pt x="3693950" y="0"/>
                </a:lnTo>
                <a:lnTo>
                  <a:pt x="3693950" y="463423"/>
                </a:lnTo>
                <a:lnTo>
                  <a:pt x="0" y="46342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7"/>
          <p:cNvSpPr/>
          <p:nvPr/>
        </p:nvSpPr>
        <p:spPr>
          <a:xfrm>
            <a:off x="8220903" y="9501675"/>
            <a:ext cx="3693950" cy="463423"/>
          </a:xfrm>
          <a:custGeom>
            <a:rect b="b" l="l" r="r" t="t"/>
            <a:pathLst>
              <a:path extrusionOk="0" h="463423" w="3693950">
                <a:moveTo>
                  <a:pt x="0" y="0"/>
                </a:moveTo>
                <a:lnTo>
                  <a:pt x="3693950" y="0"/>
                </a:lnTo>
                <a:lnTo>
                  <a:pt x="3693950" y="463423"/>
                </a:lnTo>
                <a:lnTo>
                  <a:pt x="0" y="46342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7"/>
          <p:cNvSpPr txBox="1"/>
          <p:nvPr/>
        </p:nvSpPr>
        <p:spPr>
          <a:xfrm>
            <a:off x="1214804" y="650432"/>
            <a:ext cx="14012197" cy="1243930"/>
          </a:xfrm>
          <a:prstGeom prst="rect">
            <a:avLst/>
          </a:prstGeom>
          <a:noFill/>
          <a:ln>
            <a:noFill/>
          </a:ln>
        </p:spPr>
        <p:txBody>
          <a:bodyPr anchorCtr="0" anchor="t" bIns="0" lIns="0" spcFirstLastPara="1" rIns="0" wrap="square" tIns="0">
            <a:spAutoFit/>
          </a:bodyPr>
          <a:lstStyle/>
          <a:p>
            <a:pPr indent="0" lvl="1" marL="0" marR="0" rtl="0" algn="l">
              <a:lnSpc>
                <a:spcPct val="114000"/>
              </a:lnSpc>
              <a:spcBef>
                <a:spcPts val="0"/>
              </a:spcBef>
              <a:spcAft>
                <a:spcPts val="0"/>
              </a:spcAft>
              <a:buNone/>
            </a:pPr>
            <a:r>
              <a:rPr b="0" i="0" lang="es-MX" sz="8500" u="none" cap="none" strike="noStrike">
                <a:solidFill>
                  <a:srgbClr val="D5E6EB"/>
                </a:solidFill>
                <a:latin typeface="Arial"/>
                <a:ea typeface="Arial"/>
                <a:cs typeface="Arial"/>
                <a:sym typeface="Arial"/>
              </a:rPr>
              <a:t>Requisitos funcionales</a:t>
            </a:r>
            <a:endParaRPr b="0" i="0" sz="8500" u="none" cap="none" strike="noStrike">
              <a:solidFill>
                <a:srgbClr val="D5E6EB"/>
              </a:solidFill>
              <a:latin typeface="Arial"/>
              <a:ea typeface="Arial"/>
              <a:cs typeface="Arial"/>
              <a:sym typeface="Arial"/>
            </a:endParaRPr>
          </a:p>
        </p:txBody>
      </p:sp>
      <p:pic>
        <p:nvPicPr>
          <p:cNvPr id="246" name="Google Shape;246;p7"/>
          <p:cNvPicPr preferRelativeResize="0"/>
          <p:nvPr/>
        </p:nvPicPr>
        <p:blipFill rotWithShape="1">
          <a:blip r:embed="rId7">
            <a:alphaModFix/>
          </a:blip>
          <a:srcRect b="0" l="0" r="0" t="0"/>
          <a:stretch/>
        </p:blipFill>
        <p:spPr>
          <a:xfrm>
            <a:off x="1676400" y="1935156"/>
            <a:ext cx="14630400" cy="80299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22592" l="0" r="0" t="-551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8"/>
          <p:cNvSpPr/>
          <p:nvPr/>
        </p:nvSpPr>
        <p:spPr>
          <a:xfrm flipH="1">
            <a:off x="2416720" y="9258300"/>
            <a:ext cx="5210615" cy="1676871"/>
          </a:xfrm>
          <a:custGeom>
            <a:rect b="b" l="l" r="r" t="t"/>
            <a:pathLst>
              <a:path extrusionOk="0" h="1676871" w="5210615">
                <a:moveTo>
                  <a:pt x="5210615" y="0"/>
                </a:moveTo>
                <a:lnTo>
                  <a:pt x="0" y="0"/>
                </a:lnTo>
                <a:lnTo>
                  <a:pt x="0" y="1676871"/>
                </a:lnTo>
                <a:lnTo>
                  <a:pt x="5210615" y="1676871"/>
                </a:lnTo>
                <a:lnTo>
                  <a:pt x="5210615"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8"/>
          <p:cNvSpPr/>
          <p:nvPr/>
        </p:nvSpPr>
        <p:spPr>
          <a:xfrm rot="5400000">
            <a:off x="-229458" y="-1204618"/>
            <a:ext cx="3173540" cy="4114800"/>
          </a:xfrm>
          <a:custGeom>
            <a:rect b="b" l="l" r="r" t="t"/>
            <a:pathLst>
              <a:path extrusionOk="0" h="4114800" w="3173540">
                <a:moveTo>
                  <a:pt x="0" y="0"/>
                </a:moveTo>
                <a:lnTo>
                  <a:pt x="3173539" y="0"/>
                </a:lnTo>
                <a:lnTo>
                  <a:pt x="3173539" y="4114800"/>
                </a:lnTo>
                <a:lnTo>
                  <a:pt x="0" y="41148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8"/>
          <p:cNvSpPr/>
          <p:nvPr/>
        </p:nvSpPr>
        <p:spPr>
          <a:xfrm>
            <a:off x="3933385" y="321902"/>
            <a:ext cx="3693950" cy="463423"/>
          </a:xfrm>
          <a:custGeom>
            <a:rect b="b" l="l" r="r" t="t"/>
            <a:pathLst>
              <a:path extrusionOk="0" h="463423" w="3693950">
                <a:moveTo>
                  <a:pt x="0" y="0"/>
                </a:moveTo>
                <a:lnTo>
                  <a:pt x="3693950" y="0"/>
                </a:lnTo>
                <a:lnTo>
                  <a:pt x="3693950" y="463423"/>
                </a:lnTo>
                <a:lnTo>
                  <a:pt x="0" y="46342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8"/>
          <p:cNvSpPr/>
          <p:nvPr/>
        </p:nvSpPr>
        <p:spPr>
          <a:xfrm>
            <a:off x="8220903" y="9501675"/>
            <a:ext cx="3693950" cy="463423"/>
          </a:xfrm>
          <a:custGeom>
            <a:rect b="b" l="l" r="r" t="t"/>
            <a:pathLst>
              <a:path extrusionOk="0" h="463423" w="3693950">
                <a:moveTo>
                  <a:pt x="0" y="0"/>
                </a:moveTo>
                <a:lnTo>
                  <a:pt x="3693950" y="0"/>
                </a:lnTo>
                <a:lnTo>
                  <a:pt x="3693950" y="463423"/>
                </a:lnTo>
                <a:lnTo>
                  <a:pt x="0" y="46342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8"/>
          <p:cNvSpPr txBox="1"/>
          <p:nvPr/>
        </p:nvSpPr>
        <p:spPr>
          <a:xfrm>
            <a:off x="1214804" y="650432"/>
            <a:ext cx="14012197" cy="1243930"/>
          </a:xfrm>
          <a:prstGeom prst="rect">
            <a:avLst/>
          </a:prstGeom>
          <a:noFill/>
          <a:ln>
            <a:noFill/>
          </a:ln>
        </p:spPr>
        <p:txBody>
          <a:bodyPr anchorCtr="0" anchor="t" bIns="0" lIns="0" spcFirstLastPara="1" rIns="0" wrap="square" tIns="0">
            <a:spAutoFit/>
          </a:bodyPr>
          <a:lstStyle/>
          <a:p>
            <a:pPr indent="0" lvl="1" marL="0" marR="0" rtl="0" algn="l">
              <a:lnSpc>
                <a:spcPct val="114000"/>
              </a:lnSpc>
              <a:spcBef>
                <a:spcPts val="0"/>
              </a:spcBef>
              <a:spcAft>
                <a:spcPts val="0"/>
              </a:spcAft>
              <a:buNone/>
            </a:pPr>
            <a:r>
              <a:rPr b="0" i="0" lang="es-MX" sz="8500" u="none" cap="none" strike="noStrike">
                <a:solidFill>
                  <a:srgbClr val="D5E6EB"/>
                </a:solidFill>
                <a:latin typeface="Arial"/>
                <a:ea typeface="Arial"/>
                <a:cs typeface="Arial"/>
                <a:sym typeface="Arial"/>
              </a:rPr>
              <a:t>Requisitos no funcionales</a:t>
            </a:r>
            <a:endParaRPr b="0" i="0" sz="8500" u="none" cap="none" strike="noStrike">
              <a:solidFill>
                <a:srgbClr val="D5E6EB"/>
              </a:solidFill>
              <a:latin typeface="Arial"/>
              <a:ea typeface="Arial"/>
              <a:cs typeface="Arial"/>
              <a:sym typeface="Arial"/>
            </a:endParaRPr>
          </a:p>
        </p:txBody>
      </p:sp>
      <p:pic>
        <p:nvPicPr>
          <p:cNvPr descr="Tabla&#10;&#10;El contenido generado por IA puede ser incorrecto." id="257" name="Google Shape;257;p8"/>
          <p:cNvPicPr preferRelativeResize="0"/>
          <p:nvPr/>
        </p:nvPicPr>
        <p:blipFill rotWithShape="1">
          <a:blip r:embed="rId7">
            <a:alphaModFix/>
          </a:blip>
          <a:srcRect b="0" l="0" r="0" t="0"/>
          <a:stretch/>
        </p:blipFill>
        <p:spPr>
          <a:xfrm>
            <a:off x="1981200" y="1917620"/>
            <a:ext cx="13694982" cy="788587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9"/>
          <p:cNvSpPr txBox="1"/>
          <p:nvPr/>
        </p:nvSpPr>
        <p:spPr>
          <a:xfrm>
            <a:off x="4953000" y="4905144"/>
            <a:ext cx="98263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MX"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263" name="Google Shape;263;p9"/>
          <p:cNvSpPr txBox="1"/>
          <p:nvPr/>
        </p:nvSpPr>
        <p:spPr>
          <a:xfrm>
            <a:off x="12470186" y="5059254"/>
            <a:ext cx="23092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alibri"/>
                <a:ea typeface="Calibri"/>
                <a:cs typeface="Calibri"/>
                <a:sym typeface="Calibri"/>
              </a:rPr>
              <a:t> </a:t>
            </a:r>
            <a:endParaRPr/>
          </a:p>
        </p:txBody>
      </p:sp>
      <p:pic>
        <p:nvPicPr>
          <p:cNvPr descr="Interfaz de usuario gráfica, Aplicación, Teams&#10;&#10;El contenido generado por IA puede ser incorrecto." id="264" name="Google Shape;264;p9"/>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pSp>
        <p:nvGrpSpPr>
          <p:cNvPr id="269" name="Google Shape;269;p10"/>
          <p:cNvGrpSpPr/>
          <p:nvPr/>
        </p:nvGrpSpPr>
        <p:grpSpPr>
          <a:xfrm>
            <a:off x="16420234" y="-1717598"/>
            <a:ext cx="3735531" cy="3735531"/>
            <a:chOff x="0" y="0"/>
            <a:chExt cx="812800" cy="812800"/>
          </a:xfrm>
        </p:grpSpPr>
        <p:sp>
          <p:nvSpPr>
            <p:cNvPr id="270" name="Google Shape;27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2" name="Google Shape;272;p10"/>
          <p:cNvGrpSpPr/>
          <p:nvPr/>
        </p:nvGrpSpPr>
        <p:grpSpPr>
          <a:xfrm>
            <a:off x="747857" y="-643475"/>
            <a:ext cx="1286950" cy="1286950"/>
            <a:chOff x="0" y="0"/>
            <a:chExt cx="812800" cy="812800"/>
          </a:xfrm>
        </p:grpSpPr>
        <p:sp>
          <p:nvSpPr>
            <p:cNvPr id="273" name="Google Shape;27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5" name="Google Shape;275;p10"/>
          <p:cNvGrpSpPr/>
          <p:nvPr/>
        </p:nvGrpSpPr>
        <p:grpSpPr>
          <a:xfrm>
            <a:off x="-1929195" y="8389571"/>
            <a:ext cx="3735531" cy="3735531"/>
            <a:chOff x="0" y="0"/>
            <a:chExt cx="812800" cy="812800"/>
          </a:xfrm>
        </p:grpSpPr>
        <p:sp>
          <p:nvSpPr>
            <p:cNvPr id="276" name="Google Shape;27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Interfaz de usuario gráfica, Texto&#10;&#10;El contenido generado por IA puede ser incorrecto." id="278" name="Google Shape;278;p10"/>
          <p:cNvPicPr preferRelativeResize="0"/>
          <p:nvPr/>
        </p:nvPicPr>
        <p:blipFill rotWithShape="1">
          <a:blip r:embed="rId3">
            <a:alphaModFix/>
          </a:blip>
          <a:srcRect b="0" l="0" r="0" t="0"/>
          <a:stretch/>
        </p:blipFill>
        <p:spPr>
          <a:xfrm>
            <a:off x="2720497" y="150167"/>
            <a:ext cx="13524634" cy="980668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1"/>
          <p:cNvSpPr txBox="1"/>
          <p:nvPr/>
        </p:nvSpPr>
        <p:spPr>
          <a:xfrm>
            <a:off x="3315651" y="1181100"/>
            <a:ext cx="10724005" cy="974626"/>
          </a:xfrm>
          <a:prstGeom prst="rect">
            <a:avLst/>
          </a:prstGeom>
          <a:noFill/>
          <a:ln>
            <a:noFill/>
          </a:ln>
        </p:spPr>
        <p:txBody>
          <a:bodyPr anchorCtr="0" anchor="t" bIns="0" lIns="0" spcFirstLastPara="1" rIns="0" wrap="square" tIns="0">
            <a:spAutoFit/>
          </a:bodyPr>
          <a:lstStyle/>
          <a:p>
            <a:pPr indent="0" lvl="0" marL="0" marR="0" rtl="0" algn="ctr">
              <a:lnSpc>
                <a:spcPct val="105180"/>
              </a:lnSpc>
              <a:spcBef>
                <a:spcPts val="0"/>
              </a:spcBef>
              <a:spcAft>
                <a:spcPts val="0"/>
              </a:spcAft>
              <a:buNone/>
            </a:pPr>
            <a:r>
              <a:rPr lang="es-MX" sz="7200">
                <a:solidFill>
                  <a:schemeClr val="dk1"/>
                </a:solidFill>
                <a:latin typeface="Calibri"/>
                <a:ea typeface="Calibri"/>
                <a:cs typeface="Calibri"/>
                <a:sym typeface="Calibri"/>
              </a:rPr>
              <a:t>Metodología</a:t>
            </a:r>
            <a:endParaRPr b="1" sz="6643">
              <a:solidFill>
                <a:srgbClr val="21396D"/>
              </a:solidFill>
              <a:latin typeface="Arial"/>
              <a:ea typeface="Arial"/>
              <a:cs typeface="Arial"/>
              <a:sym typeface="Arial"/>
            </a:endParaRPr>
          </a:p>
        </p:txBody>
      </p:sp>
      <p:sp>
        <p:nvSpPr>
          <p:cNvPr id="284" name="Google Shape;284;p11"/>
          <p:cNvSpPr/>
          <p:nvPr/>
        </p:nvSpPr>
        <p:spPr>
          <a:xfrm rot="8495278">
            <a:off x="-1061330" y="-383139"/>
            <a:ext cx="4180060" cy="2090030"/>
          </a:xfrm>
          <a:custGeom>
            <a:rect b="b" l="l" r="r" t="t"/>
            <a:pathLst>
              <a:path extrusionOk="0" h="2090030" w="4180060">
                <a:moveTo>
                  <a:pt x="0" y="0"/>
                </a:moveTo>
                <a:lnTo>
                  <a:pt x="4180060" y="0"/>
                </a:lnTo>
                <a:lnTo>
                  <a:pt x="4180060" y="2090030"/>
                </a:lnTo>
                <a:lnTo>
                  <a:pt x="0" y="209003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1"/>
          <p:cNvSpPr/>
          <p:nvPr/>
        </p:nvSpPr>
        <p:spPr>
          <a:xfrm rot="-2537273">
            <a:off x="15089332" y="7996189"/>
            <a:ext cx="4180060" cy="2090030"/>
          </a:xfrm>
          <a:custGeom>
            <a:rect b="b" l="l" r="r" t="t"/>
            <a:pathLst>
              <a:path extrusionOk="0" h="2090030" w="4180060">
                <a:moveTo>
                  <a:pt x="0" y="0"/>
                </a:moveTo>
                <a:lnTo>
                  <a:pt x="4180060" y="0"/>
                </a:lnTo>
                <a:lnTo>
                  <a:pt x="4180060" y="2090030"/>
                </a:lnTo>
                <a:lnTo>
                  <a:pt x="0" y="209003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Ventajas y desventajas de la metodología Scrum" id="286" name="Google Shape;286;p11"/>
          <p:cNvPicPr preferRelativeResize="0"/>
          <p:nvPr/>
        </p:nvPicPr>
        <p:blipFill rotWithShape="1">
          <a:blip r:embed="rId4">
            <a:alphaModFix/>
          </a:blip>
          <a:srcRect b="0" l="0" r="0" t="0"/>
          <a:stretch/>
        </p:blipFill>
        <p:spPr>
          <a:xfrm>
            <a:off x="4110910" y="2628900"/>
            <a:ext cx="9906000" cy="6604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22592" l="0" r="0" t="-551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2" name="Google Shape;292;p12"/>
          <p:cNvGrpSpPr/>
          <p:nvPr/>
        </p:nvGrpSpPr>
        <p:grpSpPr>
          <a:xfrm>
            <a:off x="7347449" y="3513234"/>
            <a:ext cx="3593102" cy="3677315"/>
            <a:chOff x="0" y="-19050"/>
            <a:chExt cx="812800" cy="831850"/>
          </a:xfrm>
        </p:grpSpPr>
        <p:sp>
          <p:nvSpPr>
            <p:cNvPr id="293" name="Google Shape;29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2"/>
            <p:cNvSpPr txBox="1"/>
            <p:nvPr/>
          </p:nvSpPr>
          <p:spPr>
            <a:xfrm>
              <a:off x="76200" y="-19050"/>
              <a:ext cx="660400" cy="755650"/>
            </a:xfrm>
            <a:prstGeom prst="rect">
              <a:avLst/>
            </a:prstGeom>
            <a:noFill/>
            <a:ln>
              <a:noFill/>
            </a:ln>
          </p:spPr>
          <p:txBody>
            <a:bodyPr anchorCtr="0" anchor="ctr" bIns="50800" lIns="50800" spcFirstLastPara="1" rIns="50800" wrap="square" tIns="50800">
              <a:noAutofit/>
            </a:bodyPr>
            <a:lstStyle/>
            <a:p>
              <a:pPr indent="0" lvl="0" marL="0" marR="0" rtl="0" algn="l">
                <a:lnSpc>
                  <a:spcPct val="161000"/>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5" name="Google Shape;295;p12"/>
          <p:cNvSpPr txBox="1"/>
          <p:nvPr/>
        </p:nvSpPr>
        <p:spPr>
          <a:xfrm>
            <a:off x="7800897" y="5082366"/>
            <a:ext cx="2950485" cy="47259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s-MX" sz="2760">
                <a:solidFill>
                  <a:srgbClr val="FFFFFF"/>
                </a:solidFill>
                <a:latin typeface="Arial"/>
                <a:ea typeface="Arial"/>
                <a:cs typeface="Arial"/>
                <a:sym typeface="Arial"/>
              </a:rPr>
              <a:t>Desglose de</a:t>
            </a:r>
            <a:endParaRPr/>
          </a:p>
        </p:txBody>
      </p:sp>
      <p:sp>
        <p:nvSpPr>
          <p:cNvPr id="296" name="Google Shape;296;p12"/>
          <p:cNvSpPr txBox="1"/>
          <p:nvPr/>
        </p:nvSpPr>
        <p:spPr>
          <a:xfrm>
            <a:off x="7800897" y="5586865"/>
            <a:ext cx="2686205" cy="45570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s-MX" sz="2760">
                <a:solidFill>
                  <a:srgbClr val="01E8B9"/>
                </a:solidFill>
                <a:latin typeface="Arial"/>
                <a:ea typeface="Arial"/>
                <a:cs typeface="Arial"/>
                <a:sym typeface="Arial"/>
              </a:rPr>
              <a:t>Sprint</a:t>
            </a:r>
            <a:endParaRPr/>
          </a:p>
        </p:txBody>
      </p:sp>
      <p:sp>
        <p:nvSpPr>
          <p:cNvPr id="297" name="Google Shape;297;p12"/>
          <p:cNvSpPr/>
          <p:nvPr/>
        </p:nvSpPr>
        <p:spPr>
          <a:xfrm>
            <a:off x="8707570" y="4156401"/>
            <a:ext cx="872859" cy="872859"/>
          </a:xfrm>
          <a:custGeom>
            <a:rect b="b" l="l" r="r" t="t"/>
            <a:pathLst>
              <a:path extrusionOk="0" h="872859" w="872859">
                <a:moveTo>
                  <a:pt x="0" y="0"/>
                </a:moveTo>
                <a:lnTo>
                  <a:pt x="872860" y="0"/>
                </a:lnTo>
                <a:lnTo>
                  <a:pt x="872860" y="872860"/>
                </a:lnTo>
                <a:lnTo>
                  <a:pt x="0" y="87286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2"/>
          <p:cNvSpPr/>
          <p:nvPr/>
        </p:nvSpPr>
        <p:spPr>
          <a:xfrm rot="-5400000">
            <a:off x="2672561" y="1311445"/>
            <a:ext cx="1686781" cy="5413581"/>
          </a:xfrm>
          <a:custGeom>
            <a:rect b="b" l="l" r="r" t="t"/>
            <a:pathLst>
              <a:path extrusionOk="0" h="23991658" w="7475396">
                <a:moveTo>
                  <a:pt x="5683981" y="0"/>
                </a:moveTo>
                <a:lnTo>
                  <a:pt x="0" y="0"/>
                </a:lnTo>
                <a:lnTo>
                  <a:pt x="0" y="22039064"/>
                </a:lnTo>
                <a:cubicBezTo>
                  <a:pt x="0" y="23199813"/>
                  <a:pt x="791845" y="23991658"/>
                  <a:pt x="1765046" y="23991658"/>
                </a:cubicBezTo>
                <a:lnTo>
                  <a:pt x="7475396" y="23991658"/>
                </a:lnTo>
                <a:lnTo>
                  <a:pt x="7475396" y="1953373"/>
                </a:lnTo>
                <a:cubicBezTo>
                  <a:pt x="7475269" y="791845"/>
                  <a:pt x="6683550" y="0"/>
                  <a:pt x="5683981" y="0"/>
                </a:cubicBezTo>
                <a:close/>
                <a:moveTo>
                  <a:pt x="7348269" y="23864531"/>
                </a:moveTo>
                <a:lnTo>
                  <a:pt x="1765046" y="23864531"/>
                </a:lnTo>
                <a:cubicBezTo>
                  <a:pt x="861822" y="23864531"/>
                  <a:pt x="127000" y="23129709"/>
                  <a:pt x="127000" y="22039064"/>
                </a:cubicBezTo>
                <a:lnTo>
                  <a:pt x="127000" y="127000"/>
                </a:lnTo>
                <a:lnTo>
                  <a:pt x="5683981" y="127000"/>
                </a:lnTo>
                <a:cubicBezTo>
                  <a:pt x="6613574" y="127000"/>
                  <a:pt x="7348396" y="861822"/>
                  <a:pt x="7348396" y="1953373"/>
                </a:cubicBezTo>
                <a:lnTo>
                  <a:pt x="7348396" y="23864531"/>
                </a:lnTo>
                <a:close/>
              </a:path>
            </a:pathLst>
          </a:custGeom>
          <a:gradFill>
            <a:gsLst>
              <a:gs pos="0">
                <a:srgbClr val="00F6B7"/>
              </a:gs>
              <a:gs pos="100000">
                <a:srgbClr val="057FC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2"/>
          <p:cNvSpPr txBox="1"/>
          <p:nvPr/>
        </p:nvSpPr>
        <p:spPr>
          <a:xfrm>
            <a:off x="1180622" y="3376911"/>
            <a:ext cx="4431807" cy="15830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MX" sz="1800">
                <a:solidFill>
                  <a:schemeClr val="lt1"/>
                </a:solidFill>
                <a:latin typeface="Calibri"/>
                <a:ea typeface="Calibri"/>
                <a:cs typeface="Calibri"/>
                <a:sym typeface="Calibri"/>
              </a:rPr>
              <a:t>Fase 1: Planificación y Setup</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r>
              <a:rPr lang="es-MX" sz="1800">
                <a:solidFill>
                  <a:schemeClr val="lt1"/>
                </a:solidFill>
                <a:latin typeface="Calibri"/>
                <a:ea typeface="Calibri"/>
                <a:cs typeface="Calibri"/>
                <a:sym typeface="Calibri"/>
              </a:rPr>
              <a:t>:Preparar el entorno de desarrollo, definir la estructura del proyecto, roles del equipo y los lineamientos técnicos iniciales.</a:t>
            </a:r>
            <a:br>
              <a:rPr lang="es-MX" sz="1600">
                <a:solidFill>
                  <a:schemeClr val="dk1"/>
                </a:solidFill>
                <a:latin typeface="Calibri"/>
                <a:ea typeface="Calibri"/>
                <a:cs typeface="Calibri"/>
                <a:sym typeface="Calibri"/>
              </a:rPr>
            </a:br>
            <a:endParaRPr sz="1487" u="none" strike="noStrike">
              <a:solidFill>
                <a:srgbClr val="FFFFFF"/>
              </a:solidFill>
              <a:latin typeface="Montserrat"/>
              <a:ea typeface="Montserrat"/>
              <a:cs typeface="Montserrat"/>
              <a:sym typeface="Montserrat"/>
            </a:endParaRPr>
          </a:p>
        </p:txBody>
      </p:sp>
      <p:grpSp>
        <p:nvGrpSpPr>
          <p:cNvPr id="300" name="Google Shape;300;p12"/>
          <p:cNvGrpSpPr/>
          <p:nvPr/>
        </p:nvGrpSpPr>
        <p:grpSpPr>
          <a:xfrm>
            <a:off x="5612429" y="2766132"/>
            <a:ext cx="848627" cy="848627"/>
            <a:chOff x="0" y="0"/>
            <a:chExt cx="812800" cy="812800"/>
          </a:xfrm>
        </p:grpSpPr>
        <p:sp>
          <p:nvSpPr>
            <p:cNvPr id="301" name="Google Shape;30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0F6B7"/>
                </a:gs>
                <a:gs pos="100000">
                  <a:srgbClr val="057FC0"/>
                </a:gs>
              </a:gsLst>
              <a:lin ang="5400000" scaled="0"/>
            </a:gra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2"/>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140017"/>
                </a:lnSpc>
                <a:spcBef>
                  <a:spcPts val="0"/>
                </a:spcBef>
                <a:spcAft>
                  <a:spcPts val="0"/>
                </a:spcAft>
                <a:buNone/>
              </a:pPr>
              <a:r>
                <a:rPr b="1" lang="es-MX" sz="2334" u="none" strike="noStrike">
                  <a:solidFill>
                    <a:srgbClr val="000000"/>
                  </a:solidFill>
                  <a:latin typeface="Montserrat"/>
                  <a:ea typeface="Montserrat"/>
                  <a:cs typeface="Montserrat"/>
                  <a:sym typeface="Montserrat"/>
                </a:rPr>
                <a:t>0</a:t>
              </a:r>
              <a:endParaRPr/>
            </a:p>
          </p:txBody>
        </p:sp>
      </p:grpSp>
      <p:cxnSp>
        <p:nvCxnSpPr>
          <p:cNvPr id="303" name="Google Shape;303;p12"/>
          <p:cNvCxnSpPr/>
          <p:nvPr/>
        </p:nvCxnSpPr>
        <p:spPr>
          <a:xfrm rot="10800000">
            <a:off x="6461057" y="3190446"/>
            <a:ext cx="2682943" cy="407001"/>
          </a:xfrm>
          <a:prstGeom prst="straightConnector1">
            <a:avLst/>
          </a:prstGeom>
          <a:noFill/>
          <a:ln cap="rnd" cmpd="sng" w="47625">
            <a:solidFill>
              <a:srgbClr val="00F6B7"/>
            </a:solidFill>
            <a:prstDash val="dot"/>
            <a:round/>
            <a:headEnd len="lg" w="lg" type="oval"/>
            <a:tailEnd len="lg" w="lg" type="oval"/>
          </a:ln>
        </p:spPr>
      </p:cxnSp>
      <p:sp>
        <p:nvSpPr>
          <p:cNvPr id="304" name="Google Shape;304;p12"/>
          <p:cNvSpPr/>
          <p:nvPr/>
        </p:nvSpPr>
        <p:spPr>
          <a:xfrm rot="-5400000">
            <a:off x="2672561" y="3508070"/>
            <a:ext cx="1686781" cy="5413581"/>
          </a:xfrm>
          <a:custGeom>
            <a:rect b="b" l="l" r="r" t="t"/>
            <a:pathLst>
              <a:path extrusionOk="0" h="23991658" w="7475396">
                <a:moveTo>
                  <a:pt x="5683981" y="0"/>
                </a:moveTo>
                <a:lnTo>
                  <a:pt x="0" y="0"/>
                </a:lnTo>
                <a:lnTo>
                  <a:pt x="0" y="22039064"/>
                </a:lnTo>
                <a:cubicBezTo>
                  <a:pt x="0" y="23199813"/>
                  <a:pt x="791845" y="23991658"/>
                  <a:pt x="1765046" y="23991658"/>
                </a:cubicBezTo>
                <a:lnTo>
                  <a:pt x="7475396" y="23991658"/>
                </a:lnTo>
                <a:lnTo>
                  <a:pt x="7475396" y="1953373"/>
                </a:lnTo>
                <a:cubicBezTo>
                  <a:pt x="7475269" y="791845"/>
                  <a:pt x="6683550" y="0"/>
                  <a:pt x="5683981" y="0"/>
                </a:cubicBezTo>
                <a:close/>
                <a:moveTo>
                  <a:pt x="7348269" y="23864531"/>
                </a:moveTo>
                <a:lnTo>
                  <a:pt x="1765046" y="23864531"/>
                </a:lnTo>
                <a:cubicBezTo>
                  <a:pt x="861822" y="23864531"/>
                  <a:pt x="127000" y="23129709"/>
                  <a:pt x="127000" y="22039064"/>
                </a:cubicBezTo>
                <a:lnTo>
                  <a:pt x="127000" y="127000"/>
                </a:lnTo>
                <a:lnTo>
                  <a:pt x="5683981" y="127000"/>
                </a:lnTo>
                <a:cubicBezTo>
                  <a:pt x="6613574" y="127000"/>
                  <a:pt x="7348396" y="861822"/>
                  <a:pt x="7348396" y="1953373"/>
                </a:cubicBezTo>
                <a:lnTo>
                  <a:pt x="7348396" y="23864531"/>
                </a:lnTo>
                <a:close/>
              </a:path>
            </a:pathLst>
          </a:custGeom>
          <a:gradFill>
            <a:gsLst>
              <a:gs pos="0">
                <a:srgbClr val="00F6B7"/>
              </a:gs>
              <a:gs pos="100000">
                <a:srgbClr val="057FC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2"/>
          <p:cNvSpPr txBox="1"/>
          <p:nvPr/>
        </p:nvSpPr>
        <p:spPr>
          <a:xfrm>
            <a:off x="1180622" y="5469816"/>
            <a:ext cx="4431807" cy="2521781"/>
          </a:xfrm>
          <a:prstGeom prst="rect">
            <a:avLst/>
          </a:prstGeom>
          <a:noFill/>
          <a:ln>
            <a:noFill/>
          </a:ln>
        </p:spPr>
        <p:txBody>
          <a:bodyPr anchorCtr="0" anchor="t" bIns="0" lIns="0" spcFirstLastPara="1" rIns="0" wrap="square" tIns="0">
            <a:spAutoFit/>
          </a:bodyPr>
          <a:lstStyle/>
          <a:p>
            <a:pPr indent="0" lvl="0" marL="0" marR="0" rtl="0" algn="l">
              <a:lnSpc>
                <a:spcPct val="130125"/>
              </a:lnSpc>
              <a:spcBef>
                <a:spcPts val="0"/>
              </a:spcBef>
              <a:spcAft>
                <a:spcPts val="0"/>
              </a:spcAft>
              <a:buNone/>
            </a:pPr>
            <a:r>
              <a:rPr lang="es-MX" sz="1600">
                <a:solidFill>
                  <a:schemeClr val="lt1"/>
                </a:solidFill>
                <a:latin typeface="Calibri"/>
                <a:ea typeface="Calibri"/>
                <a:cs typeface="Calibri"/>
                <a:sym typeface="Calibri"/>
              </a:rPr>
              <a:t>Fase 2: Sprint 1- Backend Base</a:t>
            </a:r>
            <a:endParaRPr/>
          </a:p>
          <a:p>
            <a:pPr indent="0" lvl="0" marL="0" marR="0" rtl="0" algn="l">
              <a:lnSpc>
                <a:spcPct val="130125"/>
              </a:lnSpc>
              <a:spcBef>
                <a:spcPts val="0"/>
              </a:spcBef>
              <a:spcAft>
                <a:spcPts val="0"/>
              </a:spcAft>
              <a:buNone/>
            </a:pPr>
            <a:r>
              <a:t/>
            </a:r>
            <a:endParaRPr sz="1600" u="none" strike="noStrike">
              <a:solidFill>
                <a:srgbClr val="FFFFFF"/>
              </a:solidFill>
              <a:latin typeface="Montserrat"/>
              <a:ea typeface="Montserrat"/>
              <a:cs typeface="Montserrat"/>
              <a:sym typeface="Montserrat"/>
            </a:endParaRPr>
          </a:p>
          <a:p>
            <a:pPr indent="0" lvl="0" marL="0" marR="0" rtl="0" algn="l">
              <a:spcBef>
                <a:spcPts val="0"/>
              </a:spcBef>
              <a:spcAft>
                <a:spcPts val="0"/>
              </a:spcAft>
              <a:buNone/>
            </a:pPr>
            <a:r>
              <a:rPr lang="es-MX" sz="1600">
                <a:solidFill>
                  <a:schemeClr val="lt1"/>
                </a:solidFill>
                <a:latin typeface="Calibri"/>
                <a:ea typeface="Calibri"/>
                <a:cs typeface="Calibri"/>
                <a:sym typeface="Calibri"/>
              </a:rPr>
              <a:t>Se implementará la estructura base  con endpoints CRUD para administrar alertas, permitiendo su integración con otras aplicaciones y garantizando respuestas en formato JSON.</a:t>
            </a:r>
            <a:endParaRPr/>
          </a:p>
          <a:p>
            <a:pPr indent="0" lvl="0" marL="0" marR="0" rtl="0" algn="l">
              <a:spcBef>
                <a:spcPts val="0"/>
              </a:spcBef>
              <a:spcAft>
                <a:spcPts val="0"/>
              </a:spcAft>
              <a:buNone/>
            </a:pPr>
            <a:br>
              <a:rPr lang="es-MX" sz="18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0" lvl="0" marL="0" marR="0" rtl="0" algn="l">
              <a:spcBef>
                <a:spcPts val="0"/>
              </a:spcBef>
              <a:spcAft>
                <a:spcPts val="0"/>
              </a:spcAft>
              <a:buNone/>
            </a:pPr>
            <a:br>
              <a:rPr lang="es-MX" sz="1600">
                <a:solidFill>
                  <a:schemeClr val="dk1"/>
                </a:solidFill>
                <a:latin typeface="Calibri"/>
                <a:ea typeface="Calibri"/>
                <a:cs typeface="Calibri"/>
                <a:sym typeface="Calibri"/>
              </a:rPr>
            </a:br>
            <a:endParaRPr sz="1487" u="none" strike="noStrike">
              <a:solidFill>
                <a:srgbClr val="FFFFFF"/>
              </a:solidFill>
              <a:latin typeface="Montserrat"/>
              <a:ea typeface="Montserrat"/>
              <a:cs typeface="Montserrat"/>
              <a:sym typeface="Montserrat"/>
            </a:endParaRPr>
          </a:p>
        </p:txBody>
      </p:sp>
      <p:grpSp>
        <p:nvGrpSpPr>
          <p:cNvPr id="306" name="Google Shape;306;p12"/>
          <p:cNvGrpSpPr/>
          <p:nvPr/>
        </p:nvGrpSpPr>
        <p:grpSpPr>
          <a:xfrm>
            <a:off x="5612429" y="4962757"/>
            <a:ext cx="848627" cy="848627"/>
            <a:chOff x="0" y="0"/>
            <a:chExt cx="812800" cy="812800"/>
          </a:xfrm>
        </p:grpSpPr>
        <p:sp>
          <p:nvSpPr>
            <p:cNvPr id="307" name="Google Shape;30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0F6B7"/>
                </a:gs>
                <a:gs pos="100000">
                  <a:srgbClr val="057FC0"/>
                </a:gs>
              </a:gsLst>
              <a:lin ang="5400000" scaled="0"/>
            </a:gra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2"/>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140017"/>
                </a:lnSpc>
                <a:spcBef>
                  <a:spcPts val="0"/>
                </a:spcBef>
                <a:spcAft>
                  <a:spcPts val="0"/>
                </a:spcAft>
                <a:buNone/>
              </a:pPr>
              <a:r>
                <a:rPr b="1" lang="es-MX" sz="2334">
                  <a:solidFill>
                    <a:srgbClr val="000000"/>
                  </a:solidFill>
                  <a:latin typeface="Montserrat"/>
                  <a:ea typeface="Montserrat"/>
                  <a:cs typeface="Montserrat"/>
                  <a:sym typeface="Montserrat"/>
                </a:rPr>
                <a:t>01</a:t>
              </a:r>
              <a:endParaRPr/>
            </a:p>
          </p:txBody>
        </p:sp>
      </p:grpSp>
      <p:sp>
        <p:nvSpPr>
          <p:cNvPr id="309" name="Google Shape;309;p12"/>
          <p:cNvSpPr/>
          <p:nvPr/>
        </p:nvSpPr>
        <p:spPr>
          <a:xfrm rot="-5400000">
            <a:off x="2672561" y="5708119"/>
            <a:ext cx="1686781" cy="5413581"/>
          </a:xfrm>
          <a:custGeom>
            <a:rect b="b" l="l" r="r" t="t"/>
            <a:pathLst>
              <a:path extrusionOk="0" h="23991658" w="7475396">
                <a:moveTo>
                  <a:pt x="5683981" y="0"/>
                </a:moveTo>
                <a:lnTo>
                  <a:pt x="0" y="0"/>
                </a:lnTo>
                <a:lnTo>
                  <a:pt x="0" y="22039064"/>
                </a:lnTo>
                <a:cubicBezTo>
                  <a:pt x="0" y="23199813"/>
                  <a:pt x="791845" y="23991658"/>
                  <a:pt x="1765046" y="23991658"/>
                </a:cubicBezTo>
                <a:lnTo>
                  <a:pt x="7475396" y="23991658"/>
                </a:lnTo>
                <a:lnTo>
                  <a:pt x="7475396" y="1953373"/>
                </a:lnTo>
                <a:cubicBezTo>
                  <a:pt x="7475269" y="791845"/>
                  <a:pt x="6683550" y="0"/>
                  <a:pt x="5683981" y="0"/>
                </a:cubicBezTo>
                <a:close/>
                <a:moveTo>
                  <a:pt x="7348269" y="23864531"/>
                </a:moveTo>
                <a:lnTo>
                  <a:pt x="1765046" y="23864531"/>
                </a:lnTo>
                <a:cubicBezTo>
                  <a:pt x="861822" y="23864531"/>
                  <a:pt x="127000" y="23129709"/>
                  <a:pt x="127000" y="22039064"/>
                </a:cubicBezTo>
                <a:lnTo>
                  <a:pt x="127000" y="127000"/>
                </a:lnTo>
                <a:lnTo>
                  <a:pt x="5683981" y="127000"/>
                </a:lnTo>
                <a:cubicBezTo>
                  <a:pt x="6613574" y="127000"/>
                  <a:pt x="7348396" y="861822"/>
                  <a:pt x="7348396" y="1953373"/>
                </a:cubicBezTo>
                <a:lnTo>
                  <a:pt x="7348396" y="23864531"/>
                </a:lnTo>
                <a:close/>
              </a:path>
            </a:pathLst>
          </a:custGeom>
          <a:gradFill>
            <a:gsLst>
              <a:gs pos="0">
                <a:srgbClr val="00F6B7"/>
              </a:gs>
              <a:gs pos="100000">
                <a:srgbClr val="057FC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2"/>
          <p:cNvSpPr txBox="1"/>
          <p:nvPr/>
        </p:nvSpPr>
        <p:spPr>
          <a:xfrm>
            <a:off x="1180622" y="7773585"/>
            <a:ext cx="4431807" cy="1346522"/>
          </a:xfrm>
          <a:prstGeom prst="rect">
            <a:avLst/>
          </a:prstGeom>
          <a:noFill/>
          <a:ln>
            <a:noFill/>
          </a:ln>
        </p:spPr>
        <p:txBody>
          <a:bodyPr anchorCtr="0" anchor="t" bIns="0" lIns="0" spcFirstLastPara="1" rIns="0" wrap="square" tIns="0">
            <a:spAutoFit/>
          </a:bodyPr>
          <a:lstStyle/>
          <a:p>
            <a:pPr indent="0" lvl="0" marL="0" marR="0" rtl="0" algn="l">
              <a:lnSpc>
                <a:spcPct val="115666"/>
              </a:lnSpc>
              <a:spcBef>
                <a:spcPts val="0"/>
              </a:spcBef>
              <a:spcAft>
                <a:spcPts val="0"/>
              </a:spcAft>
              <a:buNone/>
            </a:pPr>
            <a:r>
              <a:rPr lang="es-MX" sz="1800">
                <a:solidFill>
                  <a:schemeClr val="lt1"/>
                </a:solidFill>
                <a:latin typeface="Calibri"/>
                <a:ea typeface="Calibri"/>
                <a:cs typeface="Calibri"/>
                <a:sym typeface="Calibri"/>
              </a:rPr>
              <a:t>Sprint 2 – Frontend Móvil</a:t>
            </a:r>
            <a:endParaRPr/>
          </a:p>
          <a:p>
            <a:pPr indent="0" lvl="0" marL="0" marR="0" rtl="0" algn="l">
              <a:lnSpc>
                <a:spcPct val="115666"/>
              </a:lnSpc>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l">
              <a:lnSpc>
                <a:spcPct val="115666"/>
              </a:lnSpc>
              <a:spcBef>
                <a:spcPts val="0"/>
              </a:spcBef>
              <a:spcAft>
                <a:spcPts val="0"/>
              </a:spcAft>
              <a:buNone/>
            </a:pPr>
            <a:r>
              <a:rPr lang="es-MX" sz="1800">
                <a:solidFill>
                  <a:schemeClr val="lt1"/>
                </a:solidFill>
                <a:latin typeface="Calibri"/>
                <a:ea typeface="Calibri"/>
                <a:cs typeface="Calibri"/>
                <a:sym typeface="Calibri"/>
              </a:rPr>
              <a:t>Las tareas de Riverpod, LoginPage, HomePage y estado de sesión reflejan el entregable del “frontend base conectado al backend”. </a:t>
            </a:r>
            <a:endParaRPr sz="1487" u="none" strike="noStrike">
              <a:solidFill>
                <a:schemeClr val="lt1"/>
              </a:solidFill>
              <a:latin typeface="Montserrat"/>
              <a:ea typeface="Montserrat"/>
              <a:cs typeface="Montserrat"/>
              <a:sym typeface="Montserrat"/>
            </a:endParaRPr>
          </a:p>
        </p:txBody>
      </p:sp>
      <p:grpSp>
        <p:nvGrpSpPr>
          <p:cNvPr id="311" name="Google Shape;311;p12"/>
          <p:cNvGrpSpPr/>
          <p:nvPr/>
        </p:nvGrpSpPr>
        <p:grpSpPr>
          <a:xfrm>
            <a:off x="5612429" y="7162807"/>
            <a:ext cx="848627" cy="848627"/>
            <a:chOff x="0" y="0"/>
            <a:chExt cx="812800" cy="812800"/>
          </a:xfrm>
        </p:grpSpPr>
        <p:sp>
          <p:nvSpPr>
            <p:cNvPr id="312" name="Google Shape;312;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0F6B7"/>
                </a:gs>
                <a:gs pos="100000">
                  <a:srgbClr val="057FC0"/>
                </a:gs>
              </a:gsLst>
              <a:lin ang="5400000" scaled="0"/>
            </a:gra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2"/>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140017"/>
                </a:lnSpc>
                <a:spcBef>
                  <a:spcPts val="0"/>
                </a:spcBef>
                <a:spcAft>
                  <a:spcPts val="0"/>
                </a:spcAft>
                <a:buNone/>
              </a:pPr>
              <a:r>
                <a:rPr b="1" lang="es-MX" sz="2334">
                  <a:solidFill>
                    <a:srgbClr val="000000"/>
                  </a:solidFill>
                  <a:latin typeface="Montserrat"/>
                  <a:ea typeface="Montserrat"/>
                  <a:cs typeface="Montserrat"/>
                  <a:sym typeface="Montserrat"/>
                </a:rPr>
                <a:t>02</a:t>
              </a:r>
              <a:endParaRPr/>
            </a:p>
          </p:txBody>
        </p:sp>
      </p:grpSp>
      <p:cxnSp>
        <p:nvCxnSpPr>
          <p:cNvPr id="314" name="Google Shape;314;p12"/>
          <p:cNvCxnSpPr/>
          <p:nvPr/>
        </p:nvCxnSpPr>
        <p:spPr>
          <a:xfrm rot="10800000">
            <a:off x="6461057" y="5387071"/>
            <a:ext cx="886392" cy="6927"/>
          </a:xfrm>
          <a:prstGeom prst="straightConnector1">
            <a:avLst/>
          </a:prstGeom>
          <a:noFill/>
          <a:ln cap="rnd" cmpd="sng" w="47625">
            <a:solidFill>
              <a:srgbClr val="00F6B7"/>
            </a:solidFill>
            <a:prstDash val="dot"/>
            <a:round/>
            <a:headEnd len="lg" w="lg" type="oval"/>
            <a:tailEnd len="lg" w="lg" type="oval"/>
          </a:ln>
        </p:spPr>
      </p:cxnSp>
      <p:cxnSp>
        <p:nvCxnSpPr>
          <p:cNvPr id="315" name="Google Shape;315;p12"/>
          <p:cNvCxnSpPr/>
          <p:nvPr/>
        </p:nvCxnSpPr>
        <p:spPr>
          <a:xfrm flipH="1">
            <a:off x="6461057" y="7190549"/>
            <a:ext cx="2682943" cy="396571"/>
          </a:xfrm>
          <a:prstGeom prst="straightConnector1">
            <a:avLst/>
          </a:prstGeom>
          <a:noFill/>
          <a:ln cap="rnd" cmpd="sng" w="47625">
            <a:solidFill>
              <a:srgbClr val="00F6B7"/>
            </a:solidFill>
            <a:prstDash val="dot"/>
            <a:round/>
            <a:headEnd len="lg" w="lg" type="oval"/>
            <a:tailEnd len="lg" w="lg" type="oval"/>
          </a:ln>
        </p:spPr>
      </p:cxnSp>
      <p:sp>
        <p:nvSpPr>
          <p:cNvPr id="316" name="Google Shape;316;p12"/>
          <p:cNvSpPr/>
          <p:nvPr/>
        </p:nvSpPr>
        <p:spPr>
          <a:xfrm rot="-5400000">
            <a:off x="13927901" y="1311445"/>
            <a:ext cx="1686781" cy="5413581"/>
          </a:xfrm>
          <a:custGeom>
            <a:rect b="b" l="l" r="r" t="t"/>
            <a:pathLst>
              <a:path extrusionOk="0" h="23991658" w="7475396">
                <a:moveTo>
                  <a:pt x="5683981" y="0"/>
                </a:moveTo>
                <a:lnTo>
                  <a:pt x="0" y="0"/>
                </a:lnTo>
                <a:lnTo>
                  <a:pt x="0" y="22039064"/>
                </a:lnTo>
                <a:cubicBezTo>
                  <a:pt x="0" y="23199813"/>
                  <a:pt x="791845" y="23991658"/>
                  <a:pt x="1765046" y="23991658"/>
                </a:cubicBezTo>
                <a:lnTo>
                  <a:pt x="7475396" y="23991658"/>
                </a:lnTo>
                <a:lnTo>
                  <a:pt x="7475396" y="1953373"/>
                </a:lnTo>
                <a:cubicBezTo>
                  <a:pt x="7475269" y="791845"/>
                  <a:pt x="6683550" y="0"/>
                  <a:pt x="5683981" y="0"/>
                </a:cubicBezTo>
                <a:close/>
                <a:moveTo>
                  <a:pt x="7348269" y="23864531"/>
                </a:moveTo>
                <a:lnTo>
                  <a:pt x="1765046" y="23864531"/>
                </a:lnTo>
                <a:cubicBezTo>
                  <a:pt x="861822" y="23864531"/>
                  <a:pt x="127000" y="23129709"/>
                  <a:pt x="127000" y="22039064"/>
                </a:cubicBezTo>
                <a:lnTo>
                  <a:pt x="127000" y="127000"/>
                </a:lnTo>
                <a:lnTo>
                  <a:pt x="5683981" y="127000"/>
                </a:lnTo>
                <a:cubicBezTo>
                  <a:pt x="6613574" y="127000"/>
                  <a:pt x="7348396" y="861822"/>
                  <a:pt x="7348396" y="1953373"/>
                </a:cubicBezTo>
                <a:lnTo>
                  <a:pt x="7348396" y="23864531"/>
                </a:lnTo>
                <a:close/>
              </a:path>
            </a:pathLst>
          </a:custGeom>
          <a:gradFill>
            <a:gsLst>
              <a:gs pos="0">
                <a:srgbClr val="00F6B7"/>
              </a:gs>
              <a:gs pos="100000">
                <a:srgbClr val="057FC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2"/>
          <p:cNvSpPr txBox="1"/>
          <p:nvPr/>
        </p:nvSpPr>
        <p:spPr>
          <a:xfrm>
            <a:off x="12707225" y="3376911"/>
            <a:ext cx="4431807" cy="182928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MX" sz="1800">
                <a:solidFill>
                  <a:schemeClr val="lt1"/>
                </a:solidFill>
                <a:latin typeface="Calibri"/>
                <a:ea typeface="Calibri"/>
                <a:cs typeface="Calibri"/>
                <a:sym typeface="Calibri"/>
              </a:rPr>
              <a:t>Sprint 3 – Integración LoRa Mesh / BLE</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br>
              <a:rPr lang="es-MX" sz="1600">
                <a:solidFill>
                  <a:schemeClr val="lt1"/>
                </a:solidFill>
                <a:latin typeface="Calibri"/>
                <a:ea typeface="Calibri"/>
                <a:cs typeface="Calibri"/>
                <a:sym typeface="Calibri"/>
              </a:rPr>
            </a:br>
            <a:r>
              <a:rPr lang="es-MX" sz="1800">
                <a:solidFill>
                  <a:schemeClr val="lt1"/>
                </a:solidFill>
                <a:latin typeface="Calibri"/>
                <a:ea typeface="Calibri"/>
                <a:cs typeface="Calibri"/>
                <a:sym typeface="Calibri"/>
              </a:rPr>
              <a:t> Implementar la </a:t>
            </a:r>
            <a:r>
              <a:rPr b="1" lang="es-MX" sz="1800">
                <a:solidFill>
                  <a:schemeClr val="lt1"/>
                </a:solidFill>
                <a:latin typeface="Calibri"/>
                <a:ea typeface="Calibri"/>
                <a:cs typeface="Calibri"/>
                <a:sym typeface="Calibri"/>
              </a:rPr>
              <a:t>conectividad local y mensajería offline</a:t>
            </a:r>
            <a:r>
              <a:rPr lang="es-MX" sz="1800">
                <a:solidFill>
                  <a:schemeClr val="lt1"/>
                </a:solidFill>
                <a:latin typeface="Calibri"/>
                <a:ea typeface="Calibri"/>
                <a:cs typeface="Calibri"/>
                <a:sym typeface="Calibri"/>
              </a:rPr>
              <a:t> utilizando tecnologías </a:t>
            </a:r>
            <a:r>
              <a:rPr b="1" lang="es-MX" sz="1800">
                <a:solidFill>
                  <a:schemeClr val="lt1"/>
                </a:solidFill>
                <a:latin typeface="Calibri"/>
                <a:ea typeface="Calibri"/>
                <a:cs typeface="Calibri"/>
                <a:sym typeface="Calibri"/>
              </a:rPr>
              <a:t>LoRa Mesh</a:t>
            </a:r>
            <a:r>
              <a:rPr lang="es-MX" sz="1800">
                <a:solidFill>
                  <a:schemeClr val="lt1"/>
                </a:solidFill>
                <a:latin typeface="Calibri"/>
                <a:ea typeface="Calibri"/>
                <a:cs typeface="Calibri"/>
                <a:sym typeface="Calibri"/>
              </a:rPr>
              <a:t> y </a:t>
            </a:r>
            <a:r>
              <a:rPr b="1" lang="es-MX" sz="1800">
                <a:solidFill>
                  <a:schemeClr val="lt1"/>
                </a:solidFill>
                <a:latin typeface="Calibri"/>
                <a:ea typeface="Calibri"/>
                <a:cs typeface="Calibri"/>
                <a:sym typeface="Calibri"/>
              </a:rPr>
              <a:t>Bluetooth Low Energy (BLE)</a:t>
            </a:r>
            <a:r>
              <a:rPr lang="es-MX" sz="1800">
                <a:solidFill>
                  <a:schemeClr val="lt1"/>
                </a:solidFill>
                <a:latin typeface="Calibri"/>
                <a:ea typeface="Calibri"/>
                <a:cs typeface="Calibri"/>
                <a:sym typeface="Calibri"/>
              </a:rPr>
              <a:t>,</a:t>
            </a:r>
            <a:endParaRPr/>
          </a:p>
          <a:p>
            <a:pPr indent="0" lvl="0" marL="0" marR="0" rtl="0" algn="l">
              <a:spcBef>
                <a:spcPts val="0"/>
              </a:spcBef>
              <a:spcAft>
                <a:spcPts val="0"/>
              </a:spcAft>
              <a:buNone/>
            </a:pPr>
            <a:br>
              <a:rPr lang="es-MX" sz="1600">
                <a:solidFill>
                  <a:schemeClr val="dk1"/>
                </a:solidFill>
                <a:latin typeface="Calibri"/>
                <a:ea typeface="Calibri"/>
                <a:cs typeface="Calibri"/>
                <a:sym typeface="Calibri"/>
              </a:rPr>
            </a:br>
            <a:endParaRPr sz="1487" u="none" strike="noStrike">
              <a:solidFill>
                <a:srgbClr val="FFFFFF"/>
              </a:solidFill>
              <a:latin typeface="Montserrat"/>
              <a:ea typeface="Montserrat"/>
              <a:cs typeface="Montserrat"/>
              <a:sym typeface="Montserrat"/>
            </a:endParaRPr>
          </a:p>
        </p:txBody>
      </p:sp>
      <p:grpSp>
        <p:nvGrpSpPr>
          <p:cNvPr id="318" name="Google Shape;318;p12"/>
          <p:cNvGrpSpPr/>
          <p:nvPr/>
        </p:nvGrpSpPr>
        <p:grpSpPr>
          <a:xfrm>
            <a:off x="11788276" y="2766132"/>
            <a:ext cx="848627" cy="848627"/>
            <a:chOff x="0" y="0"/>
            <a:chExt cx="812800" cy="812800"/>
          </a:xfrm>
        </p:grpSpPr>
        <p:sp>
          <p:nvSpPr>
            <p:cNvPr id="319" name="Google Shape;319;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0F6B7"/>
                </a:gs>
                <a:gs pos="100000">
                  <a:srgbClr val="057FC0"/>
                </a:gs>
              </a:gsLst>
              <a:lin ang="5400000" scaled="0"/>
            </a:gra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140017"/>
                </a:lnSpc>
                <a:spcBef>
                  <a:spcPts val="0"/>
                </a:spcBef>
                <a:spcAft>
                  <a:spcPts val="0"/>
                </a:spcAft>
                <a:buNone/>
              </a:pPr>
              <a:r>
                <a:rPr b="1" lang="es-MX" sz="2334">
                  <a:solidFill>
                    <a:srgbClr val="000000"/>
                  </a:solidFill>
                  <a:latin typeface="Montserrat"/>
                  <a:ea typeface="Montserrat"/>
                  <a:cs typeface="Montserrat"/>
                  <a:sym typeface="Montserrat"/>
                </a:rPr>
                <a:t>03</a:t>
              </a:r>
              <a:endParaRPr/>
            </a:p>
          </p:txBody>
        </p:sp>
      </p:grpSp>
      <p:sp>
        <p:nvSpPr>
          <p:cNvPr id="321" name="Google Shape;321;p12"/>
          <p:cNvSpPr/>
          <p:nvPr/>
        </p:nvSpPr>
        <p:spPr>
          <a:xfrm rot="-5400000">
            <a:off x="13927901" y="3508070"/>
            <a:ext cx="1686781" cy="5413581"/>
          </a:xfrm>
          <a:custGeom>
            <a:rect b="b" l="l" r="r" t="t"/>
            <a:pathLst>
              <a:path extrusionOk="0" h="23991658" w="7475396">
                <a:moveTo>
                  <a:pt x="5683981" y="0"/>
                </a:moveTo>
                <a:lnTo>
                  <a:pt x="0" y="0"/>
                </a:lnTo>
                <a:lnTo>
                  <a:pt x="0" y="22039064"/>
                </a:lnTo>
                <a:cubicBezTo>
                  <a:pt x="0" y="23199813"/>
                  <a:pt x="791845" y="23991658"/>
                  <a:pt x="1765046" y="23991658"/>
                </a:cubicBezTo>
                <a:lnTo>
                  <a:pt x="7475396" y="23991658"/>
                </a:lnTo>
                <a:lnTo>
                  <a:pt x="7475396" y="1953373"/>
                </a:lnTo>
                <a:cubicBezTo>
                  <a:pt x="7475269" y="791845"/>
                  <a:pt x="6683550" y="0"/>
                  <a:pt x="5683981" y="0"/>
                </a:cubicBezTo>
                <a:close/>
                <a:moveTo>
                  <a:pt x="7348269" y="23864531"/>
                </a:moveTo>
                <a:lnTo>
                  <a:pt x="1765046" y="23864531"/>
                </a:lnTo>
                <a:cubicBezTo>
                  <a:pt x="861822" y="23864531"/>
                  <a:pt x="127000" y="23129709"/>
                  <a:pt x="127000" y="22039064"/>
                </a:cubicBezTo>
                <a:lnTo>
                  <a:pt x="127000" y="127000"/>
                </a:lnTo>
                <a:lnTo>
                  <a:pt x="5683981" y="127000"/>
                </a:lnTo>
                <a:cubicBezTo>
                  <a:pt x="6613574" y="127000"/>
                  <a:pt x="7348396" y="861822"/>
                  <a:pt x="7348396" y="1953373"/>
                </a:cubicBezTo>
                <a:lnTo>
                  <a:pt x="7348396" y="23864531"/>
                </a:lnTo>
                <a:close/>
              </a:path>
            </a:pathLst>
          </a:custGeom>
          <a:gradFill>
            <a:gsLst>
              <a:gs pos="0">
                <a:srgbClr val="00F6B7"/>
              </a:gs>
              <a:gs pos="100000">
                <a:srgbClr val="057FC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2"/>
          <p:cNvSpPr txBox="1"/>
          <p:nvPr/>
        </p:nvSpPr>
        <p:spPr>
          <a:xfrm>
            <a:off x="12707225" y="5573536"/>
            <a:ext cx="4431807" cy="182928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MX" sz="1800">
                <a:solidFill>
                  <a:schemeClr val="lt1"/>
                </a:solidFill>
                <a:latin typeface="Calibri"/>
                <a:ea typeface="Calibri"/>
                <a:cs typeface="Calibri"/>
                <a:sym typeface="Calibri"/>
              </a:rPr>
              <a:t>Sprint 4 – Sincronización </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br>
              <a:rPr lang="es-MX" sz="1600">
                <a:solidFill>
                  <a:schemeClr val="lt1"/>
                </a:solidFill>
                <a:latin typeface="Calibri"/>
                <a:ea typeface="Calibri"/>
                <a:cs typeface="Calibri"/>
                <a:sym typeface="Calibri"/>
              </a:rPr>
            </a:br>
            <a:r>
              <a:rPr lang="es-MX" sz="1600">
                <a:solidFill>
                  <a:schemeClr val="lt1"/>
                </a:solidFill>
                <a:latin typeface="Calibri"/>
                <a:ea typeface="Calibri"/>
                <a:cs typeface="Calibri"/>
                <a:sym typeface="Calibri"/>
              </a:rPr>
              <a:t>I</a:t>
            </a:r>
            <a:r>
              <a:rPr lang="es-MX" sz="1800">
                <a:solidFill>
                  <a:schemeClr val="lt1"/>
                </a:solidFill>
                <a:latin typeface="Calibri"/>
                <a:ea typeface="Calibri"/>
                <a:cs typeface="Calibri"/>
                <a:sym typeface="Calibri"/>
              </a:rPr>
              <a:t>implementación de sincronización offline → online.</a:t>
            </a:r>
            <a:endParaRPr/>
          </a:p>
          <a:p>
            <a:pPr indent="0" lvl="0" marL="0" marR="0" rtl="0" algn="l">
              <a:spcBef>
                <a:spcPts val="0"/>
              </a:spcBef>
              <a:spcAft>
                <a:spcPts val="0"/>
              </a:spcAft>
              <a:buNone/>
            </a:pPr>
            <a:r>
              <a:rPr lang="es-MX" sz="1800">
                <a:solidFill>
                  <a:schemeClr val="lt1"/>
                </a:solidFill>
                <a:latin typeface="Calibri"/>
                <a:ea typeface="Calibri"/>
                <a:cs typeface="Calibri"/>
                <a:sym typeface="Calibri"/>
              </a:rPr>
              <a:t>Notificaciones push para alertas críticas.</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br>
              <a:rPr lang="es-MX" sz="1600">
                <a:solidFill>
                  <a:schemeClr val="dk1"/>
                </a:solidFill>
                <a:latin typeface="Calibri"/>
                <a:ea typeface="Calibri"/>
                <a:cs typeface="Calibri"/>
                <a:sym typeface="Calibri"/>
              </a:rPr>
            </a:br>
            <a:endParaRPr sz="1487" u="none" strike="noStrike">
              <a:solidFill>
                <a:srgbClr val="FFFFFF"/>
              </a:solidFill>
              <a:latin typeface="Montserrat"/>
              <a:ea typeface="Montserrat"/>
              <a:cs typeface="Montserrat"/>
              <a:sym typeface="Montserrat"/>
            </a:endParaRPr>
          </a:p>
        </p:txBody>
      </p:sp>
      <p:grpSp>
        <p:nvGrpSpPr>
          <p:cNvPr id="323" name="Google Shape;323;p12"/>
          <p:cNvGrpSpPr/>
          <p:nvPr/>
        </p:nvGrpSpPr>
        <p:grpSpPr>
          <a:xfrm>
            <a:off x="11788276" y="4962757"/>
            <a:ext cx="848627" cy="848627"/>
            <a:chOff x="0" y="0"/>
            <a:chExt cx="812800" cy="812800"/>
          </a:xfrm>
        </p:grpSpPr>
        <p:sp>
          <p:nvSpPr>
            <p:cNvPr id="324" name="Google Shape;32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0F6B7"/>
                </a:gs>
                <a:gs pos="100000">
                  <a:srgbClr val="057FC0"/>
                </a:gs>
              </a:gsLst>
              <a:lin ang="5400000" scaled="0"/>
            </a:gra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2"/>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140017"/>
                </a:lnSpc>
                <a:spcBef>
                  <a:spcPts val="0"/>
                </a:spcBef>
                <a:spcAft>
                  <a:spcPts val="0"/>
                </a:spcAft>
                <a:buNone/>
              </a:pPr>
              <a:r>
                <a:rPr b="1" lang="es-MX" sz="2334">
                  <a:solidFill>
                    <a:srgbClr val="000000"/>
                  </a:solidFill>
                  <a:latin typeface="Montserrat"/>
                  <a:ea typeface="Montserrat"/>
                  <a:cs typeface="Montserrat"/>
                  <a:sym typeface="Montserrat"/>
                </a:rPr>
                <a:t>04</a:t>
              </a:r>
              <a:endParaRPr/>
            </a:p>
          </p:txBody>
        </p:sp>
      </p:grpSp>
      <p:sp>
        <p:nvSpPr>
          <p:cNvPr id="326" name="Google Shape;326;p12"/>
          <p:cNvSpPr/>
          <p:nvPr/>
        </p:nvSpPr>
        <p:spPr>
          <a:xfrm rot="-5400000">
            <a:off x="13927901" y="5708119"/>
            <a:ext cx="1686781" cy="5413581"/>
          </a:xfrm>
          <a:custGeom>
            <a:rect b="b" l="l" r="r" t="t"/>
            <a:pathLst>
              <a:path extrusionOk="0" h="23991658" w="7475396">
                <a:moveTo>
                  <a:pt x="5683981" y="0"/>
                </a:moveTo>
                <a:lnTo>
                  <a:pt x="0" y="0"/>
                </a:lnTo>
                <a:lnTo>
                  <a:pt x="0" y="22039064"/>
                </a:lnTo>
                <a:cubicBezTo>
                  <a:pt x="0" y="23199813"/>
                  <a:pt x="791845" y="23991658"/>
                  <a:pt x="1765046" y="23991658"/>
                </a:cubicBezTo>
                <a:lnTo>
                  <a:pt x="7475396" y="23991658"/>
                </a:lnTo>
                <a:lnTo>
                  <a:pt x="7475396" y="1953373"/>
                </a:lnTo>
                <a:cubicBezTo>
                  <a:pt x="7475269" y="791845"/>
                  <a:pt x="6683550" y="0"/>
                  <a:pt x="5683981" y="0"/>
                </a:cubicBezTo>
                <a:close/>
                <a:moveTo>
                  <a:pt x="7348269" y="23864531"/>
                </a:moveTo>
                <a:lnTo>
                  <a:pt x="1765046" y="23864531"/>
                </a:lnTo>
                <a:cubicBezTo>
                  <a:pt x="861822" y="23864531"/>
                  <a:pt x="127000" y="23129709"/>
                  <a:pt x="127000" y="22039064"/>
                </a:cubicBezTo>
                <a:lnTo>
                  <a:pt x="127000" y="127000"/>
                </a:lnTo>
                <a:lnTo>
                  <a:pt x="5683981" y="127000"/>
                </a:lnTo>
                <a:cubicBezTo>
                  <a:pt x="6613574" y="127000"/>
                  <a:pt x="7348396" y="861822"/>
                  <a:pt x="7348396" y="1953373"/>
                </a:cubicBezTo>
                <a:lnTo>
                  <a:pt x="7348396" y="23864531"/>
                </a:lnTo>
                <a:close/>
              </a:path>
            </a:pathLst>
          </a:custGeom>
          <a:gradFill>
            <a:gsLst>
              <a:gs pos="0">
                <a:srgbClr val="00F6B7"/>
              </a:gs>
              <a:gs pos="100000">
                <a:srgbClr val="057FC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2"/>
          <p:cNvSpPr txBox="1"/>
          <p:nvPr/>
        </p:nvSpPr>
        <p:spPr>
          <a:xfrm>
            <a:off x="12707225" y="7685200"/>
            <a:ext cx="4431807" cy="1852367"/>
          </a:xfrm>
          <a:prstGeom prst="rect">
            <a:avLst/>
          </a:prstGeom>
          <a:noFill/>
          <a:ln>
            <a:noFill/>
          </a:ln>
        </p:spPr>
        <p:txBody>
          <a:bodyPr anchorCtr="0" anchor="t" bIns="0" lIns="0" spcFirstLastPara="1" rIns="0" wrap="square" tIns="0">
            <a:spAutoFit/>
          </a:bodyPr>
          <a:lstStyle/>
          <a:p>
            <a:pPr indent="0" lvl="0" marL="0" marR="0" rtl="0" algn="l">
              <a:lnSpc>
                <a:spcPct val="115666"/>
              </a:lnSpc>
              <a:spcBef>
                <a:spcPts val="0"/>
              </a:spcBef>
              <a:spcAft>
                <a:spcPts val="0"/>
              </a:spcAft>
              <a:buNone/>
            </a:pPr>
            <a:r>
              <a:rPr lang="es-MX" sz="1800">
                <a:solidFill>
                  <a:schemeClr val="lt1"/>
                </a:solidFill>
                <a:latin typeface="Calibri"/>
                <a:ea typeface="Calibri"/>
                <a:cs typeface="Calibri"/>
                <a:sym typeface="Calibri"/>
              </a:rPr>
              <a:t>Sprint  5– Pruebas finales</a:t>
            </a:r>
            <a:endParaRPr/>
          </a:p>
          <a:p>
            <a:pPr indent="0" lvl="0" marL="0" marR="0" rtl="0" algn="l">
              <a:spcBef>
                <a:spcPts val="0"/>
              </a:spcBef>
              <a:spcAft>
                <a:spcPts val="0"/>
              </a:spcAft>
              <a:buNone/>
            </a:pPr>
            <a:r>
              <a:rPr lang="es-MX" sz="1800">
                <a:solidFill>
                  <a:schemeClr val="lt1"/>
                </a:solidFill>
                <a:latin typeface="Calibri"/>
                <a:ea typeface="Calibri"/>
                <a:cs typeface="Calibri"/>
                <a:sym typeface="Calibri"/>
              </a:rPr>
              <a:t>Pruebas de campo con ≥3 nodos: cobertura, latencia y confiabilidad.</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r>
              <a:rPr lang="es-MX" sz="1800">
                <a:solidFill>
                  <a:schemeClr val="lt1"/>
                </a:solidFill>
                <a:latin typeface="Calibri"/>
                <a:ea typeface="Calibri"/>
                <a:cs typeface="Calibri"/>
                <a:sym typeface="Calibri"/>
              </a:rPr>
              <a:t>Documentación, retrospectiva y preparación de demo final.</a:t>
            </a:r>
            <a:endParaRPr sz="1600">
              <a:solidFill>
                <a:schemeClr val="lt1"/>
              </a:solidFill>
              <a:latin typeface="Calibri"/>
              <a:ea typeface="Calibri"/>
              <a:cs typeface="Calibri"/>
              <a:sym typeface="Calibri"/>
            </a:endParaRPr>
          </a:p>
          <a:p>
            <a:pPr indent="0" lvl="0" marL="0" marR="0" rtl="0" algn="l">
              <a:spcBef>
                <a:spcPts val="0"/>
              </a:spcBef>
              <a:spcAft>
                <a:spcPts val="0"/>
              </a:spcAft>
              <a:buNone/>
            </a:pPr>
            <a:br>
              <a:rPr lang="es-MX" sz="1600">
                <a:solidFill>
                  <a:schemeClr val="dk1"/>
                </a:solidFill>
                <a:latin typeface="Calibri"/>
                <a:ea typeface="Calibri"/>
                <a:cs typeface="Calibri"/>
                <a:sym typeface="Calibri"/>
              </a:rPr>
            </a:br>
            <a:endParaRPr sz="1487" u="none" strike="noStrike">
              <a:solidFill>
                <a:srgbClr val="FFFFFF"/>
              </a:solidFill>
              <a:latin typeface="Montserrat"/>
              <a:ea typeface="Montserrat"/>
              <a:cs typeface="Montserrat"/>
              <a:sym typeface="Montserrat"/>
            </a:endParaRPr>
          </a:p>
        </p:txBody>
      </p:sp>
      <p:grpSp>
        <p:nvGrpSpPr>
          <p:cNvPr id="328" name="Google Shape;328;p12"/>
          <p:cNvGrpSpPr/>
          <p:nvPr/>
        </p:nvGrpSpPr>
        <p:grpSpPr>
          <a:xfrm>
            <a:off x="11788276" y="7162807"/>
            <a:ext cx="848627" cy="848627"/>
            <a:chOff x="0" y="0"/>
            <a:chExt cx="812800" cy="812800"/>
          </a:xfrm>
        </p:grpSpPr>
        <p:sp>
          <p:nvSpPr>
            <p:cNvPr id="329" name="Google Shape;329;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0F6B7"/>
                </a:gs>
                <a:gs pos="100000">
                  <a:srgbClr val="057FC0"/>
                </a:gs>
              </a:gsLst>
              <a:lin ang="5400000" scaled="0"/>
            </a:gradFill>
            <a:ln cap="sq" cmpd="sng" w="47625">
              <a:solidFill>
                <a:srgbClr val="00F6B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2"/>
            <p:cNvSpPr txBox="1"/>
            <p:nvPr/>
          </p:nvSpPr>
          <p:spPr>
            <a:xfrm>
              <a:off x="76200" y="28575"/>
              <a:ext cx="660400" cy="708025"/>
            </a:xfrm>
            <a:prstGeom prst="rect">
              <a:avLst/>
            </a:prstGeom>
            <a:noFill/>
            <a:ln>
              <a:noFill/>
            </a:ln>
          </p:spPr>
          <p:txBody>
            <a:bodyPr anchorCtr="0" anchor="ctr" bIns="0" lIns="0" spcFirstLastPara="1" rIns="0" wrap="square" tIns="0">
              <a:noAutofit/>
            </a:bodyPr>
            <a:lstStyle/>
            <a:p>
              <a:pPr indent="0" lvl="0" marL="0" marR="0" rtl="0" algn="ctr">
                <a:lnSpc>
                  <a:spcPct val="140017"/>
                </a:lnSpc>
                <a:spcBef>
                  <a:spcPts val="0"/>
                </a:spcBef>
                <a:spcAft>
                  <a:spcPts val="0"/>
                </a:spcAft>
                <a:buNone/>
              </a:pPr>
              <a:r>
                <a:rPr b="1" lang="es-MX" sz="2334">
                  <a:solidFill>
                    <a:srgbClr val="000000"/>
                  </a:solidFill>
                  <a:latin typeface="Montserrat"/>
                  <a:ea typeface="Montserrat"/>
                  <a:cs typeface="Montserrat"/>
                  <a:sym typeface="Montserrat"/>
                </a:rPr>
                <a:t>05</a:t>
              </a:r>
              <a:endParaRPr/>
            </a:p>
          </p:txBody>
        </p:sp>
      </p:grpSp>
      <p:cxnSp>
        <p:nvCxnSpPr>
          <p:cNvPr id="331" name="Google Shape;331;p12"/>
          <p:cNvCxnSpPr/>
          <p:nvPr/>
        </p:nvCxnSpPr>
        <p:spPr>
          <a:xfrm flipH="1" rot="10800000">
            <a:off x="9144000" y="3190446"/>
            <a:ext cx="2644276" cy="407001"/>
          </a:xfrm>
          <a:prstGeom prst="straightConnector1">
            <a:avLst/>
          </a:prstGeom>
          <a:noFill/>
          <a:ln cap="rnd" cmpd="sng" w="47625">
            <a:solidFill>
              <a:srgbClr val="00F6B7"/>
            </a:solidFill>
            <a:prstDash val="dot"/>
            <a:round/>
            <a:headEnd len="lg" w="lg" type="oval"/>
            <a:tailEnd len="lg" w="lg" type="oval"/>
          </a:ln>
        </p:spPr>
      </p:cxnSp>
      <p:cxnSp>
        <p:nvCxnSpPr>
          <p:cNvPr id="332" name="Google Shape;332;p12"/>
          <p:cNvCxnSpPr/>
          <p:nvPr/>
        </p:nvCxnSpPr>
        <p:spPr>
          <a:xfrm flipH="1" rot="10800000">
            <a:off x="10940551" y="5387071"/>
            <a:ext cx="847725" cy="6927"/>
          </a:xfrm>
          <a:prstGeom prst="straightConnector1">
            <a:avLst/>
          </a:prstGeom>
          <a:noFill/>
          <a:ln cap="rnd" cmpd="sng" w="47625">
            <a:solidFill>
              <a:srgbClr val="00F6B7"/>
            </a:solidFill>
            <a:prstDash val="dot"/>
            <a:round/>
            <a:headEnd len="lg" w="lg" type="oval"/>
            <a:tailEnd len="lg" w="lg" type="oval"/>
          </a:ln>
        </p:spPr>
      </p:cxnSp>
      <p:cxnSp>
        <p:nvCxnSpPr>
          <p:cNvPr id="333" name="Google Shape;333;p12"/>
          <p:cNvCxnSpPr/>
          <p:nvPr/>
        </p:nvCxnSpPr>
        <p:spPr>
          <a:xfrm>
            <a:off x="9144000" y="7190549"/>
            <a:ext cx="2644276" cy="396571"/>
          </a:xfrm>
          <a:prstGeom prst="straightConnector1">
            <a:avLst/>
          </a:prstGeom>
          <a:noFill/>
          <a:ln cap="rnd" cmpd="sng" w="47625">
            <a:solidFill>
              <a:srgbClr val="00F6B7"/>
            </a:solidFill>
            <a:prstDash val="dot"/>
            <a:round/>
            <a:headEnd len="lg" w="lg" type="oval"/>
            <a:tailEnd len="lg" w="lg" type="oval"/>
          </a:ln>
        </p:spPr>
      </p:cxnSp>
      <p:sp>
        <p:nvSpPr>
          <p:cNvPr id="334" name="Google Shape;334;p12"/>
          <p:cNvSpPr txBox="1"/>
          <p:nvPr/>
        </p:nvSpPr>
        <p:spPr>
          <a:xfrm>
            <a:off x="5883017" y="838724"/>
            <a:ext cx="6181484" cy="984697"/>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lang="es-MX" sz="5783">
                <a:solidFill>
                  <a:srgbClr val="FFFFFF"/>
                </a:solidFill>
                <a:latin typeface="Arial"/>
                <a:ea typeface="Arial"/>
                <a:cs typeface="Arial"/>
                <a:sym typeface="Arial"/>
              </a:rPr>
              <a:t>Sprint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0" name="Google Shape;340;p13"/>
          <p:cNvGrpSpPr/>
          <p:nvPr/>
        </p:nvGrpSpPr>
        <p:grpSpPr>
          <a:xfrm rot="5400000">
            <a:off x="-1036236" y="-100579"/>
            <a:ext cx="12192397" cy="11275702"/>
            <a:chOff x="0" y="-38100"/>
            <a:chExt cx="3211166" cy="2969732"/>
          </a:xfrm>
        </p:grpSpPr>
        <p:sp>
          <p:nvSpPr>
            <p:cNvPr id="341" name="Google Shape;341;p13"/>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3"/>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3" name="Google Shape;343;p13"/>
          <p:cNvSpPr txBox="1"/>
          <p:nvPr/>
        </p:nvSpPr>
        <p:spPr>
          <a:xfrm>
            <a:off x="615390" y="4152900"/>
            <a:ext cx="7279369" cy="368870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200">
                <a:solidFill>
                  <a:schemeClr val="lt1"/>
                </a:solidFill>
                <a:latin typeface="Calibri"/>
                <a:ea typeface="Calibri"/>
                <a:cs typeface="Calibri"/>
                <a:sym typeface="Calibri"/>
              </a:rPr>
              <a:t>Semanas 1–3</a:t>
            </a:r>
            <a:br>
              <a:rPr lang="es-MX" sz="3200">
                <a:solidFill>
                  <a:schemeClr val="lt1"/>
                </a:solidFill>
                <a:latin typeface="Calibri"/>
                <a:ea typeface="Calibri"/>
                <a:cs typeface="Calibri"/>
                <a:sym typeface="Calibri"/>
              </a:rPr>
            </a:br>
            <a:r>
              <a:rPr lang="es-MX" sz="3200">
                <a:solidFill>
                  <a:schemeClr val="lt1"/>
                </a:solidFill>
                <a:latin typeface="Calibri"/>
                <a:ea typeface="Calibri"/>
                <a:cs typeface="Calibri"/>
                <a:sym typeface="Calibri"/>
              </a:rPr>
              <a:t>Planificación, estructura base y entorno.</a:t>
            </a:r>
            <a:endParaRPr/>
          </a:p>
          <a:p>
            <a:pPr indent="0" lvl="0" marL="0" marR="0" rtl="0" algn="ctr">
              <a:spcBef>
                <a:spcPts val="0"/>
              </a:spcBef>
              <a:spcAft>
                <a:spcPts val="0"/>
              </a:spcAft>
              <a:buNone/>
            </a:pPr>
            <a:r>
              <a:rPr lang="es-MX" sz="3200">
                <a:solidFill>
                  <a:schemeClr val="lt1"/>
                </a:solidFill>
                <a:latin typeface="Calibri"/>
                <a:ea typeface="Calibri"/>
                <a:cs typeface="Calibri"/>
                <a:sym typeface="Calibri"/>
              </a:rPr>
              <a:t>Objetivo  : Preparar el entorno de desarrollo, definir la estructura del proyecto, roles del equipo y los lineamientos técnicos iniciales.</a:t>
            </a:r>
            <a:endParaRPr/>
          </a:p>
          <a:p>
            <a:pPr indent="0" lvl="0" marL="0" marR="0" rtl="0" algn="l">
              <a:spcBef>
                <a:spcPts val="0"/>
              </a:spcBef>
              <a:spcAft>
                <a:spcPts val="0"/>
              </a:spcAft>
              <a:buNone/>
            </a:pPr>
            <a:br>
              <a:rPr lang="es-MX" sz="2400">
                <a:solidFill>
                  <a:schemeClr val="dk1"/>
                </a:solidFill>
                <a:latin typeface="Calibri"/>
                <a:ea typeface="Calibri"/>
                <a:cs typeface="Calibri"/>
                <a:sym typeface="Calibri"/>
              </a:rPr>
            </a:br>
            <a:endParaRPr sz="2370">
              <a:solidFill>
                <a:schemeClr val="lt1"/>
              </a:solidFill>
              <a:latin typeface="Inter"/>
              <a:ea typeface="Inter"/>
              <a:cs typeface="Inter"/>
              <a:sym typeface="Inter"/>
            </a:endParaRPr>
          </a:p>
        </p:txBody>
      </p:sp>
      <p:sp>
        <p:nvSpPr>
          <p:cNvPr id="344" name="Google Shape;344;p13"/>
          <p:cNvSpPr txBox="1"/>
          <p:nvPr/>
        </p:nvSpPr>
        <p:spPr>
          <a:xfrm>
            <a:off x="615390" y="2026777"/>
            <a:ext cx="7788620" cy="184665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4400">
                <a:solidFill>
                  <a:schemeClr val="lt1"/>
                </a:solidFill>
                <a:latin typeface="Calibri"/>
                <a:ea typeface="Calibri"/>
                <a:cs typeface="Calibri"/>
                <a:sym typeface="Calibri"/>
              </a:rPr>
              <a:t>Sprint 0 Fase 1: Planificación y Setup</a:t>
            </a:r>
            <a:endParaRPr sz="4400">
              <a:solidFill>
                <a:schemeClr val="lt1"/>
              </a:solidFill>
              <a:latin typeface="Calibri"/>
              <a:ea typeface="Calibri"/>
              <a:cs typeface="Calibri"/>
              <a:sym typeface="Calibri"/>
            </a:endParaRPr>
          </a:p>
          <a:p>
            <a:pPr indent="0" lvl="0" marL="0" marR="0" rtl="0" algn="l">
              <a:spcBef>
                <a:spcPts val="0"/>
              </a:spcBef>
              <a:spcAft>
                <a:spcPts val="0"/>
              </a:spcAft>
              <a:buNone/>
            </a:pPr>
            <a:br>
              <a:rPr lang="es-MX" sz="1600">
                <a:solidFill>
                  <a:schemeClr val="lt1"/>
                </a:solidFill>
                <a:latin typeface="Calibri"/>
                <a:ea typeface="Calibri"/>
                <a:cs typeface="Calibri"/>
                <a:sym typeface="Calibri"/>
              </a:rPr>
            </a:br>
            <a:r>
              <a:rPr b="1" lang="es-MX" sz="1600">
                <a:solidFill>
                  <a:schemeClr val="lt1"/>
                </a:solidFill>
                <a:latin typeface="Arial"/>
                <a:ea typeface="Arial"/>
                <a:cs typeface="Arial"/>
                <a:sym typeface="Arial"/>
              </a:rPr>
              <a:t> </a:t>
            </a:r>
            <a:endParaRPr/>
          </a:p>
        </p:txBody>
      </p:sp>
      <p:pic>
        <p:nvPicPr>
          <p:cNvPr descr="Diagrama&#10;&#10;El contenido generado por IA puede ser incorrecto." id="345" name="Google Shape;345;p13"/>
          <p:cNvPicPr preferRelativeResize="0"/>
          <p:nvPr/>
        </p:nvPicPr>
        <p:blipFill rotWithShape="1">
          <a:blip r:embed="rId4">
            <a:alphaModFix/>
          </a:blip>
          <a:srcRect b="0" l="0" r="0" t="0"/>
          <a:stretch/>
        </p:blipFill>
        <p:spPr>
          <a:xfrm>
            <a:off x="9159922" y="2781300"/>
            <a:ext cx="7829420" cy="56955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pSp>
        <p:nvGrpSpPr>
          <p:cNvPr id="350" name="Google Shape;350;p14"/>
          <p:cNvGrpSpPr/>
          <p:nvPr/>
        </p:nvGrpSpPr>
        <p:grpSpPr>
          <a:xfrm>
            <a:off x="1990858" y="6970248"/>
            <a:ext cx="26156933" cy="14619813"/>
            <a:chOff x="0" y="0"/>
            <a:chExt cx="1507889" cy="842800"/>
          </a:xfrm>
        </p:grpSpPr>
        <p:sp>
          <p:nvSpPr>
            <p:cNvPr id="351" name="Google Shape;351;p14"/>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4"/>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3" name="Google Shape;353;p14"/>
          <p:cNvGrpSpPr/>
          <p:nvPr/>
        </p:nvGrpSpPr>
        <p:grpSpPr>
          <a:xfrm>
            <a:off x="-726527" y="-894556"/>
            <a:ext cx="19356819" cy="1572121"/>
            <a:chOff x="0" y="-57150"/>
            <a:chExt cx="5098092" cy="414057"/>
          </a:xfrm>
        </p:grpSpPr>
        <p:sp>
          <p:nvSpPr>
            <p:cNvPr id="354" name="Google Shape;354;p14"/>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4"/>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6" name="Google Shape;356;p14"/>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4"/>
          <p:cNvSpPr/>
          <p:nvPr/>
        </p:nvSpPr>
        <p:spPr>
          <a:xfrm>
            <a:off x="304800" y="122719"/>
            <a:ext cx="13128915" cy="686341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0 backlog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240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Libre Franklin"/>
              <a:buNone/>
            </a:pPr>
            <a:r>
              <a:rPr b="0" i="0" lang="es-MX" sz="1800" u="none" cap="none" strike="noStrike">
                <a:solidFill>
                  <a:srgbClr val="000000"/>
                </a:solidFill>
                <a:latin typeface="Libre Franklin"/>
                <a:ea typeface="Libre Franklin"/>
                <a:cs typeface="Libre Franklin"/>
                <a:sym typeface="Libre Franklin"/>
              </a:rPr>
              <a:t>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358" name="Google Shape;358;p14"/>
          <p:cNvPicPr preferRelativeResize="0"/>
          <p:nvPr/>
        </p:nvPicPr>
        <p:blipFill rotWithShape="1">
          <a:blip r:embed="rId4">
            <a:alphaModFix/>
          </a:blip>
          <a:srcRect b="0" l="0" r="0" t="0"/>
          <a:stretch/>
        </p:blipFill>
        <p:spPr>
          <a:xfrm>
            <a:off x="849456" y="2431374"/>
            <a:ext cx="16524143" cy="52422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grpSp>
        <p:nvGrpSpPr>
          <p:cNvPr id="363" name="Google Shape;363;p15"/>
          <p:cNvGrpSpPr/>
          <p:nvPr/>
        </p:nvGrpSpPr>
        <p:grpSpPr>
          <a:xfrm>
            <a:off x="1990858" y="6970248"/>
            <a:ext cx="26156933" cy="14619813"/>
            <a:chOff x="0" y="0"/>
            <a:chExt cx="1507889" cy="842800"/>
          </a:xfrm>
        </p:grpSpPr>
        <p:sp>
          <p:nvSpPr>
            <p:cNvPr id="364" name="Google Shape;364;p15"/>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5"/>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6" name="Google Shape;366;p15"/>
          <p:cNvGrpSpPr/>
          <p:nvPr/>
        </p:nvGrpSpPr>
        <p:grpSpPr>
          <a:xfrm>
            <a:off x="-726527" y="-894556"/>
            <a:ext cx="19356819" cy="1572121"/>
            <a:chOff x="0" y="-57150"/>
            <a:chExt cx="5098092" cy="414057"/>
          </a:xfrm>
        </p:grpSpPr>
        <p:sp>
          <p:nvSpPr>
            <p:cNvPr id="367" name="Google Shape;367;p15"/>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5"/>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9" name="Google Shape;369;p15"/>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5"/>
          <p:cNvSpPr/>
          <p:nvPr/>
        </p:nvSpPr>
        <p:spPr>
          <a:xfrm>
            <a:off x="533400" y="870311"/>
            <a:ext cx="13030200" cy="36933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0 Burndown chart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136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371" name="Google Shape;371;p15"/>
          <p:cNvPicPr preferRelativeResize="0"/>
          <p:nvPr/>
        </p:nvPicPr>
        <p:blipFill rotWithShape="1">
          <a:blip r:embed="rId4">
            <a:alphaModFix/>
          </a:blip>
          <a:srcRect b="0" l="0" r="0" t="0"/>
          <a:stretch/>
        </p:blipFill>
        <p:spPr>
          <a:xfrm>
            <a:off x="2247485" y="2937518"/>
            <a:ext cx="14063512" cy="53441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grpSp>
        <p:nvGrpSpPr>
          <p:cNvPr id="376" name="Google Shape;376;p16"/>
          <p:cNvGrpSpPr/>
          <p:nvPr/>
        </p:nvGrpSpPr>
        <p:grpSpPr>
          <a:xfrm>
            <a:off x="1990858" y="6970248"/>
            <a:ext cx="26156933" cy="14619813"/>
            <a:chOff x="0" y="0"/>
            <a:chExt cx="1507889" cy="842800"/>
          </a:xfrm>
        </p:grpSpPr>
        <p:sp>
          <p:nvSpPr>
            <p:cNvPr id="377" name="Google Shape;377;p16"/>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6"/>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9" name="Google Shape;379;p16"/>
          <p:cNvGrpSpPr/>
          <p:nvPr/>
        </p:nvGrpSpPr>
        <p:grpSpPr>
          <a:xfrm>
            <a:off x="-726527" y="-894556"/>
            <a:ext cx="19356819" cy="1572121"/>
            <a:chOff x="0" y="-57150"/>
            <a:chExt cx="5098092" cy="414057"/>
          </a:xfrm>
        </p:grpSpPr>
        <p:sp>
          <p:nvSpPr>
            <p:cNvPr id="380" name="Google Shape;380;p16"/>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6"/>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2" name="Google Shape;382;p16"/>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6"/>
          <p:cNvSpPr/>
          <p:nvPr/>
        </p:nvSpPr>
        <p:spPr>
          <a:xfrm>
            <a:off x="381000" y="770020"/>
            <a:ext cx="9517349" cy="60170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0 impediment log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287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384" name="Google Shape;384;p16"/>
          <p:cNvPicPr preferRelativeResize="0"/>
          <p:nvPr/>
        </p:nvPicPr>
        <p:blipFill rotWithShape="1">
          <a:blip r:embed="rId4">
            <a:alphaModFix/>
          </a:blip>
          <a:srcRect b="0" l="0" r="0" t="0"/>
          <a:stretch/>
        </p:blipFill>
        <p:spPr>
          <a:xfrm>
            <a:off x="3042672" y="1801366"/>
            <a:ext cx="12801600" cy="72056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0" name="Google Shape;390;p17"/>
          <p:cNvGrpSpPr/>
          <p:nvPr/>
        </p:nvGrpSpPr>
        <p:grpSpPr>
          <a:xfrm rot="5400000">
            <a:off x="-1036236" y="-100579"/>
            <a:ext cx="12192397" cy="11275702"/>
            <a:chOff x="0" y="-38100"/>
            <a:chExt cx="3211166" cy="2969732"/>
          </a:xfrm>
        </p:grpSpPr>
        <p:sp>
          <p:nvSpPr>
            <p:cNvPr id="391" name="Google Shape;391;p17"/>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7"/>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3" name="Google Shape;393;p17"/>
          <p:cNvSpPr txBox="1"/>
          <p:nvPr/>
        </p:nvSpPr>
        <p:spPr>
          <a:xfrm>
            <a:off x="615390" y="4152900"/>
            <a:ext cx="7279369" cy="368870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200">
                <a:solidFill>
                  <a:schemeClr val="lt1"/>
                </a:solidFill>
                <a:latin typeface="Calibri"/>
                <a:ea typeface="Calibri"/>
                <a:cs typeface="Calibri"/>
                <a:sym typeface="Calibri"/>
              </a:rPr>
              <a:t>Semanas 4–5</a:t>
            </a:r>
            <a:br>
              <a:rPr lang="es-MX" sz="3200">
                <a:solidFill>
                  <a:schemeClr val="lt1"/>
                </a:solidFill>
                <a:latin typeface="Calibri"/>
                <a:ea typeface="Calibri"/>
                <a:cs typeface="Calibri"/>
                <a:sym typeface="Calibri"/>
              </a:rPr>
            </a:br>
            <a:r>
              <a:rPr lang="es-MX" sz="3200">
                <a:solidFill>
                  <a:schemeClr val="lt1"/>
                </a:solidFill>
                <a:latin typeface="Calibri"/>
                <a:ea typeface="Calibri"/>
                <a:cs typeface="Calibri"/>
                <a:sym typeface="Calibri"/>
              </a:rPr>
              <a:t>Se implementará la estructura base  con endpoints CRUD para administrar alertas, permitiendo su integración con otras aplicaciones y garantizando respuestas en formato JSON</a:t>
            </a:r>
            <a:br>
              <a:rPr lang="es-MX" sz="3200">
                <a:solidFill>
                  <a:schemeClr val="dk1"/>
                </a:solidFill>
                <a:latin typeface="Calibri"/>
                <a:ea typeface="Calibri"/>
                <a:cs typeface="Calibri"/>
                <a:sym typeface="Calibri"/>
              </a:rPr>
            </a:br>
            <a:br>
              <a:rPr lang="es-MX" sz="2400">
                <a:solidFill>
                  <a:schemeClr val="dk1"/>
                </a:solidFill>
                <a:latin typeface="Calibri"/>
                <a:ea typeface="Calibri"/>
                <a:cs typeface="Calibri"/>
                <a:sym typeface="Calibri"/>
              </a:rPr>
            </a:br>
            <a:endParaRPr sz="2370">
              <a:solidFill>
                <a:schemeClr val="lt1"/>
              </a:solidFill>
              <a:latin typeface="Inter"/>
              <a:ea typeface="Inter"/>
              <a:cs typeface="Inter"/>
              <a:sym typeface="Inter"/>
            </a:endParaRPr>
          </a:p>
        </p:txBody>
      </p:sp>
      <p:sp>
        <p:nvSpPr>
          <p:cNvPr id="394" name="Google Shape;394;p17"/>
          <p:cNvSpPr txBox="1"/>
          <p:nvPr/>
        </p:nvSpPr>
        <p:spPr>
          <a:xfrm>
            <a:off x="615390" y="2026777"/>
            <a:ext cx="7788620" cy="92333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4400">
                <a:solidFill>
                  <a:schemeClr val="lt1"/>
                </a:solidFill>
                <a:latin typeface="Calibri"/>
                <a:ea typeface="Calibri"/>
                <a:cs typeface="Calibri"/>
                <a:sym typeface="Calibri"/>
              </a:rPr>
              <a:t>Sprint 1 – Backend Base</a:t>
            </a:r>
            <a:br>
              <a:rPr lang="es-MX" sz="1600">
                <a:solidFill>
                  <a:schemeClr val="lt1"/>
                </a:solidFill>
                <a:latin typeface="Calibri"/>
                <a:ea typeface="Calibri"/>
                <a:cs typeface="Calibri"/>
                <a:sym typeface="Calibri"/>
              </a:rPr>
            </a:br>
            <a:r>
              <a:rPr b="1" lang="es-MX" sz="1600">
                <a:solidFill>
                  <a:schemeClr val="lt1"/>
                </a:solidFill>
                <a:latin typeface="Arial"/>
                <a:ea typeface="Arial"/>
                <a:cs typeface="Arial"/>
                <a:sym typeface="Arial"/>
              </a:rPr>
              <a:t> </a:t>
            </a:r>
            <a:endParaRPr/>
          </a:p>
        </p:txBody>
      </p:sp>
      <p:pic>
        <p:nvPicPr>
          <p:cNvPr id="395" name="Google Shape;395;p17"/>
          <p:cNvPicPr preferRelativeResize="0"/>
          <p:nvPr/>
        </p:nvPicPr>
        <p:blipFill rotWithShape="1">
          <a:blip r:embed="rId4">
            <a:alphaModFix/>
          </a:blip>
          <a:srcRect b="0" l="0" r="0" t="0"/>
          <a:stretch/>
        </p:blipFill>
        <p:spPr>
          <a:xfrm>
            <a:off x="9372600" y="2684135"/>
            <a:ext cx="8507012" cy="570627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grpSp>
        <p:nvGrpSpPr>
          <p:cNvPr id="400" name="Google Shape;400;p18"/>
          <p:cNvGrpSpPr/>
          <p:nvPr/>
        </p:nvGrpSpPr>
        <p:grpSpPr>
          <a:xfrm>
            <a:off x="1990858" y="6970248"/>
            <a:ext cx="26156933" cy="14619813"/>
            <a:chOff x="0" y="0"/>
            <a:chExt cx="1507889" cy="842800"/>
          </a:xfrm>
        </p:grpSpPr>
        <p:sp>
          <p:nvSpPr>
            <p:cNvPr id="401" name="Google Shape;401;p18"/>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8"/>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3" name="Google Shape;403;p18"/>
          <p:cNvGrpSpPr/>
          <p:nvPr/>
        </p:nvGrpSpPr>
        <p:grpSpPr>
          <a:xfrm>
            <a:off x="-726527" y="-894556"/>
            <a:ext cx="19356819" cy="1572121"/>
            <a:chOff x="0" y="-57150"/>
            <a:chExt cx="5098092" cy="414057"/>
          </a:xfrm>
        </p:grpSpPr>
        <p:sp>
          <p:nvSpPr>
            <p:cNvPr id="404" name="Google Shape;404;p18"/>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8"/>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6" name="Google Shape;406;p18"/>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8"/>
          <p:cNvSpPr/>
          <p:nvPr/>
        </p:nvSpPr>
        <p:spPr>
          <a:xfrm>
            <a:off x="590550" y="2067668"/>
            <a:ext cx="18288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1 backlog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14200" u="none" cap="none" strike="noStrike">
                <a:solidFill>
                  <a:schemeClr val="dk1"/>
                </a:solidFill>
                <a:latin typeface="Arial"/>
                <a:ea typeface="Arial"/>
                <a:cs typeface="Arial"/>
                <a:sym typeface="Arial"/>
              </a:rPr>
              <a:t>                              </a:t>
            </a:r>
            <a:r>
              <a:rPr b="0" i="0" lang="es-MX" sz="1800" u="none" cap="none" strike="noStrike">
                <a:solidFill>
                  <a:schemeClr val="dk1"/>
                </a:solidFill>
                <a:latin typeface="Arial"/>
                <a:ea typeface="Arial"/>
                <a:cs typeface="Arial"/>
                <a:sym typeface="Arial"/>
              </a:rPr>
              <a:t> </a:t>
            </a:r>
            <a:endParaRPr/>
          </a:p>
        </p:txBody>
      </p:sp>
      <p:pic>
        <p:nvPicPr>
          <p:cNvPr id="408" name="Google Shape;408;p18"/>
          <p:cNvPicPr preferRelativeResize="0"/>
          <p:nvPr/>
        </p:nvPicPr>
        <p:blipFill rotWithShape="1">
          <a:blip r:embed="rId4">
            <a:alphaModFix/>
          </a:blip>
          <a:srcRect b="0" l="0" r="0" t="0"/>
          <a:stretch/>
        </p:blipFill>
        <p:spPr>
          <a:xfrm>
            <a:off x="304800" y="3467100"/>
            <a:ext cx="17387515" cy="266204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grpSp>
        <p:nvGrpSpPr>
          <p:cNvPr id="413" name="Google Shape;413;p19"/>
          <p:cNvGrpSpPr/>
          <p:nvPr/>
        </p:nvGrpSpPr>
        <p:grpSpPr>
          <a:xfrm>
            <a:off x="1990858" y="6970248"/>
            <a:ext cx="26156933" cy="14619813"/>
            <a:chOff x="0" y="0"/>
            <a:chExt cx="1507889" cy="842800"/>
          </a:xfrm>
        </p:grpSpPr>
        <p:sp>
          <p:nvSpPr>
            <p:cNvPr id="414" name="Google Shape;414;p19"/>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9"/>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6" name="Google Shape;416;p19"/>
          <p:cNvGrpSpPr/>
          <p:nvPr/>
        </p:nvGrpSpPr>
        <p:grpSpPr>
          <a:xfrm>
            <a:off x="-726527" y="-894556"/>
            <a:ext cx="19356819" cy="1572121"/>
            <a:chOff x="0" y="-57150"/>
            <a:chExt cx="5098092" cy="414057"/>
          </a:xfrm>
        </p:grpSpPr>
        <p:sp>
          <p:nvSpPr>
            <p:cNvPr id="417" name="Google Shape;417;p19"/>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9"/>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9" name="Google Shape;419;p19"/>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9"/>
          <p:cNvSpPr/>
          <p:nvPr/>
        </p:nvSpPr>
        <p:spPr>
          <a:xfrm>
            <a:off x="299472" y="881392"/>
            <a:ext cx="6514925" cy="387798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1 Burndown chart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148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421" name="Google Shape;421;p19"/>
          <p:cNvPicPr preferRelativeResize="0"/>
          <p:nvPr/>
        </p:nvPicPr>
        <p:blipFill rotWithShape="1">
          <a:blip r:embed="rId4">
            <a:alphaModFix/>
          </a:blip>
          <a:srcRect b="0" l="0" r="0" t="0"/>
          <a:stretch/>
        </p:blipFill>
        <p:spPr>
          <a:xfrm>
            <a:off x="1916236" y="2781300"/>
            <a:ext cx="13856585" cy="57273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grpSp>
        <p:nvGrpSpPr>
          <p:cNvPr id="426" name="Google Shape;426;p20"/>
          <p:cNvGrpSpPr/>
          <p:nvPr/>
        </p:nvGrpSpPr>
        <p:grpSpPr>
          <a:xfrm>
            <a:off x="1990858" y="6970248"/>
            <a:ext cx="26156933" cy="14619813"/>
            <a:chOff x="0" y="0"/>
            <a:chExt cx="1507889" cy="842800"/>
          </a:xfrm>
        </p:grpSpPr>
        <p:sp>
          <p:nvSpPr>
            <p:cNvPr id="427" name="Google Shape;427;p20"/>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0"/>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9" name="Google Shape;429;p20"/>
          <p:cNvGrpSpPr/>
          <p:nvPr/>
        </p:nvGrpSpPr>
        <p:grpSpPr>
          <a:xfrm>
            <a:off x="-726527" y="-894556"/>
            <a:ext cx="19356819" cy="1572121"/>
            <a:chOff x="0" y="-57150"/>
            <a:chExt cx="5098092" cy="414057"/>
          </a:xfrm>
        </p:grpSpPr>
        <p:sp>
          <p:nvSpPr>
            <p:cNvPr id="430" name="Google Shape;430;p20"/>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20"/>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2" name="Google Shape;432;p20"/>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0"/>
          <p:cNvSpPr/>
          <p:nvPr/>
        </p:nvSpPr>
        <p:spPr>
          <a:xfrm>
            <a:off x="342292" y="909161"/>
            <a:ext cx="10541668" cy="650947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1 impediment log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319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434" name="Google Shape;434;p20"/>
          <p:cNvPicPr preferRelativeResize="0"/>
          <p:nvPr/>
        </p:nvPicPr>
        <p:blipFill rotWithShape="1">
          <a:blip r:embed="rId4">
            <a:alphaModFix/>
          </a:blip>
          <a:srcRect b="0" l="0" r="0" t="0"/>
          <a:stretch/>
        </p:blipFill>
        <p:spPr>
          <a:xfrm>
            <a:off x="2393414" y="2026476"/>
            <a:ext cx="14100115" cy="705669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0" name="Google Shape;440;p21"/>
          <p:cNvGrpSpPr/>
          <p:nvPr/>
        </p:nvGrpSpPr>
        <p:grpSpPr>
          <a:xfrm rot="5400000">
            <a:off x="-1036236" y="-100579"/>
            <a:ext cx="12192397" cy="11275702"/>
            <a:chOff x="0" y="-38100"/>
            <a:chExt cx="3211166" cy="2969732"/>
          </a:xfrm>
        </p:grpSpPr>
        <p:sp>
          <p:nvSpPr>
            <p:cNvPr id="441" name="Google Shape;441;p21"/>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1"/>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3" name="Google Shape;443;p21"/>
          <p:cNvSpPr txBox="1"/>
          <p:nvPr/>
        </p:nvSpPr>
        <p:spPr>
          <a:xfrm>
            <a:off x="615390" y="4152900"/>
            <a:ext cx="7279369" cy="418114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200">
                <a:solidFill>
                  <a:schemeClr val="lt1"/>
                </a:solidFill>
                <a:latin typeface="Calibri"/>
                <a:ea typeface="Calibri"/>
                <a:cs typeface="Calibri"/>
                <a:sym typeface="Calibri"/>
              </a:rPr>
              <a:t>Semanas 6–7</a:t>
            </a:r>
            <a:br>
              <a:rPr lang="es-MX" sz="3200">
                <a:solidFill>
                  <a:schemeClr val="lt1"/>
                </a:solidFill>
                <a:latin typeface="Calibri"/>
                <a:ea typeface="Calibri"/>
                <a:cs typeface="Calibri"/>
                <a:sym typeface="Calibri"/>
              </a:rPr>
            </a:br>
            <a:r>
              <a:rPr lang="es-MX" sz="3200">
                <a:solidFill>
                  <a:schemeClr val="lt1"/>
                </a:solidFill>
                <a:latin typeface="Calibri"/>
                <a:ea typeface="Calibri"/>
                <a:cs typeface="Calibri"/>
                <a:sym typeface="Calibri"/>
              </a:rPr>
              <a:t>Diseñar e implementar la interfaz.</a:t>
            </a:r>
            <a:endParaRPr/>
          </a:p>
          <a:p>
            <a:pPr indent="0" lvl="0" marL="0" marR="0" rtl="0" algn="ctr">
              <a:spcBef>
                <a:spcPts val="0"/>
              </a:spcBef>
              <a:spcAft>
                <a:spcPts val="0"/>
              </a:spcAft>
              <a:buNone/>
            </a:pPr>
            <a:r>
              <a:t/>
            </a:r>
            <a:endParaRPr sz="3200">
              <a:solidFill>
                <a:schemeClr val="lt1"/>
              </a:solidFill>
              <a:latin typeface="Calibri"/>
              <a:ea typeface="Calibri"/>
              <a:cs typeface="Calibri"/>
              <a:sym typeface="Calibri"/>
            </a:endParaRPr>
          </a:p>
          <a:p>
            <a:pPr indent="0" lvl="0" marL="0" marR="0" rtl="0" algn="ctr">
              <a:spcBef>
                <a:spcPts val="0"/>
              </a:spcBef>
              <a:spcAft>
                <a:spcPts val="0"/>
              </a:spcAft>
              <a:buNone/>
            </a:pPr>
            <a:r>
              <a:rPr lang="es-MX" sz="3200">
                <a:solidFill>
                  <a:schemeClr val="lt1"/>
                </a:solidFill>
                <a:latin typeface="Calibri"/>
                <a:ea typeface="Calibri"/>
                <a:cs typeface="Calibri"/>
                <a:sym typeface="Calibri"/>
              </a:rPr>
              <a:t>Las tareas de Riverpod, LoginPage, HomePage y estado de sesión reflejan el entregable del “frontend base conectado al backend”. </a:t>
            </a:r>
            <a:endParaRPr sz="3200">
              <a:solidFill>
                <a:schemeClr val="lt1"/>
              </a:solidFill>
              <a:latin typeface="Montserrat"/>
              <a:ea typeface="Montserrat"/>
              <a:cs typeface="Montserrat"/>
              <a:sym typeface="Montserrat"/>
            </a:endParaRPr>
          </a:p>
          <a:p>
            <a:pPr indent="0" lvl="0" marL="0" marR="0" rtl="0" algn="ctr">
              <a:spcBef>
                <a:spcPts val="0"/>
              </a:spcBef>
              <a:spcAft>
                <a:spcPts val="0"/>
              </a:spcAft>
              <a:buNone/>
            </a:pPr>
            <a:br>
              <a:rPr lang="es-MX" sz="2400">
                <a:solidFill>
                  <a:schemeClr val="dk1"/>
                </a:solidFill>
                <a:latin typeface="Calibri"/>
                <a:ea typeface="Calibri"/>
                <a:cs typeface="Calibri"/>
                <a:sym typeface="Calibri"/>
              </a:rPr>
            </a:br>
            <a:endParaRPr sz="2370">
              <a:solidFill>
                <a:schemeClr val="lt1"/>
              </a:solidFill>
              <a:latin typeface="Inter"/>
              <a:ea typeface="Inter"/>
              <a:cs typeface="Inter"/>
              <a:sym typeface="Inter"/>
            </a:endParaRPr>
          </a:p>
        </p:txBody>
      </p:sp>
      <p:sp>
        <p:nvSpPr>
          <p:cNvPr id="444" name="Google Shape;444;p21"/>
          <p:cNvSpPr txBox="1"/>
          <p:nvPr/>
        </p:nvSpPr>
        <p:spPr>
          <a:xfrm>
            <a:off x="615390" y="2026777"/>
            <a:ext cx="7788620" cy="160043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4400">
                <a:solidFill>
                  <a:schemeClr val="lt1"/>
                </a:solidFill>
                <a:latin typeface="Calibri"/>
                <a:ea typeface="Calibri"/>
                <a:cs typeface="Calibri"/>
                <a:sym typeface="Calibri"/>
              </a:rPr>
              <a:t>Sprint 2 – Frontend Móvil (App Base</a:t>
            </a:r>
            <a:r>
              <a:rPr lang="es-MX" sz="1800">
                <a:solidFill>
                  <a:schemeClr val="dk1"/>
                </a:solidFill>
                <a:latin typeface="Calibri"/>
                <a:ea typeface="Calibri"/>
                <a:cs typeface="Calibri"/>
                <a:sym typeface="Calibri"/>
              </a:rPr>
              <a:t>)</a:t>
            </a:r>
            <a:br>
              <a:rPr lang="es-MX" sz="1600">
                <a:solidFill>
                  <a:schemeClr val="lt1"/>
                </a:solidFill>
                <a:latin typeface="Calibri"/>
                <a:ea typeface="Calibri"/>
                <a:cs typeface="Calibri"/>
                <a:sym typeface="Calibri"/>
              </a:rPr>
            </a:br>
            <a:r>
              <a:rPr b="1" lang="es-MX" sz="1600">
                <a:solidFill>
                  <a:schemeClr val="lt1"/>
                </a:solidFill>
                <a:latin typeface="Arial"/>
                <a:ea typeface="Arial"/>
                <a:cs typeface="Arial"/>
                <a:sym typeface="Arial"/>
              </a:rPr>
              <a:t> </a:t>
            </a:r>
            <a:endParaRPr/>
          </a:p>
        </p:txBody>
      </p:sp>
      <p:pic>
        <p:nvPicPr>
          <p:cNvPr id="445" name="Google Shape;445;p21"/>
          <p:cNvPicPr preferRelativeResize="0"/>
          <p:nvPr/>
        </p:nvPicPr>
        <p:blipFill rotWithShape="1">
          <a:blip r:embed="rId4">
            <a:alphaModFix/>
          </a:blip>
          <a:srcRect b="0" l="0" r="0" t="0"/>
          <a:stretch/>
        </p:blipFill>
        <p:spPr>
          <a:xfrm>
            <a:off x="8752787" y="2166522"/>
            <a:ext cx="8945223" cy="59539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grpSp>
        <p:nvGrpSpPr>
          <p:cNvPr id="450" name="Google Shape;450;p22"/>
          <p:cNvGrpSpPr/>
          <p:nvPr/>
        </p:nvGrpSpPr>
        <p:grpSpPr>
          <a:xfrm>
            <a:off x="1990858" y="6970248"/>
            <a:ext cx="26156933" cy="14619813"/>
            <a:chOff x="0" y="0"/>
            <a:chExt cx="1507889" cy="842800"/>
          </a:xfrm>
        </p:grpSpPr>
        <p:sp>
          <p:nvSpPr>
            <p:cNvPr id="451" name="Google Shape;451;p22"/>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22"/>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3" name="Google Shape;453;p22"/>
          <p:cNvGrpSpPr/>
          <p:nvPr/>
        </p:nvGrpSpPr>
        <p:grpSpPr>
          <a:xfrm>
            <a:off x="-726527" y="-894556"/>
            <a:ext cx="19356819" cy="1572121"/>
            <a:chOff x="0" y="-57150"/>
            <a:chExt cx="5098092" cy="414057"/>
          </a:xfrm>
        </p:grpSpPr>
        <p:sp>
          <p:nvSpPr>
            <p:cNvPr id="454" name="Google Shape;454;p22"/>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2"/>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6" name="Google Shape;456;p22"/>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2"/>
          <p:cNvSpPr txBox="1"/>
          <p:nvPr/>
        </p:nvSpPr>
        <p:spPr>
          <a:xfrm>
            <a:off x="632888" y="918801"/>
            <a:ext cx="14436436" cy="1877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91B0E"/>
              </a:buClr>
              <a:buSzPts val="4400"/>
              <a:buFont typeface="Libre Franklin"/>
              <a:buNone/>
            </a:pPr>
            <a:r>
              <a:rPr b="0" i="0" lang="es-MX" sz="4400" u="none" strike="noStrike">
                <a:solidFill>
                  <a:srgbClr val="191B0E"/>
                </a:solidFill>
                <a:latin typeface="Libre Franklin"/>
                <a:ea typeface="Libre Franklin"/>
                <a:cs typeface="Libre Franklin"/>
                <a:sym typeface="Libre Franklin"/>
              </a:rPr>
              <a:t>Sprint 2 backlog</a:t>
            </a:r>
            <a:endParaRPr b="0" sz="4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b="0" lang="es-MX"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lang="es-MX"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458" name="Google Shape;458;p22"/>
          <p:cNvPicPr preferRelativeResize="0"/>
          <p:nvPr/>
        </p:nvPicPr>
        <p:blipFill rotWithShape="1">
          <a:blip r:embed="rId4">
            <a:alphaModFix/>
          </a:blip>
          <a:srcRect b="0" l="0" r="0" t="0"/>
          <a:stretch/>
        </p:blipFill>
        <p:spPr>
          <a:xfrm>
            <a:off x="224581" y="2438656"/>
            <a:ext cx="17838838" cy="2534568"/>
          </a:xfrm>
          <a:prstGeom prst="rect">
            <a:avLst/>
          </a:prstGeom>
          <a:noFill/>
          <a:ln>
            <a:noFill/>
          </a:ln>
        </p:spPr>
      </p:pic>
      <p:pic>
        <p:nvPicPr>
          <p:cNvPr id="459" name="Google Shape;459;p22"/>
          <p:cNvPicPr preferRelativeResize="0"/>
          <p:nvPr/>
        </p:nvPicPr>
        <p:blipFill rotWithShape="1">
          <a:blip r:embed="rId5">
            <a:alphaModFix/>
          </a:blip>
          <a:srcRect b="0" l="0" r="0" t="0"/>
          <a:stretch/>
        </p:blipFill>
        <p:spPr>
          <a:xfrm>
            <a:off x="4253118" y="6185403"/>
            <a:ext cx="9591804" cy="23979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grpSp>
        <p:nvGrpSpPr>
          <p:cNvPr id="464" name="Google Shape;464;p23"/>
          <p:cNvGrpSpPr/>
          <p:nvPr/>
        </p:nvGrpSpPr>
        <p:grpSpPr>
          <a:xfrm>
            <a:off x="1990858" y="6970248"/>
            <a:ext cx="26156933" cy="14619813"/>
            <a:chOff x="0" y="0"/>
            <a:chExt cx="1507889" cy="842800"/>
          </a:xfrm>
        </p:grpSpPr>
        <p:sp>
          <p:nvSpPr>
            <p:cNvPr id="465" name="Google Shape;465;p23"/>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23"/>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7" name="Google Shape;467;p23"/>
          <p:cNvGrpSpPr/>
          <p:nvPr/>
        </p:nvGrpSpPr>
        <p:grpSpPr>
          <a:xfrm>
            <a:off x="-726527" y="-894556"/>
            <a:ext cx="19356819" cy="1572121"/>
            <a:chOff x="0" y="-57150"/>
            <a:chExt cx="5098092" cy="414057"/>
          </a:xfrm>
        </p:grpSpPr>
        <p:sp>
          <p:nvSpPr>
            <p:cNvPr id="468" name="Google Shape;468;p23"/>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3"/>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0" name="Google Shape;470;p23"/>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3"/>
          <p:cNvSpPr/>
          <p:nvPr/>
        </p:nvSpPr>
        <p:spPr>
          <a:xfrm>
            <a:off x="228600" y="904297"/>
            <a:ext cx="6590266" cy="406265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2 Burndown chart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148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472" name="Google Shape;472;p23"/>
          <p:cNvPicPr preferRelativeResize="0"/>
          <p:nvPr/>
        </p:nvPicPr>
        <p:blipFill rotWithShape="1">
          <a:blip r:embed="rId4">
            <a:alphaModFix/>
          </a:blip>
          <a:srcRect b="0" l="0" r="0" t="0"/>
          <a:stretch/>
        </p:blipFill>
        <p:spPr>
          <a:xfrm>
            <a:off x="1990858" y="2471661"/>
            <a:ext cx="13782542" cy="569678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grpSp>
        <p:nvGrpSpPr>
          <p:cNvPr id="477" name="Google Shape;477;p24"/>
          <p:cNvGrpSpPr/>
          <p:nvPr/>
        </p:nvGrpSpPr>
        <p:grpSpPr>
          <a:xfrm>
            <a:off x="1990858" y="6970248"/>
            <a:ext cx="26156933" cy="14619813"/>
            <a:chOff x="0" y="0"/>
            <a:chExt cx="1507889" cy="842800"/>
          </a:xfrm>
        </p:grpSpPr>
        <p:sp>
          <p:nvSpPr>
            <p:cNvPr id="478" name="Google Shape;478;p24"/>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24"/>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0" name="Google Shape;480;p24"/>
          <p:cNvGrpSpPr/>
          <p:nvPr/>
        </p:nvGrpSpPr>
        <p:grpSpPr>
          <a:xfrm>
            <a:off x="-726527" y="-894556"/>
            <a:ext cx="19356819" cy="1572121"/>
            <a:chOff x="0" y="-57150"/>
            <a:chExt cx="5098092" cy="414057"/>
          </a:xfrm>
        </p:grpSpPr>
        <p:sp>
          <p:nvSpPr>
            <p:cNvPr id="481" name="Google Shape;481;p24"/>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4"/>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3" name="Google Shape;483;p24"/>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4"/>
          <p:cNvSpPr/>
          <p:nvPr/>
        </p:nvSpPr>
        <p:spPr>
          <a:xfrm>
            <a:off x="342292" y="980822"/>
            <a:ext cx="10729219" cy="832535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2 impediment log</a:t>
            </a:r>
            <a:br>
              <a:rPr b="0" i="0" lang="es-MX" sz="4400" u="none" cap="none" strike="noStrike">
                <a:solidFill>
                  <a:srgbClr val="191B0E"/>
                </a:solidFill>
                <a:latin typeface="Libre Franklin"/>
                <a:ea typeface="Libre Franklin"/>
                <a:cs typeface="Libre Franklin"/>
                <a:sym typeface="Libre Franklin"/>
              </a:rPr>
            </a:br>
            <a:br>
              <a:rPr b="0" i="0" lang="es-MX" sz="4400" u="none" cap="none" strike="noStrike">
                <a:solidFill>
                  <a:srgbClr val="191B0E"/>
                </a:solidFill>
                <a:latin typeface="Libre Franklin"/>
                <a:ea typeface="Libre Franklin"/>
                <a:cs typeface="Libre Franklin"/>
                <a:sym typeface="Libre Franklin"/>
              </a:rPr>
            </a:br>
            <a:br>
              <a:rPr b="0" i="0" lang="es-MX" sz="4400" u="none" cap="none" strike="noStrike">
                <a:solidFill>
                  <a:srgbClr val="191B0E"/>
                </a:solidFill>
                <a:latin typeface="Libre Franklin"/>
                <a:ea typeface="Libre Franklin"/>
                <a:cs typeface="Libre Franklin"/>
                <a:sym typeface="Libre Franklin"/>
              </a:rPr>
            </a:b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325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485" name="Google Shape;485;p24"/>
          <p:cNvPicPr preferRelativeResize="0"/>
          <p:nvPr/>
        </p:nvPicPr>
        <p:blipFill rotWithShape="1">
          <a:blip r:embed="rId4">
            <a:alphaModFix/>
          </a:blip>
          <a:srcRect b="0" l="0" r="0" t="0"/>
          <a:stretch/>
        </p:blipFill>
        <p:spPr>
          <a:xfrm>
            <a:off x="3048000" y="1894785"/>
            <a:ext cx="13639800" cy="695463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91" name="Google Shape;491;p25"/>
          <p:cNvGrpSpPr/>
          <p:nvPr/>
        </p:nvGrpSpPr>
        <p:grpSpPr>
          <a:xfrm rot="5400000">
            <a:off x="-1036236" y="-100579"/>
            <a:ext cx="12192397" cy="11275702"/>
            <a:chOff x="0" y="-38100"/>
            <a:chExt cx="3211166" cy="2969732"/>
          </a:xfrm>
        </p:grpSpPr>
        <p:sp>
          <p:nvSpPr>
            <p:cNvPr id="492" name="Google Shape;492;p25"/>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5"/>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4" name="Google Shape;494;p25"/>
          <p:cNvSpPr txBox="1"/>
          <p:nvPr/>
        </p:nvSpPr>
        <p:spPr>
          <a:xfrm>
            <a:off x="615390" y="4152900"/>
            <a:ext cx="7279369" cy="427347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300">
                <a:solidFill>
                  <a:schemeClr val="lt1"/>
                </a:solidFill>
                <a:latin typeface="Calibri"/>
                <a:ea typeface="Calibri"/>
                <a:cs typeface="Calibri"/>
                <a:sym typeface="Calibri"/>
              </a:rPr>
              <a:t>Semana 8-9</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integración LoRa Mesh / BLE</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Descripción : Implementar la </a:t>
            </a:r>
            <a:r>
              <a:rPr b="1" lang="es-MX" sz="3300">
                <a:solidFill>
                  <a:schemeClr val="lt1"/>
                </a:solidFill>
                <a:latin typeface="Calibri"/>
                <a:ea typeface="Calibri"/>
                <a:cs typeface="Calibri"/>
                <a:sym typeface="Calibri"/>
              </a:rPr>
              <a:t>conectividad local y mensajería offline</a:t>
            </a:r>
            <a:r>
              <a:rPr lang="es-MX" sz="3300">
                <a:solidFill>
                  <a:schemeClr val="lt1"/>
                </a:solidFill>
                <a:latin typeface="Calibri"/>
                <a:ea typeface="Calibri"/>
                <a:cs typeface="Calibri"/>
                <a:sym typeface="Calibri"/>
              </a:rPr>
              <a:t> utilizando tecnologías </a:t>
            </a:r>
            <a:r>
              <a:rPr b="1" lang="es-MX" sz="3300">
                <a:solidFill>
                  <a:schemeClr val="lt1"/>
                </a:solidFill>
                <a:latin typeface="Calibri"/>
                <a:ea typeface="Calibri"/>
                <a:cs typeface="Calibri"/>
                <a:sym typeface="Calibri"/>
              </a:rPr>
              <a:t>LoRa Mesh</a:t>
            </a:r>
            <a:r>
              <a:rPr lang="es-MX" sz="3300">
                <a:solidFill>
                  <a:schemeClr val="lt1"/>
                </a:solidFill>
                <a:latin typeface="Calibri"/>
                <a:ea typeface="Calibri"/>
                <a:cs typeface="Calibri"/>
                <a:sym typeface="Calibri"/>
              </a:rPr>
              <a:t> y </a:t>
            </a:r>
            <a:r>
              <a:rPr b="1" lang="es-MX" sz="3300">
                <a:solidFill>
                  <a:schemeClr val="lt1"/>
                </a:solidFill>
                <a:latin typeface="Calibri"/>
                <a:ea typeface="Calibri"/>
                <a:cs typeface="Calibri"/>
                <a:sym typeface="Calibri"/>
              </a:rPr>
              <a:t>Bluetooth Low Energy (BLE)</a:t>
            </a:r>
            <a:r>
              <a:rPr lang="es-MX" sz="3300">
                <a:solidFill>
                  <a:schemeClr val="lt1"/>
                </a:solidFill>
                <a:latin typeface="Calibri"/>
                <a:ea typeface="Calibri"/>
                <a:cs typeface="Calibri"/>
                <a:sym typeface="Calibri"/>
              </a:rPr>
              <a:t>,</a:t>
            </a:r>
            <a:endParaRPr/>
          </a:p>
          <a:p>
            <a:pPr indent="0" lvl="0" marL="0" marR="0" rtl="0" algn="l">
              <a:spcBef>
                <a:spcPts val="0"/>
              </a:spcBef>
              <a:spcAft>
                <a:spcPts val="0"/>
              </a:spcAft>
              <a:buNone/>
            </a:pPr>
            <a:br>
              <a:rPr lang="es-MX" sz="3200">
                <a:solidFill>
                  <a:schemeClr val="dk1"/>
                </a:solidFill>
                <a:latin typeface="Calibri"/>
                <a:ea typeface="Calibri"/>
                <a:cs typeface="Calibri"/>
                <a:sym typeface="Calibri"/>
              </a:rPr>
            </a:br>
            <a:br>
              <a:rPr lang="es-MX" sz="2400">
                <a:solidFill>
                  <a:schemeClr val="dk1"/>
                </a:solidFill>
                <a:latin typeface="Calibri"/>
                <a:ea typeface="Calibri"/>
                <a:cs typeface="Calibri"/>
                <a:sym typeface="Calibri"/>
              </a:rPr>
            </a:br>
            <a:endParaRPr sz="2370">
              <a:solidFill>
                <a:schemeClr val="lt1"/>
              </a:solidFill>
              <a:latin typeface="Inter"/>
              <a:ea typeface="Inter"/>
              <a:cs typeface="Inter"/>
              <a:sym typeface="Inter"/>
            </a:endParaRPr>
          </a:p>
        </p:txBody>
      </p:sp>
      <p:sp>
        <p:nvSpPr>
          <p:cNvPr id="495" name="Google Shape;495;p25"/>
          <p:cNvSpPr txBox="1"/>
          <p:nvPr/>
        </p:nvSpPr>
        <p:spPr>
          <a:xfrm>
            <a:off x="615390" y="2026777"/>
            <a:ext cx="7788620" cy="160043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4400">
                <a:solidFill>
                  <a:schemeClr val="lt1"/>
                </a:solidFill>
                <a:latin typeface="Calibri"/>
                <a:ea typeface="Calibri"/>
                <a:cs typeface="Calibri"/>
                <a:sym typeface="Calibri"/>
              </a:rPr>
              <a:t>Sprint 3 – Integración LoRa Mesh / BLE)</a:t>
            </a:r>
            <a:br>
              <a:rPr lang="es-MX" sz="1600">
                <a:solidFill>
                  <a:schemeClr val="lt1"/>
                </a:solidFill>
                <a:latin typeface="Calibri"/>
                <a:ea typeface="Calibri"/>
                <a:cs typeface="Calibri"/>
                <a:sym typeface="Calibri"/>
              </a:rPr>
            </a:br>
            <a:r>
              <a:rPr b="1" lang="es-MX" sz="1600">
                <a:solidFill>
                  <a:schemeClr val="lt1"/>
                </a:solidFill>
                <a:latin typeface="Arial"/>
                <a:ea typeface="Arial"/>
                <a:cs typeface="Arial"/>
                <a:sym typeface="Arial"/>
              </a:rPr>
              <a:t> </a:t>
            </a:r>
            <a:endParaRPr/>
          </a:p>
        </p:txBody>
      </p:sp>
      <p:pic>
        <p:nvPicPr>
          <p:cNvPr id="496" name="Google Shape;496;p25"/>
          <p:cNvPicPr preferRelativeResize="0"/>
          <p:nvPr/>
        </p:nvPicPr>
        <p:blipFill rotWithShape="1">
          <a:blip r:embed="rId4">
            <a:alphaModFix/>
          </a:blip>
          <a:srcRect b="0" l="0" r="0" t="0"/>
          <a:stretch/>
        </p:blipFill>
        <p:spPr>
          <a:xfrm>
            <a:off x="9372600" y="2314311"/>
            <a:ext cx="8382000" cy="565837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grpSp>
        <p:nvGrpSpPr>
          <p:cNvPr id="501" name="Google Shape;501;p26"/>
          <p:cNvGrpSpPr/>
          <p:nvPr/>
        </p:nvGrpSpPr>
        <p:grpSpPr>
          <a:xfrm>
            <a:off x="1990858" y="6970248"/>
            <a:ext cx="26156933" cy="14619813"/>
            <a:chOff x="0" y="0"/>
            <a:chExt cx="1507889" cy="842800"/>
          </a:xfrm>
        </p:grpSpPr>
        <p:sp>
          <p:nvSpPr>
            <p:cNvPr id="502" name="Google Shape;502;p26"/>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26"/>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4" name="Google Shape;504;p26"/>
          <p:cNvGrpSpPr/>
          <p:nvPr/>
        </p:nvGrpSpPr>
        <p:grpSpPr>
          <a:xfrm>
            <a:off x="-726527" y="-894556"/>
            <a:ext cx="19356819" cy="1572121"/>
            <a:chOff x="0" y="-57150"/>
            <a:chExt cx="5098092" cy="414057"/>
          </a:xfrm>
        </p:grpSpPr>
        <p:sp>
          <p:nvSpPr>
            <p:cNvPr id="505" name="Google Shape;505;p26"/>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26"/>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7" name="Google Shape;507;p26"/>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26"/>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3 backlog</a:t>
            </a:r>
            <a:endParaRPr sz="4400">
              <a:solidFill>
                <a:srgbClr val="051D40"/>
              </a:solidFill>
              <a:latin typeface="Poppins"/>
              <a:ea typeface="Poppins"/>
              <a:cs typeface="Poppins"/>
              <a:sym typeface="Poppins"/>
            </a:endParaRPr>
          </a:p>
        </p:txBody>
      </p:sp>
      <p:pic>
        <p:nvPicPr>
          <p:cNvPr id="509" name="Google Shape;509;p26"/>
          <p:cNvPicPr preferRelativeResize="0"/>
          <p:nvPr/>
        </p:nvPicPr>
        <p:blipFill rotWithShape="1">
          <a:blip r:embed="rId4">
            <a:alphaModFix/>
          </a:blip>
          <a:srcRect b="0" l="0" r="0" t="0"/>
          <a:stretch/>
        </p:blipFill>
        <p:spPr>
          <a:xfrm>
            <a:off x="1400907" y="1927844"/>
            <a:ext cx="15684164" cy="3157538"/>
          </a:xfrm>
          <a:prstGeom prst="rect">
            <a:avLst/>
          </a:prstGeom>
          <a:noFill/>
          <a:ln>
            <a:noFill/>
          </a:ln>
        </p:spPr>
      </p:pic>
      <p:pic>
        <p:nvPicPr>
          <p:cNvPr id="510" name="Google Shape;510;p26"/>
          <p:cNvPicPr preferRelativeResize="0"/>
          <p:nvPr/>
        </p:nvPicPr>
        <p:blipFill rotWithShape="1">
          <a:blip r:embed="rId5">
            <a:alphaModFix/>
          </a:blip>
          <a:srcRect b="0" l="0" r="0" t="0"/>
          <a:stretch/>
        </p:blipFill>
        <p:spPr>
          <a:xfrm>
            <a:off x="5429684" y="6304488"/>
            <a:ext cx="8470869" cy="262695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7"/>
          <p:cNvSpPr txBox="1"/>
          <p:nvPr/>
        </p:nvSpPr>
        <p:spPr>
          <a:xfrm>
            <a:off x="4443078" y="7349482"/>
            <a:ext cx="21252511" cy="1286996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nvGrpSpPr>
          <p:cNvPr id="516" name="Google Shape;516;p27"/>
          <p:cNvGrpSpPr/>
          <p:nvPr/>
        </p:nvGrpSpPr>
        <p:grpSpPr>
          <a:xfrm>
            <a:off x="-726527" y="-894556"/>
            <a:ext cx="19356819" cy="1572121"/>
            <a:chOff x="0" y="-57150"/>
            <a:chExt cx="5098092" cy="414057"/>
          </a:xfrm>
        </p:grpSpPr>
        <p:sp>
          <p:nvSpPr>
            <p:cNvPr id="517" name="Google Shape;517;p27"/>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27"/>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9" name="Google Shape;519;p27"/>
          <p:cNvSpPr/>
          <p:nvPr/>
        </p:nvSpPr>
        <p:spPr>
          <a:xfrm>
            <a:off x="299472" y="938422"/>
            <a:ext cx="6614311" cy="406265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91B0E"/>
              </a:buClr>
              <a:buSzPts val="4400"/>
              <a:buFont typeface="Libre Franklin"/>
              <a:buNone/>
            </a:pPr>
            <a:r>
              <a:rPr b="0" i="0" lang="es-MX" sz="4400" u="none" cap="none" strike="noStrike">
                <a:solidFill>
                  <a:srgbClr val="191B0E"/>
                </a:solidFill>
                <a:latin typeface="Libre Franklin"/>
                <a:ea typeface="Libre Franklin"/>
                <a:cs typeface="Libre Franklin"/>
                <a:sym typeface="Libre Franklin"/>
              </a:rPr>
              <a:t>Sprint 3 Burndown chart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s-MX" sz="1800" u="none" cap="none" strike="noStrike">
                <a:solidFill>
                  <a:schemeClr val="dk1"/>
                </a:solidFill>
                <a:latin typeface="Arial"/>
                <a:ea typeface="Arial"/>
                <a:cs typeface="Arial"/>
                <a:sym typeface="Arial"/>
              </a:rPr>
              <a:t>  </a:t>
            </a:r>
            <a:r>
              <a:rPr b="0" i="0" lang="es-MX" sz="148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520" name="Google Shape;520;p27"/>
          <p:cNvPicPr preferRelativeResize="0"/>
          <p:nvPr/>
        </p:nvPicPr>
        <p:blipFill rotWithShape="1">
          <a:blip r:embed="rId3">
            <a:alphaModFix/>
          </a:blip>
          <a:srcRect b="0" l="0" r="0" t="0"/>
          <a:stretch/>
        </p:blipFill>
        <p:spPr>
          <a:xfrm>
            <a:off x="2240809" y="2600518"/>
            <a:ext cx="14632699" cy="60481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grpSp>
        <p:nvGrpSpPr>
          <p:cNvPr id="525" name="Google Shape;525;p28"/>
          <p:cNvGrpSpPr/>
          <p:nvPr/>
        </p:nvGrpSpPr>
        <p:grpSpPr>
          <a:xfrm>
            <a:off x="1990858" y="6970248"/>
            <a:ext cx="26156933" cy="14619813"/>
            <a:chOff x="0" y="0"/>
            <a:chExt cx="1507889" cy="842800"/>
          </a:xfrm>
        </p:grpSpPr>
        <p:sp>
          <p:nvSpPr>
            <p:cNvPr id="526" name="Google Shape;526;p28"/>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8"/>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28" name="Google Shape;528;p28"/>
          <p:cNvGrpSpPr/>
          <p:nvPr/>
        </p:nvGrpSpPr>
        <p:grpSpPr>
          <a:xfrm>
            <a:off x="-726527" y="-894556"/>
            <a:ext cx="19356819" cy="1572121"/>
            <a:chOff x="0" y="-57150"/>
            <a:chExt cx="5098092" cy="414057"/>
          </a:xfrm>
        </p:grpSpPr>
        <p:sp>
          <p:nvSpPr>
            <p:cNvPr id="529" name="Google Shape;529;p28"/>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28"/>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1" name="Google Shape;531;p28"/>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8"/>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3 impediment log</a:t>
            </a:r>
            <a:endParaRPr sz="4400">
              <a:solidFill>
                <a:srgbClr val="051D40"/>
              </a:solidFill>
              <a:latin typeface="Poppins"/>
              <a:ea typeface="Poppins"/>
              <a:cs typeface="Poppins"/>
              <a:sym typeface="Poppins"/>
            </a:endParaRPr>
          </a:p>
        </p:txBody>
      </p:sp>
      <p:pic>
        <p:nvPicPr>
          <p:cNvPr id="533" name="Google Shape;533;p28"/>
          <p:cNvPicPr preferRelativeResize="0"/>
          <p:nvPr/>
        </p:nvPicPr>
        <p:blipFill rotWithShape="1">
          <a:blip r:embed="rId4">
            <a:alphaModFix/>
          </a:blip>
          <a:srcRect b="0" l="0" r="0" t="0"/>
          <a:stretch/>
        </p:blipFill>
        <p:spPr>
          <a:xfrm>
            <a:off x="2240810" y="1774431"/>
            <a:ext cx="13946519" cy="682853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9" name="Google Shape;539;p29"/>
          <p:cNvGrpSpPr/>
          <p:nvPr/>
        </p:nvGrpSpPr>
        <p:grpSpPr>
          <a:xfrm rot="5400000">
            <a:off x="-1036236" y="-100579"/>
            <a:ext cx="12192397" cy="11275702"/>
            <a:chOff x="0" y="-38100"/>
            <a:chExt cx="3211166" cy="2969732"/>
          </a:xfrm>
        </p:grpSpPr>
        <p:sp>
          <p:nvSpPr>
            <p:cNvPr id="540" name="Google Shape;540;p29"/>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29"/>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2" name="Google Shape;542;p29"/>
          <p:cNvSpPr txBox="1"/>
          <p:nvPr/>
        </p:nvSpPr>
        <p:spPr>
          <a:xfrm>
            <a:off x="615390" y="4152900"/>
            <a:ext cx="7279369" cy="608935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300">
                <a:solidFill>
                  <a:schemeClr val="lt1"/>
                </a:solidFill>
                <a:latin typeface="Calibri"/>
                <a:ea typeface="Calibri"/>
                <a:cs typeface="Calibri"/>
                <a:sym typeface="Calibri"/>
              </a:rPr>
              <a:t>Semana 11-13</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integración Sincronización </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Descripcion :</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Implementación de sincronización offline → online.</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Desarrollo de panel web para autoridades (mapa + filtros).</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Notificaciones push para alertas críticas.</a:t>
            </a:r>
            <a:endParaRPr/>
          </a:p>
          <a:p>
            <a:pPr indent="0" lvl="0" marL="0" marR="0" rtl="0" algn="l">
              <a:spcBef>
                <a:spcPts val="0"/>
              </a:spcBef>
              <a:spcAft>
                <a:spcPts val="0"/>
              </a:spcAft>
              <a:buNone/>
            </a:pPr>
            <a:br>
              <a:rPr lang="es-MX" sz="1800">
                <a:solidFill>
                  <a:schemeClr val="dk1"/>
                </a:solidFill>
                <a:latin typeface="Calibri"/>
                <a:ea typeface="Calibri"/>
                <a:cs typeface="Calibri"/>
                <a:sym typeface="Calibri"/>
              </a:rPr>
            </a:br>
            <a:br>
              <a:rPr lang="es-MX" sz="1800">
                <a:solidFill>
                  <a:schemeClr val="dk1"/>
                </a:solidFill>
                <a:latin typeface="Calibri"/>
                <a:ea typeface="Calibri"/>
                <a:cs typeface="Calibri"/>
                <a:sym typeface="Calibri"/>
              </a:rPr>
            </a:br>
            <a:endParaRPr sz="3600">
              <a:solidFill>
                <a:schemeClr val="dk1"/>
              </a:solidFill>
              <a:latin typeface="Calibri"/>
              <a:ea typeface="Calibri"/>
              <a:cs typeface="Calibri"/>
              <a:sym typeface="Calibri"/>
            </a:endParaRPr>
          </a:p>
          <a:p>
            <a:pPr indent="0" lvl="0" marL="0" marR="0" rtl="0" algn="l">
              <a:spcBef>
                <a:spcPts val="0"/>
              </a:spcBef>
              <a:spcAft>
                <a:spcPts val="0"/>
              </a:spcAft>
              <a:buNone/>
            </a:pPr>
            <a:br>
              <a:rPr lang="es-MX" sz="3600">
                <a:solidFill>
                  <a:schemeClr val="dk1"/>
                </a:solidFill>
                <a:latin typeface="Calibri"/>
                <a:ea typeface="Calibri"/>
                <a:cs typeface="Calibri"/>
                <a:sym typeface="Calibri"/>
              </a:rPr>
            </a:br>
            <a:endParaRPr sz="2370">
              <a:solidFill>
                <a:schemeClr val="lt1"/>
              </a:solidFill>
              <a:latin typeface="Inter"/>
              <a:ea typeface="Inter"/>
              <a:cs typeface="Inter"/>
              <a:sym typeface="Inter"/>
            </a:endParaRPr>
          </a:p>
        </p:txBody>
      </p:sp>
      <p:sp>
        <p:nvSpPr>
          <p:cNvPr id="543" name="Google Shape;543;p29"/>
          <p:cNvSpPr txBox="1"/>
          <p:nvPr/>
        </p:nvSpPr>
        <p:spPr>
          <a:xfrm>
            <a:off x="615390" y="2026777"/>
            <a:ext cx="7788620" cy="92333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4400">
                <a:solidFill>
                  <a:schemeClr val="lt1"/>
                </a:solidFill>
                <a:latin typeface="Calibri"/>
                <a:ea typeface="Calibri"/>
                <a:cs typeface="Calibri"/>
                <a:sym typeface="Calibri"/>
              </a:rPr>
              <a:t>Sprint 4 – Sincronizacion</a:t>
            </a:r>
            <a:br>
              <a:rPr lang="es-MX" sz="1600">
                <a:solidFill>
                  <a:schemeClr val="lt1"/>
                </a:solidFill>
                <a:latin typeface="Calibri"/>
                <a:ea typeface="Calibri"/>
                <a:cs typeface="Calibri"/>
                <a:sym typeface="Calibri"/>
              </a:rPr>
            </a:br>
            <a:r>
              <a:rPr b="1" lang="es-MX" sz="1600">
                <a:solidFill>
                  <a:schemeClr val="lt1"/>
                </a:solidFill>
                <a:latin typeface="Arial"/>
                <a:ea typeface="Arial"/>
                <a:cs typeface="Arial"/>
                <a:sym typeface="Arial"/>
              </a:rPr>
              <a:t> </a:t>
            </a:r>
            <a:endParaRPr/>
          </a:p>
        </p:txBody>
      </p:sp>
      <p:pic>
        <p:nvPicPr>
          <p:cNvPr id="544" name="Google Shape;544;p29"/>
          <p:cNvPicPr preferRelativeResize="0"/>
          <p:nvPr/>
        </p:nvPicPr>
        <p:blipFill rotWithShape="1">
          <a:blip r:embed="rId4">
            <a:alphaModFix/>
          </a:blip>
          <a:srcRect b="0" l="0" r="0" t="0"/>
          <a:stretch/>
        </p:blipFill>
        <p:spPr>
          <a:xfrm>
            <a:off x="9561291" y="2400300"/>
            <a:ext cx="8077200" cy="49253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grpSp>
        <p:nvGrpSpPr>
          <p:cNvPr id="549" name="Google Shape;549;p30"/>
          <p:cNvGrpSpPr/>
          <p:nvPr/>
        </p:nvGrpSpPr>
        <p:grpSpPr>
          <a:xfrm>
            <a:off x="1990858" y="6970248"/>
            <a:ext cx="26156933" cy="14619813"/>
            <a:chOff x="0" y="0"/>
            <a:chExt cx="1507889" cy="842800"/>
          </a:xfrm>
        </p:grpSpPr>
        <p:sp>
          <p:nvSpPr>
            <p:cNvPr id="550" name="Google Shape;550;p30"/>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30"/>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2" name="Google Shape;552;p30"/>
          <p:cNvGrpSpPr/>
          <p:nvPr/>
        </p:nvGrpSpPr>
        <p:grpSpPr>
          <a:xfrm>
            <a:off x="-726527" y="-894556"/>
            <a:ext cx="19356819" cy="1572121"/>
            <a:chOff x="0" y="-57150"/>
            <a:chExt cx="5098092" cy="414057"/>
          </a:xfrm>
        </p:grpSpPr>
        <p:sp>
          <p:nvSpPr>
            <p:cNvPr id="553" name="Google Shape;553;p30"/>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30"/>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5" name="Google Shape;555;p30"/>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56" name="Google Shape;556;p30"/>
          <p:cNvPicPr preferRelativeResize="0"/>
          <p:nvPr/>
        </p:nvPicPr>
        <p:blipFill rotWithShape="1">
          <a:blip r:embed="rId4">
            <a:alphaModFix/>
          </a:blip>
          <a:srcRect b="0" l="0" r="0" t="0"/>
          <a:stretch/>
        </p:blipFill>
        <p:spPr>
          <a:xfrm>
            <a:off x="751618" y="2625147"/>
            <a:ext cx="16784763" cy="2223944"/>
          </a:xfrm>
          <a:prstGeom prst="rect">
            <a:avLst/>
          </a:prstGeom>
          <a:noFill/>
          <a:ln>
            <a:noFill/>
          </a:ln>
        </p:spPr>
      </p:pic>
      <p:pic>
        <p:nvPicPr>
          <p:cNvPr id="557" name="Google Shape;557;p30"/>
          <p:cNvPicPr preferRelativeResize="0"/>
          <p:nvPr/>
        </p:nvPicPr>
        <p:blipFill rotWithShape="1">
          <a:blip r:embed="rId5">
            <a:alphaModFix/>
          </a:blip>
          <a:srcRect b="0" l="0" r="0" t="0"/>
          <a:stretch/>
        </p:blipFill>
        <p:spPr>
          <a:xfrm>
            <a:off x="5374737" y="6195844"/>
            <a:ext cx="8449403" cy="2307276"/>
          </a:xfrm>
          <a:prstGeom prst="rect">
            <a:avLst/>
          </a:prstGeom>
          <a:noFill/>
          <a:ln>
            <a:noFill/>
          </a:ln>
        </p:spPr>
      </p:pic>
      <p:sp>
        <p:nvSpPr>
          <p:cNvPr id="558" name="Google Shape;558;p30"/>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4 backlog</a:t>
            </a:r>
            <a:endParaRPr sz="4400">
              <a:solidFill>
                <a:srgbClr val="051D40"/>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grpSp>
        <p:nvGrpSpPr>
          <p:cNvPr id="563" name="Google Shape;563;p31"/>
          <p:cNvGrpSpPr/>
          <p:nvPr/>
        </p:nvGrpSpPr>
        <p:grpSpPr>
          <a:xfrm>
            <a:off x="-726527" y="-894556"/>
            <a:ext cx="19356819" cy="1572121"/>
            <a:chOff x="0" y="-57150"/>
            <a:chExt cx="5098092" cy="414057"/>
          </a:xfrm>
        </p:grpSpPr>
        <p:sp>
          <p:nvSpPr>
            <p:cNvPr id="564" name="Google Shape;564;p31"/>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31"/>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6" name="Google Shape;566;p31"/>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4 Burndown chart</a:t>
            </a:r>
            <a:endParaRPr sz="4400">
              <a:solidFill>
                <a:srgbClr val="051D40"/>
              </a:solidFill>
              <a:latin typeface="Poppins"/>
              <a:ea typeface="Poppins"/>
              <a:cs typeface="Poppins"/>
              <a:sym typeface="Poppins"/>
            </a:endParaRPr>
          </a:p>
        </p:txBody>
      </p:sp>
      <p:graphicFrame>
        <p:nvGraphicFramePr>
          <p:cNvPr id="567" name="Google Shape;567;p31"/>
          <p:cNvGraphicFramePr/>
          <p:nvPr/>
        </p:nvGraphicFramePr>
        <p:xfrm>
          <a:off x="1789082" y="2247900"/>
          <a:ext cx="14325600" cy="7099373"/>
        </p:xfrm>
        <a:graphic>
          <a:graphicData uri="http://schemas.openxmlformats.org/drawingml/2006/chart">
            <c:chart r:id="rId3"/>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grpSp>
        <p:nvGrpSpPr>
          <p:cNvPr id="572" name="Google Shape;572;p32"/>
          <p:cNvGrpSpPr/>
          <p:nvPr/>
        </p:nvGrpSpPr>
        <p:grpSpPr>
          <a:xfrm>
            <a:off x="1990858" y="6970248"/>
            <a:ext cx="26156933" cy="14619813"/>
            <a:chOff x="0" y="0"/>
            <a:chExt cx="1507889" cy="842800"/>
          </a:xfrm>
        </p:grpSpPr>
        <p:sp>
          <p:nvSpPr>
            <p:cNvPr id="573" name="Google Shape;573;p32"/>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32"/>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5" name="Google Shape;575;p32"/>
          <p:cNvGrpSpPr/>
          <p:nvPr/>
        </p:nvGrpSpPr>
        <p:grpSpPr>
          <a:xfrm>
            <a:off x="-726527" y="-894556"/>
            <a:ext cx="19356819" cy="1572121"/>
            <a:chOff x="0" y="-57150"/>
            <a:chExt cx="5098092" cy="414057"/>
          </a:xfrm>
        </p:grpSpPr>
        <p:sp>
          <p:nvSpPr>
            <p:cNvPr id="576" name="Google Shape;576;p32"/>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32"/>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8" name="Google Shape;578;p32"/>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32"/>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4 impediment log</a:t>
            </a:r>
            <a:endParaRPr sz="4400">
              <a:solidFill>
                <a:srgbClr val="051D40"/>
              </a:solidFill>
              <a:latin typeface="Poppins"/>
              <a:ea typeface="Poppins"/>
              <a:cs typeface="Poppins"/>
              <a:sym typeface="Poppins"/>
            </a:endParaRPr>
          </a:p>
        </p:txBody>
      </p:sp>
      <p:pic>
        <p:nvPicPr>
          <p:cNvPr id="580" name="Google Shape;580;p32"/>
          <p:cNvPicPr preferRelativeResize="0"/>
          <p:nvPr/>
        </p:nvPicPr>
        <p:blipFill rotWithShape="1">
          <a:blip r:embed="rId4">
            <a:alphaModFix/>
          </a:blip>
          <a:srcRect b="0" l="0" r="0" t="0"/>
          <a:stretch/>
        </p:blipFill>
        <p:spPr>
          <a:xfrm>
            <a:off x="533396" y="2204282"/>
            <a:ext cx="17221207" cy="1752600"/>
          </a:xfrm>
          <a:prstGeom prst="rect">
            <a:avLst/>
          </a:prstGeom>
          <a:noFill/>
          <a:ln>
            <a:noFill/>
          </a:ln>
        </p:spPr>
      </p:pic>
      <p:pic>
        <p:nvPicPr>
          <p:cNvPr id="581" name="Google Shape;581;p32"/>
          <p:cNvPicPr preferRelativeResize="0"/>
          <p:nvPr/>
        </p:nvPicPr>
        <p:blipFill rotWithShape="1">
          <a:blip r:embed="rId5">
            <a:alphaModFix/>
          </a:blip>
          <a:srcRect b="0" l="0" r="0" t="0"/>
          <a:stretch/>
        </p:blipFill>
        <p:spPr>
          <a:xfrm>
            <a:off x="3657600" y="5521525"/>
            <a:ext cx="9930107" cy="2057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87" name="Google Shape;587;p33"/>
          <p:cNvGrpSpPr/>
          <p:nvPr/>
        </p:nvGrpSpPr>
        <p:grpSpPr>
          <a:xfrm rot="5400000">
            <a:off x="-1036236" y="-100579"/>
            <a:ext cx="12192397" cy="11275702"/>
            <a:chOff x="0" y="-38100"/>
            <a:chExt cx="3211166" cy="2969732"/>
          </a:xfrm>
        </p:grpSpPr>
        <p:sp>
          <p:nvSpPr>
            <p:cNvPr id="588" name="Google Shape;588;p33"/>
            <p:cNvSpPr/>
            <p:nvPr/>
          </p:nvSpPr>
          <p:spPr>
            <a:xfrm>
              <a:off x="0" y="0"/>
              <a:ext cx="3211166" cy="2931632"/>
            </a:xfrm>
            <a:custGeom>
              <a:rect b="b" l="l" r="r" t="t"/>
              <a:pathLst>
                <a:path extrusionOk="0"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33"/>
            <p:cNvSpPr txBox="1"/>
            <p:nvPr/>
          </p:nvSpPr>
          <p:spPr>
            <a:xfrm>
              <a:off x="0" y="-38100"/>
              <a:ext cx="3211166" cy="296973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0" name="Google Shape;590;p33"/>
          <p:cNvSpPr txBox="1"/>
          <p:nvPr/>
        </p:nvSpPr>
        <p:spPr>
          <a:xfrm>
            <a:off x="615390" y="4152900"/>
            <a:ext cx="7279369" cy="76590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3300">
                <a:solidFill>
                  <a:schemeClr val="lt1"/>
                </a:solidFill>
                <a:latin typeface="Calibri"/>
                <a:ea typeface="Calibri"/>
                <a:cs typeface="Calibri"/>
                <a:sym typeface="Calibri"/>
              </a:rPr>
              <a:t>Semana 14-15</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Pruebas Finales + Cierre</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Descripcion:</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Pruebas de campo con ≥3 nodos: cobertura, latencia y confiabilidad.</a:t>
            </a:r>
            <a:endParaRPr/>
          </a:p>
          <a:p>
            <a:pPr indent="0" lvl="0" marL="0" marR="0" rtl="0" algn="ctr">
              <a:spcBef>
                <a:spcPts val="0"/>
              </a:spcBef>
              <a:spcAft>
                <a:spcPts val="0"/>
              </a:spcAft>
              <a:buNone/>
            </a:pPr>
            <a:r>
              <a:rPr lang="es-MX" sz="3300">
                <a:solidFill>
                  <a:schemeClr val="lt1"/>
                </a:solidFill>
                <a:latin typeface="Calibri"/>
                <a:ea typeface="Calibri"/>
                <a:cs typeface="Calibri"/>
                <a:sym typeface="Calibri"/>
              </a:rPr>
              <a:t>Documentación, retrospectiva y preparación de demo final.</a:t>
            </a:r>
            <a:endParaRPr/>
          </a:p>
          <a:p>
            <a:pPr indent="0" lvl="0" marL="0" marR="0" rtl="0" algn="ctr">
              <a:spcBef>
                <a:spcPts val="0"/>
              </a:spcBef>
              <a:spcAft>
                <a:spcPts val="0"/>
              </a:spcAft>
              <a:buNone/>
            </a:pPr>
            <a:br>
              <a:rPr lang="es-MX" sz="3300">
                <a:solidFill>
                  <a:schemeClr val="lt1"/>
                </a:solidFill>
                <a:latin typeface="Calibri"/>
                <a:ea typeface="Calibri"/>
                <a:cs typeface="Calibri"/>
                <a:sym typeface="Calibri"/>
              </a:rPr>
            </a:br>
            <a:endParaRPr sz="3300">
              <a:solidFill>
                <a:schemeClr val="lt1"/>
              </a:solidFill>
              <a:latin typeface="Calibri"/>
              <a:ea typeface="Calibri"/>
              <a:cs typeface="Calibri"/>
              <a:sym typeface="Calibri"/>
            </a:endParaRPr>
          </a:p>
          <a:p>
            <a:pPr indent="0" lvl="0" marL="0" marR="0" rtl="0" algn="l">
              <a:spcBef>
                <a:spcPts val="0"/>
              </a:spcBef>
              <a:spcAft>
                <a:spcPts val="0"/>
              </a:spcAft>
              <a:buNone/>
            </a:pPr>
            <a:br>
              <a:rPr lang="es-MX" sz="3600">
                <a:solidFill>
                  <a:schemeClr val="dk1"/>
                </a:solidFill>
                <a:latin typeface="Calibri"/>
                <a:ea typeface="Calibri"/>
                <a:cs typeface="Calibri"/>
                <a:sym typeface="Calibri"/>
              </a:rPr>
            </a:br>
            <a:r>
              <a:rPr lang="es-MX" sz="3300">
                <a:solidFill>
                  <a:schemeClr val="lt1"/>
                </a:solidFill>
                <a:latin typeface="Calibri"/>
                <a:ea typeface="Calibri"/>
                <a:cs typeface="Calibri"/>
                <a:sym typeface="Calibri"/>
              </a:rPr>
              <a:t>.</a:t>
            </a:r>
            <a:endParaRPr/>
          </a:p>
          <a:p>
            <a:pPr indent="0" lvl="0" marL="0" marR="0" rtl="0" algn="l">
              <a:spcBef>
                <a:spcPts val="0"/>
              </a:spcBef>
              <a:spcAft>
                <a:spcPts val="0"/>
              </a:spcAft>
              <a:buNone/>
            </a:pPr>
            <a:br>
              <a:rPr lang="es-MX" sz="1800">
                <a:solidFill>
                  <a:schemeClr val="dk1"/>
                </a:solidFill>
                <a:latin typeface="Calibri"/>
                <a:ea typeface="Calibri"/>
                <a:cs typeface="Calibri"/>
                <a:sym typeface="Calibri"/>
              </a:rPr>
            </a:br>
            <a:br>
              <a:rPr lang="es-MX" sz="1800">
                <a:solidFill>
                  <a:schemeClr val="dk1"/>
                </a:solidFill>
                <a:latin typeface="Calibri"/>
                <a:ea typeface="Calibri"/>
                <a:cs typeface="Calibri"/>
                <a:sym typeface="Calibri"/>
              </a:rPr>
            </a:br>
            <a:endParaRPr sz="3600">
              <a:solidFill>
                <a:schemeClr val="dk1"/>
              </a:solidFill>
              <a:latin typeface="Calibri"/>
              <a:ea typeface="Calibri"/>
              <a:cs typeface="Calibri"/>
              <a:sym typeface="Calibri"/>
            </a:endParaRPr>
          </a:p>
          <a:p>
            <a:pPr indent="0" lvl="0" marL="0" marR="0" rtl="0" algn="l">
              <a:spcBef>
                <a:spcPts val="0"/>
              </a:spcBef>
              <a:spcAft>
                <a:spcPts val="0"/>
              </a:spcAft>
              <a:buNone/>
            </a:pPr>
            <a:br>
              <a:rPr lang="es-MX" sz="3600">
                <a:solidFill>
                  <a:schemeClr val="dk1"/>
                </a:solidFill>
                <a:latin typeface="Calibri"/>
                <a:ea typeface="Calibri"/>
                <a:cs typeface="Calibri"/>
                <a:sym typeface="Calibri"/>
              </a:rPr>
            </a:br>
            <a:endParaRPr sz="2370">
              <a:solidFill>
                <a:schemeClr val="lt1"/>
              </a:solidFill>
              <a:latin typeface="Inter"/>
              <a:ea typeface="Inter"/>
              <a:cs typeface="Inter"/>
              <a:sym typeface="Inter"/>
            </a:endParaRPr>
          </a:p>
        </p:txBody>
      </p:sp>
      <p:sp>
        <p:nvSpPr>
          <p:cNvPr id="591" name="Google Shape;591;p33"/>
          <p:cNvSpPr txBox="1"/>
          <p:nvPr/>
        </p:nvSpPr>
        <p:spPr>
          <a:xfrm>
            <a:off x="615390" y="2026777"/>
            <a:ext cx="7788620" cy="92333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4400">
                <a:solidFill>
                  <a:schemeClr val="lt1"/>
                </a:solidFill>
                <a:latin typeface="Calibri"/>
                <a:ea typeface="Calibri"/>
                <a:cs typeface="Calibri"/>
                <a:sym typeface="Calibri"/>
              </a:rPr>
              <a:t>Sprint  5– pruebas finales</a:t>
            </a:r>
            <a:br>
              <a:rPr lang="es-MX" sz="1600">
                <a:solidFill>
                  <a:schemeClr val="lt1"/>
                </a:solidFill>
                <a:latin typeface="Calibri"/>
                <a:ea typeface="Calibri"/>
                <a:cs typeface="Calibri"/>
                <a:sym typeface="Calibri"/>
              </a:rPr>
            </a:br>
            <a:r>
              <a:rPr b="1" lang="es-MX" sz="1600">
                <a:solidFill>
                  <a:schemeClr val="lt1"/>
                </a:solidFill>
                <a:latin typeface="Arial"/>
                <a:ea typeface="Arial"/>
                <a:cs typeface="Arial"/>
                <a:sym typeface="Arial"/>
              </a:rPr>
              <a:t> </a:t>
            </a:r>
            <a:endParaRPr/>
          </a:p>
        </p:txBody>
      </p:sp>
      <p:pic>
        <p:nvPicPr>
          <p:cNvPr id="592" name="Google Shape;592;p33"/>
          <p:cNvPicPr preferRelativeResize="0"/>
          <p:nvPr/>
        </p:nvPicPr>
        <p:blipFill rotWithShape="1">
          <a:blip r:embed="rId4">
            <a:alphaModFix/>
          </a:blip>
          <a:srcRect b="0" l="0" r="0" t="0"/>
          <a:stretch/>
        </p:blipFill>
        <p:spPr>
          <a:xfrm>
            <a:off x="9372600" y="2946126"/>
            <a:ext cx="7673797" cy="465145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grpSp>
        <p:nvGrpSpPr>
          <p:cNvPr id="597" name="Google Shape;597;p34"/>
          <p:cNvGrpSpPr/>
          <p:nvPr/>
        </p:nvGrpSpPr>
        <p:grpSpPr>
          <a:xfrm>
            <a:off x="1990858" y="6970248"/>
            <a:ext cx="26156933" cy="14619813"/>
            <a:chOff x="0" y="0"/>
            <a:chExt cx="1507889" cy="842800"/>
          </a:xfrm>
        </p:grpSpPr>
        <p:sp>
          <p:nvSpPr>
            <p:cNvPr id="598" name="Google Shape;598;p34"/>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34"/>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0" name="Google Shape;600;p34"/>
          <p:cNvGrpSpPr/>
          <p:nvPr/>
        </p:nvGrpSpPr>
        <p:grpSpPr>
          <a:xfrm>
            <a:off x="-726527" y="-894556"/>
            <a:ext cx="19356819" cy="1572121"/>
            <a:chOff x="0" y="-57150"/>
            <a:chExt cx="5098092" cy="414057"/>
          </a:xfrm>
        </p:grpSpPr>
        <p:sp>
          <p:nvSpPr>
            <p:cNvPr id="601" name="Google Shape;601;p34"/>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34"/>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3" name="Google Shape;603;p34"/>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34"/>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5 backlog</a:t>
            </a:r>
            <a:endParaRPr sz="4400">
              <a:solidFill>
                <a:srgbClr val="051D40"/>
              </a:solidFill>
              <a:latin typeface="Poppins"/>
              <a:ea typeface="Poppins"/>
              <a:cs typeface="Poppins"/>
              <a:sym typeface="Poppins"/>
            </a:endParaRPr>
          </a:p>
        </p:txBody>
      </p:sp>
      <p:pic>
        <p:nvPicPr>
          <p:cNvPr id="605" name="Google Shape;605;p34"/>
          <p:cNvPicPr preferRelativeResize="0"/>
          <p:nvPr/>
        </p:nvPicPr>
        <p:blipFill rotWithShape="1">
          <a:blip r:embed="rId4">
            <a:alphaModFix/>
          </a:blip>
          <a:srcRect b="0" l="0" r="0" t="0"/>
          <a:stretch/>
        </p:blipFill>
        <p:spPr>
          <a:xfrm>
            <a:off x="625860" y="2621683"/>
            <a:ext cx="17246160" cy="2186788"/>
          </a:xfrm>
          <a:prstGeom prst="rect">
            <a:avLst/>
          </a:prstGeom>
          <a:noFill/>
          <a:ln>
            <a:noFill/>
          </a:ln>
        </p:spPr>
      </p:pic>
      <p:pic>
        <p:nvPicPr>
          <p:cNvPr id="606" name="Google Shape;606;p34"/>
          <p:cNvPicPr preferRelativeResize="0"/>
          <p:nvPr/>
        </p:nvPicPr>
        <p:blipFill rotWithShape="1">
          <a:blip r:embed="rId5">
            <a:alphaModFix/>
          </a:blip>
          <a:srcRect b="0" l="0" r="0" t="0"/>
          <a:stretch/>
        </p:blipFill>
        <p:spPr>
          <a:xfrm>
            <a:off x="4953000" y="5810154"/>
            <a:ext cx="8066874" cy="232018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grpSp>
        <p:nvGrpSpPr>
          <p:cNvPr id="611" name="Google Shape;611;p35"/>
          <p:cNvGrpSpPr/>
          <p:nvPr/>
        </p:nvGrpSpPr>
        <p:grpSpPr>
          <a:xfrm>
            <a:off x="-726527" y="-894556"/>
            <a:ext cx="19356819" cy="1572121"/>
            <a:chOff x="0" y="-57150"/>
            <a:chExt cx="5098092" cy="414057"/>
          </a:xfrm>
        </p:grpSpPr>
        <p:sp>
          <p:nvSpPr>
            <p:cNvPr id="612" name="Google Shape;612;p35"/>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35"/>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4" name="Google Shape;614;p35"/>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5 Burndown chart</a:t>
            </a:r>
            <a:endParaRPr sz="4400">
              <a:solidFill>
                <a:srgbClr val="051D40"/>
              </a:solidFill>
              <a:latin typeface="Poppins"/>
              <a:ea typeface="Poppins"/>
              <a:cs typeface="Poppins"/>
              <a:sym typeface="Poppins"/>
            </a:endParaRPr>
          </a:p>
        </p:txBody>
      </p:sp>
      <p:graphicFrame>
        <p:nvGraphicFramePr>
          <p:cNvPr id="615" name="Google Shape;615;p35"/>
          <p:cNvGraphicFramePr/>
          <p:nvPr/>
        </p:nvGraphicFramePr>
        <p:xfrm>
          <a:off x="2362200" y="1945162"/>
          <a:ext cx="13264272" cy="7381200"/>
        </p:xfrm>
        <a:graphic>
          <a:graphicData uri="http://schemas.openxmlformats.org/drawingml/2006/chart">
            <c:chart r:id="rId3"/>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grpSp>
        <p:nvGrpSpPr>
          <p:cNvPr id="620" name="Google Shape;620;p36"/>
          <p:cNvGrpSpPr/>
          <p:nvPr/>
        </p:nvGrpSpPr>
        <p:grpSpPr>
          <a:xfrm>
            <a:off x="1990858" y="6970248"/>
            <a:ext cx="26156933" cy="14619813"/>
            <a:chOff x="0" y="0"/>
            <a:chExt cx="1507889" cy="842800"/>
          </a:xfrm>
        </p:grpSpPr>
        <p:sp>
          <p:nvSpPr>
            <p:cNvPr id="621" name="Google Shape;621;p36"/>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36"/>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23" name="Google Shape;623;p36"/>
          <p:cNvGrpSpPr/>
          <p:nvPr/>
        </p:nvGrpSpPr>
        <p:grpSpPr>
          <a:xfrm>
            <a:off x="-726527" y="-894556"/>
            <a:ext cx="19356819" cy="1572121"/>
            <a:chOff x="0" y="-57150"/>
            <a:chExt cx="5098092" cy="414057"/>
          </a:xfrm>
        </p:grpSpPr>
        <p:sp>
          <p:nvSpPr>
            <p:cNvPr id="624" name="Google Shape;624;p36"/>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36"/>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6" name="Google Shape;626;p36"/>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36"/>
          <p:cNvSpPr txBox="1"/>
          <p:nvPr/>
        </p:nvSpPr>
        <p:spPr>
          <a:xfrm>
            <a:off x="1066800" y="590032"/>
            <a:ext cx="8725768" cy="761875"/>
          </a:xfrm>
          <a:prstGeom prst="rect">
            <a:avLst/>
          </a:prstGeom>
          <a:noFill/>
          <a:ln>
            <a:noFill/>
          </a:ln>
        </p:spPr>
        <p:txBody>
          <a:bodyPr anchorCtr="0" anchor="t" bIns="0" lIns="0" spcFirstLastPara="1" rIns="0" wrap="square" tIns="0">
            <a:spAutoFit/>
          </a:bodyPr>
          <a:lstStyle/>
          <a:p>
            <a:pPr indent="0" lvl="0" marL="0" marR="0" rtl="0" algn="l">
              <a:lnSpc>
                <a:spcPct val="143181"/>
              </a:lnSpc>
              <a:spcBef>
                <a:spcPts val="0"/>
              </a:spcBef>
              <a:spcAft>
                <a:spcPts val="0"/>
              </a:spcAft>
              <a:buNone/>
            </a:pPr>
            <a:r>
              <a:rPr lang="es-MX" sz="4400">
                <a:solidFill>
                  <a:schemeClr val="dk1"/>
                </a:solidFill>
                <a:latin typeface="Calibri"/>
                <a:ea typeface="Calibri"/>
                <a:cs typeface="Calibri"/>
                <a:sym typeface="Calibri"/>
              </a:rPr>
              <a:t>Sprint 5 impediment log</a:t>
            </a:r>
            <a:endParaRPr sz="4400">
              <a:solidFill>
                <a:srgbClr val="051D40"/>
              </a:solidFill>
              <a:latin typeface="Poppins"/>
              <a:ea typeface="Poppins"/>
              <a:cs typeface="Poppins"/>
              <a:sym typeface="Poppins"/>
            </a:endParaRPr>
          </a:p>
        </p:txBody>
      </p:sp>
      <p:pic>
        <p:nvPicPr>
          <p:cNvPr id="628" name="Google Shape;628;p36"/>
          <p:cNvPicPr preferRelativeResize="0"/>
          <p:nvPr/>
        </p:nvPicPr>
        <p:blipFill rotWithShape="1">
          <a:blip r:embed="rId4">
            <a:alphaModFix/>
          </a:blip>
          <a:srcRect b="0" l="0" r="0" t="0"/>
          <a:stretch/>
        </p:blipFill>
        <p:spPr>
          <a:xfrm>
            <a:off x="367675" y="2933700"/>
            <a:ext cx="17552649" cy="1572121"/>
          </a:xfrm>
          <a:prstGeom prst="rect">
            <a:avLst/>
          </a:prstGeom>
          <a:noFill/>
          <a:ln>
            <a:noFill/>
          </a:ln>
        </p:spPr>
      </p:pic>
      <p:pic>
        <p:nvPicPr>
          <p:cNvPr id="629" name="Google Shape;629;p36"/>
          <p:cNvPicPr preferRelativeResize="0"/>
          <p:nvPr/>
        </p:nvPicPr>
        <p:blipFill rotWithShape="1">
          <a:blip r:embed="rId5">
            <a:alphaModFix/>
          </a:blip>
          <a:srcRect b="0" l="0" r="0" t="0"/>
          <a:stretch/>
        </p:blipFill>
        <p:spPr>
          <a:xfrm>
            <a:off x="4191000" y="6179908"/>
            <a:ext cx="9653922" cy="164921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grpSp>
        <p:nvGrpSpPr>
          <p:cNvPr id="634" name="Google Shape;634;p37"/>
          <p:cNvGrpSpPr/>
          <p:nvPr/>
        </p:nvGrpSpPr>
        <p:grpSpPr>
          <a:xfrm>
            <a:off x="-726527" y="-894556"/>
            <a:ext cx="19356819" cy="1572121"/>
            <a:chOff x="0" y="-57150"/>
            <a:chExt cx="5098092" cy="414057"/>
          </a:xfrm>
        </p:grpSpPr>
        <p:sp>
          <p:nvSpPr>
            <p:cNvPr id="635" name="Google Shape;635;p37"/>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37"/>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7" name="Google Shape;637;p37"/>
          <p:cNvSpPr txBox="1"/>
          <p:nvPr/>
        </p:nvSpPr>
        <p:spPr>
          <a:xfrm>
            <a:off x="4495800" y="957972"/>
            <a:ext cx="8725768" cy="7675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s-MX" sz="4500">
                <a:solidFill>
                  <a:srgbClr val="051D40"/>
                </a:solidFill>
                <a:latin typeface="Poppins"/>
                <a:ea typeface="Poppins"/>
                <a:cs typeface="Poppins"/>
                <a:sym typeface="Poppins"/>
              </a:rPr>
              <a:t>Carta Gantt</a:t>
            </a:r>
            <a:endParaRPr/>
          </a:p>
        </p:txBody>
      </p:sp>
      <p:pic>
        <p:nvPicPr>
          <p:cNvPr id="638" name="Google Shape;638;p37"/>
          <p:cNvPicPr preferRelativeResize="0"/>
          <p:nvPr/>
        </p:nvPicPr>
        <p:blipFill rotWithShape="1">
          <a:blip r:embed="rId3">
            <a:alphaModFix/>
          </a:blip>
          <a:srcRect b="0" l="0" r="0" t="0"/>
          <a:stretch/>
        </p:blipFill>
        <p:spPr>
          <a:xfrm>
            <a:off x="169921" y="1945162"/>
            <a:ext cx="17948158" cy="705673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grpSp>
        <p:nvGrpSpPr>
          <p:cNvPr id="643" name="Google Shape;643;p38"/>
          <p:cNvGrpSpPr/>
          <p:nvPr/>
        </p:nvGrpSpPr>
        <p:grpSpPr>
          <a:xfrm>
            <a:off x="1990858" y="6970248"/>
            <a:ext cx="26156933" cy="14619813"/>
            <a:chOff x="0" y="0"/>
            <a:chExt cx="1507889" cy="842800"/>
          </a:xfrm>
        </p:grpSpPr>
        <p:sp>
          <p:nvSpPr>
            <p:cNvPr id="644" name="Google Shape;644;p38"/>
            <p:cNvSpPr/>
            <p:nvPr/>
          </p:nvSpPr>
          <p:spPr>
            <a:xfrm>
              <a:off x="0" y="0"/>
              <a:ext cx="1507889" cy="842800"/>
            </a:xfrm>
            <a:custGeom>
              <a:rect b="b" l="l" r="r" t="t"/>
              <a:pathLst>
                <a:path extrusionOk="0" h="842800" w="1507889">
                  <a:moveTo>
                    <a:pt x="753945" y="0"/>
                  </a:moveTo>
                  <a:cubicBezTo>
                    <a:pt x="337552" y="0"/>
                    <a:pt x="0" y="188667"/>
                    <a:pt x="0" y="421400"/>
                  </a:cubicBezTo>
                  <a:cubicBezTo>
                    <a:pt x="0" y="654133"/>
                    <a:pt x="337552" y="842800"/>
                    <a:pt x="753945" y="842800"/>
                  </a:cubicBezTo>
                  <a:cubicBezTo>
                    <a:pt x="1170337" y="842800"/>
                    <a:pt x="1507889" y="654133"/>
                    <a:pt x="1507889" y="421400"/>
                  </a:cubicBezTo>
                  <a:cubicBezTo>
                    <a:pt x="1507889" y="188667"/>
                    <a:pt x="1170337" y="0"/>
                    <a:pt x="753945" y="0"/>
                  </a:cubicBez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38"/>
            <p:cNvSpPr txBox="1"/>
            <p:nvPr/>
          </p:nvSpPr>
          <p:spPr>
            <a:xfrm>
              <a:off x="141365" y="21862"/>
              <a:ext cx="1225160" cy="7419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46" name="Google Shape;646;p38"/>
          <p:cNvGrpSpPr/>
          <p:nvPr/>
        </p:nvGrpSpPr>
        <p:grpSpPr>
          <a:xfrm>
            <a:off x="-726527" y="-894556"/>
            <a:ext cx="19356819" cy="1572121"/>
            <a:chOff x="0" y="-57150"/>
            <a:chExt cx="5098092" cy="414057"/>
          </a:xfrm>
        </p:grpSpPr>
        <p:sp>
          <p:nvSpPr>
            <p:cNvPr id="647" name="Google Shape;647;p38"/>
            <p:cNvSpPr/>
            <p:nvPr/>
          </p:nvSpPr>
          <p:spPr>
            <a:xfrm>
              <a:off x="0" y="0"/>
              <a:ext cx="5098092" cy="356907"/>
            </a:xfrm>
            <a:custGeom>
              <a:rect b="b" l="l" r="r" t="t"/>
              <a:pathLst>
                <a:path extrusionOk="0" h="356907" w="5098092">
                  <a:moveTo>
                    <a:pt x="0" y="0"/>
                  </a:moveTo>
                  <a:lnTo>
                    <a:pt x="5098092" y="0"/>
                  </a:lnTo>
                  <a:lnTo>
                    <a:pt x="5098092" y="356907"/>
                  </a:lnTo>
                  <a:lnTo>
                    <a:pt x="0" y="356907"/>
                  </a:lnTo>
                  <a:close/>
                </a:path>
              </a:pathLst>
            </a:custGeom>
            <a:solidFill>
              <a:srgbClr val="5B98B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38"/>
            <p:cNvSpPr txBox="1"/>
            <p:nvPr/>
          </p:nvSpPr>
          <p:spPr>
            <a:xfrm>
              <a:off x="0" y="-57150"/>
              <a:ext cx="5098092" cy="4140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9" name="Google Shape;649;p38"/>
          <p:cNvSpPr/>
          <p:nvPr/>
        </p:nvSpPr>
        <p:spPr>
          <a:xfrm>
            <a:off x="9443472" y="7768542"/>
            <a:ext cx="6603718" cy="1304234"/>
          </a:xfrm>
          <a:custGeom>
            <a:rect b="b" l="l" r="r" t="t"/>
            <a:pathLst>
              <a:path extrusionOk="0" h="1304234" w="6603718">
                <a:moveTo>
                  <a:pt x="0" y="0"/>
                </a:moveTo>
                <a:lnTo>
                  <a:pt x="6603717" y="0"/>
                </a:lnTo>
                <a:lnTo>
                  <a:pt x="6603717" y="1304234"/>
                </a:lnTo>
                <a:lnTo>
                  <a:pt x="0" y="13042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38"/>
          <p:cNvSpPr txBox="1"/>
          <p:nvPr/>
        </p:nvSpPr>
        <p:spPr>
          <a:xfrm>
            <a:off x="4876800" y="677565"/>
            <a:ext cx="8725768" cy="7675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s-MX" sz="4500">
                <a:solidFill>
                  <a:srgbClr val="051D40"/>
                </a:solidFill>
                <a:latin typeface="Poppins"/>
                <a:ea typeface="Poppins"/>
                <a:cs typeface="Poppins"/>
                <a:sym typeface="Poppins"/>
              </a:rPr>
              <a:t>Presupuesto</a:t>
            </a:r>
            <a:endParaRPr sz="4500">
              <a:solidFill>
                <a:srgbClr val="051D40"/>
              </a:solidFill>
              <a:latin typeface="Poppins"/>
              <a:ea typeface="Poppins"/>
              <a:cs typeface="Poppins"/>
              <a:sym typeface="Poppins"/>
            </a:endParaRPr>
          </a:p>
        </p:txBody>
      </p:sp>
      <p:pic>
        <p:nvPicPr>
          <p:cNvPr id="651" name="Google Shape;651;p38"/>
          <p:cNvPicPr preferRelativeResize="0"/>
          <p:nvPr/>
        </p:nvPicPr>
        <p:blipFill rotWithShape="1">
          <a:blip r:embed="rId4">
            <a:alphaModFix/>
          </a:blip>
          <a:srcRect b="0" l="0" r="0" t="0"/>
          <a:stretch/>
        </p:blipFill>
        <p:spPr>
          <a:xfrm>
            <a:off x="2682742" y="2320561"/>
            <a:ext cx="13639800" cy="731661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39"/>
          <p:cNvSpPr/>
          <p:nvPr/>
        </p:nvSpPr>
        <p:spPr>
          <a:xfrm>
            <a:off x="-1"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57" name="Google Shape;657;p39"/>
          <p:cNvGrpSpPr/>
          <p:nvPr/>
        </p:nvGrpSpPr>
        <p:grpSpPr>
          <a:xfrm rot="5400000">
            <a:off x="7152352" y="-3899260"/>
            <a:ext cx="4127957" cy="8319987"/>
            <a:chOff x="0" y="-38100"/>
            <a:chExt cx="1087198" cy="2191272"/>
          </a:xfrm>
        </p:grpSpPr>
        <p:sp>
          <p:nvSpPr>
            <p:cNvPr id="658" name="Google Shape;658;p39"/>
            <p:cNvSpPr/>
            <p:nvPr/>
          </p:nvSpPr>
          <p:spPr>
            <a:xfrm>
              <a:off x="0" y="0"/>
              <a:ext cx="1087198" cy="2153172"/>
            </a:xfrm>
            <a:custGeom>
              <a:rect b="b" l="l" r="r" t="t"/>
              <a:pathLst>
                <a:path extrusionOk="0" h="2153172" w="1087198">
                  <a:moveTo>
                    <a:pt x="52514" y="0"/>
                  </a:moveTo>
                  <a:lnTo>
                    <a:pt x="1034685" y="0"/>
                  </a:lnTo>
                  <a:cubicBezTo>
                    <a:pt x="1063687" y="0"/>
                    <a:pt x="1087198" y="23511"/>
                    <a:pt x="1087198" y="52514"/>
                  </a:cubicBezTo>
                  <a:lnTo>
                    <a:pt x="1087198" y="2100659"/>
                  </a:lnTo>
                  <a:cubicBezTo>
                    <a:pt x="1087198" y="2114586"/>
                    <a:pt x="1081666" y="2127943"/>
                    <a:pt x="1071818" y="2137791"/>
                  </a:cubicBezTo>
                  <a:cubicBezTo>
                    <a:pt x="1061969" y="2147640"/>
                    <a:pt x="1048612" y="2153172"/>
                    <a:pt x="1034685" y="2153172"/>
                  </a:cubicBezTo>
                  <a:lnTo>
                    <a:pt x="52514" y="2153172"/>
                  </a:lnTo>
                  <a:cubicBezTo>
                    <a:pt x="23511" y="2153172"/>
                    <a:pt x="0" y="2129661"/>
                    <a:pt x="0" y="2100659"/>
                  </a:cubicBezTo>
                  <a:lnTo>
                    <a:pt x="0" y="52514"/>
                  </a:lnTo>
                  <a:cubicBezTo>
                    <a:pt x="0" y="23511"/>
                    <a:pt x="23511" y="0"/>
                    <a:pt x="52514"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39"/>
            <p:cNvSpPr txBox="1"/>
            <p:nvPr/>
          </p:nvSpPr>
          <p:spPr>
            <a:xfrm>
              <a:off x="0" y="-38100"/>
              <a:ext cx="1087198" cy="2191272"/>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0" name="Google Shape;660;p39"/>
          <p:cNvSpPr txBox="1"/>
          <p:nvPr/>
        </p:nvSpPr>
        <p:spPr>
          <a:xfrm>
            <a:off x="5332382" y="503712"/>
            <a:ext cx="8043941" cy="1147365"/>
          </a:xfrm>
          <a:prstGeom prst="rect">
            <a:avLst/>
          </a:prstGeom>
          <a:noFill/>
          <a:ln>
            <a:noFill/>
          </a:ln>
        </p:spPr>
        <p:txBody>
          <a:bodyPr anchorCtr="0" anchor="t" bIns="0" lIns="0" spcFirstLastPara="1" rIns="0" wrap="square" tIns="0">
            <a:spAutoFit/>
          </a:bodyPr>
          <a:lstStyle/>
          <a:p>
            <a:pPr indent="0" lvl="0" marL="0" marR="0" rtl="0" algn="ctr">
              <a:lnSpc>
                <a:spcPct val="124012"/>
              </a:lnSpc>
              <a:spcBef>
                <a:spcPts val="0"/>
              </a:spcBef>
              <a:spcAft>
                <a:spcPts val="0"/>
              </a:spcAft>
              <a:buNone/>
            </a:pPr>
            <a:r>
              <a:rPr b="1" lang="es-MX" sz="7621">
                <a:solidFill>
                  <a:srgbClr val="FFFFFF"/>
                </a:solidFill>
                <a:latin typeface="Arial"/>
                <a:ea typeface="Arial"/>
                <a:cs typeface="Arial"/>
                <a:sym typeface="Arial"/>
              </a:rPr>
              <a:t>Tablero kanban</a:t>
            </a:r>
            <a:endParaRPr/>
          </a:p>
        </p:txBody>
      </p:sp>
      <p:sp>
        <p:nvSpPr>
          <p:cNvPr id="661" name="Google Shape;661;p39"/>
          <p:cNvSpPr txBox="1"/>
          <p:nvPr/>
        </p:nvSpPr>
        <p:spPr>
          <a:xfrm rot="5400000">
            <a:off x="11166961" y="2498313"/>
            <a:ext cx="4915500" cy="7558499"/>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662" name="Google Shape;662;p39"/>
          <p:cNvPicPr preferRelativeResize="0"/>
          <p:nvPr/>
        </p:nvPicPr>
        <p:blipFill rotWithShape="1">
          <a:blip r:embed="rId4">
            <a:alphaModFix/>
          </a:blip>
          <a:srcRect b="0" l="0" r="0" t="0"/>
          <a:stretch/>
        </p:blipFill>
        <p:spPr>
          <a:xfrm>
            <a:off x="1113700" y="2552700"/>
            <a:ext cx="16060598" cy="711456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0"/>
          <p:cNvSpPr/>
          <p:nvPr/>
        </p:nvSpPr>
        <p:spPr>
          <a:xfrm rot="-9183395">
            <a:off x="14227549" y="-282885"/>
            <a:ext cx="5457911" cy="2728956"/>
          </a:xfrm>
          <a:custGeom>
            <a:rect b="b" l="l" r="r" t="t"/>
            <a:pathLst>
              <a:path extrusionOk="0" h="2728956" w="5457911">
                <a:moveTo>
                  <a:pt x="0" y="0"/>
                </a:moveTo>
                <a:lnTo>
                  <a:pt x="5457912" y="0"/>
                </a:lnTo>
                <a:lnTo>
                  <a:pt x="5457912" y="2728956"/>
                </a:lnTo>
                <a:lnTo>
                  <a:pt x="0" y="27289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0"/>
          <p:cNvSpPr/>
          <p:nvPr/>
        </p:nvSpPr>
        <p:spPr>
          <a:xfrm>
            <a:off x="-2728956" y="7893822"/>
            <a:ext cx="5457911" cy="2728956"/>
          </a:xfrm>
          <a:custGeom>
            <a:rect b="b" l="l" r="r" t="t"/>
            <a:pathLst>
              <a:path extrusionOk="0" h="2728956" w="5457911">
                <a:moveTo>
                  <a:pt x="0" y="0"/>
                </a:moveTo>
                <a:lnTo>
                  <a:pt x="5457912" y="0"/>
                </a:lnTo>
                <a:lnTo>
                  <a:pt x="5457912" y="2728956"/>
                </a:lnTo>
                <a:lnTo>
                  <a:pt x="0" y="27289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40"/>
          <p:cNvSpPr txBox="1"/>
          <p:nvPr/>
        </p:nvSpPr>
        <p:spPr>
          <a:xfrm>
            <a:off x="5391246" y="1528582"/>
            <a:ext cx="6462636" cy="891810"/>
          </a:xfrm>
          <a:prstGeom prst="rect">
            <a:avLst/>
          </a:prstGeom>
          <a:noFill/>
          <a:ln>
            <a:noFill/>
          </a:ln>
        </p:spPr>
        <p:txBody>
          <a:bodyPr anchorCtr="0" anchor="t" bIns="0" lIns="0" spcFirstLastPara="1" rIns="0" wrap="square" tIns="0">
            <a:spAutoFit/>
          </a:bodyPr>
          <a:lstStyle/>
          <a:p>
            <a:pPr indent="0" lvl="0" marL="0" marR="0" rtl="0" algn="ctr">
              <a:lnSpc>
                <a:spcPct val="114001"/>
              </a:lnSpc>
              <a:spcBef>
                <a:spcPts val="0"/>
              </a:spcBef>
              <a:spcAft>
                <a:spcPts val="0"/>
              </a:spcAft>
              <a:buNone/>
            </a:pPr>
            <a:r>
              <a:rPr b="1" lang="es-MX" sz="6128">
                <a:solidFill>
                  <a:srgbClr val="21396D"/>
                </a:solidFill>
                <a:latin typeface="Arial"/>
                <a:ea typeface="Arial"/>
                <a:cs typeface="Arial"/>
                <a:sym typeface="Arial"/>
              </a:rPr>
              <a:t>El Equipo</a:t>
            </a:r>
            <a:endParaRPr/>
          </a:p>
        </p:txBody>
      </p:sp>
      <p:sp>
        <p:nvSpPr>
          <p:cNvPr id="670" name="Google Shape;670;p40"/>
          <p:cNvSpPr txBox="1"/>
          <p:nvPr/>
        </p:nvSpPr>
        <p:spPr>
          <a:xfrm>
            <a:off x="3920000" y="7866608"/>
            <a:ext cx="2828335" cy="87870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1800">
                <a:solidFill>
                  <a:schemeClr val="dk1"/>
                </a:solidFill>
                <a:latin typeface="DM Sans"/>
                <a:ea typeface="DM Sans"/>
                <a:cs typeface="DM Sans"/>
                <a:sym typeface="DM Sans"/>
              </a:rPr>
              <a:t>Development Team (DT)</a:t>
            </a:r>
            <a:endParaRPr sz="2000">
              <a:solidFill>
                <a:schemeClr val="dk1"/>
              </a:solidFill>
              <a:latin typeface="DM Sans"/>
              <a:ea typeface="DM Sans"/>
              <a:cs typeface="DM Sans"/>
              <a:sym typeface="DM Sans"/>
            </a:endParaRPr>
          </a:p>
          <a:p>
            <a:pPr indent="0" lvl="0" marL="0" marR="0" rtl="0" algn="l">
              <a:spcBef>
                <a:spcPts val="0"/>
              </a:spcBef>
              <a:spcAft>
                <a:spcPts val="0"/>
              </a:spcAft>
              <a:buNone/>
            </a:pPr>
            <a:br>
              <a:rPr lang="es-MX" sz="2000">
                <a:solidFill>
                  <a:schemeClr val="dk1"/>
                </a:solidFill>
                <a:latin typeface="Calibri"/>
                <a:ea typeface="Calibri"/>
                <a:cs typeface="Calibri"/>
                <a:sym typeface="Calibri"/>
              </a:rPr>
            </a:br>
            <a:endParaRPr sz="1910">
              <a:solidFill>
                <a:srgbClr val="070605"/>
              </a:solidFill>
              <a:latin typeface="DM Sans"/>
              <a:ea typeface="DM Sans"/>
              <a:cs typeface="DM Sans"/>
              <a:sym typeface="DM Sans"/>
            </a:endParaRPr>
          </a:p>
        </p:txBody>
      </p:sp>
      <p:pic>
        <p:nvPicPr>
          <p:cNvPr id="671" name="Google Shape;671;p40"/>
          <p:cNvPicPr preferRelativeResize="0"/>
          <p:nvPr/>
        </p:nvPicPr>
        <p:blipFill rotWithShape="1">
          <a:blip r:embed="rId4">
            <a:alphaModFix/>
          </a:blip>
          <a:srcRect b="0" l="0" r="0" t="0"/>
          <a:stretch/>
        </p:blipFill>
        <p:spPr>
          <a:xfrm>
            <a:off x="7514987" y="3993644"/>
            <a:ext cx="2806413" cy="3550967"/>
          </a:xfrm>
          <a:prstGeom prst="rect">
            <a:avLst/>
          </a:prstGeom>
          <a:noFill/>
          <a:ln>
            <a:noFill/>
          </a:ln>
        </p:spPr>
      </p:pic>
      <p:grpSp>
        <p:nvGrpSpPr>
          <p:cNvPr id="672" name="Google Shape;672;p40"/>
          <p:cNvGrpSpPr/>
          <p:nvPr/>
        </p:nvGrpSpPr>
        <p:grpSpPr>
          <a:xfrm>
            <a:off x="7514985" y="6864696"/>
            <a:ext cx="2828335" cy="670844"/>
            <a:chOff x="0" y="-38100"/>
            <a:chExt cx="902987" cy="214177"/>
          </a:xfrm>
        </p:grpSpPr>
        <p:sp>
          <p:nvSpPr>
            <p:cNvPr id="673" name="Google Shape;673;p40"/>
            <p:cNvSpPr/>
            <p:nvPr/>
          </p:nvSpPr>
          <p:spPr>
            <a:xfrm>
              <a:off x="0" y="0"/>
              <a:ext cx="902987" cy="176077"/>
            </a:xfrm>
            <a:custGeom>
              <a:rect b="b" l="l" r="r" t="t"/>
              <a:pathLst>
                <a:path extrusionOk="0" h="176077" w="902987">
                  <a:moveTo>
                    <a:pt x="0" y="0"/>
                  </a:moveTo>
                  <a:lnTo>
                    <a:pt x="902987" y="0"/>
                  </a:lnTo>
                  <a:lnTo>
                    <a:pt x="902987" y="176077"/>
                  </a:lnTo>
                  <a:lnTo>
                    <a:pt x="0" y="176077"/>
                  </a:lnTo>
                  <a:close/>
                </a:path>
              </a:pathLst>
            </a:custGeom>
            <a:solidFill>
              <a:srgbClr val="2139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40"/>
            <p:cNvSpPr txBox="1"/>
            <p:nvPr/>
          </p:nvSpPr>
          <p:spPr>
            <a:xfrm>
              <a:off x="0" y="-38100"/>
              <a:ext cx="902987" cy="214177"/>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lang="es-MX" sz="2630">
                  <a:solidFill>
                    <a:srgbClr val="FFFFFF"/>
                  </a:solidFill>
                  <a:latin typeface="DM Sans"/>
                  <a:ea typeface="DM Sans"/>
                  <a:cs typeface="DM Sans"/>
                  <a:sym typeface="DM Sans"/>
                </a:rPr>
                <a:t>Claudio Escobar</a:t>
              </a:r>
              <a:endParaRPr/>
            </a:p>
          </p:txBody>
        </p:sp>
      </p:grpSp>
      <p:sp>
        <p:nvSpPr>
          <p:cNvPr id="675" name="Google Shape;675;p40"/>
          <p:cNvSpPr/>
          <p:nvPr/>
        </p:nvSpPr>
        <p:spPr>
          <a:xfrm>
            <a:off x="9440105" y="6096832"/>
            <a:ext cx="903215" cy="891719"/>
          </a:xfrm>
          <a:custGeom>
            <a:rect b="b" l="l" r="r" t="t"/>
            <a:pathLst>
              <a:path extrusionOk="0" h="891719" w="903215">
                <a:moveTo>
                  <a:pt x="0" y="0"/>
                </a:moveTo>
                <a:lnTo>
                  <a:pt x="903214" y="0"/>
                </a:lnTo>
                <a:lnTo>
                  <a:pt x="903214" y="891719"/>
                </a:lnTo>
                <a:lnTo>
                  <a:pt x="0" y="89171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40"/>
          <p:cNvSpPr/>
          <p:nvPr/>
        </p:nvSpPr>
        <p:spPr>
          <a:xfrm rot="10800000">
            <a:off x="7514985" y="3993572"/>
            <a:ext cx="903215" cy="891719"/>
          </a:xfrm>
          <a:custGeom>
            <a:rect b="b" l="l" r="r" t="t"/>
            <a:pathLst>
              <a:path extrusionOk="0" h="891719" w="903215">
                <a:moveTo>
                  <a:pt x="903215" y="891719"/>
                </a:moveTo>
                <a:lnTo>
                  <a:pt x="0" y="891719"/>
                </a:lnTo>
                <a:lnTo>
                  <a:pt x="0" y="0"/>
                </a:lnTo>
                <a:lnTo>
                  <a:pt x="903215" y="0"/>
                </a:lnTo>
                <a:lnTo>
                  <a:pt x="903215" y="891719"/>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40"/>
          <p:cNvSpPr txBox="1"/>
          <p:nvPr/>
        </p:nvSpPr>
        <p:spPr>
          <a:xfrm>
            <a:off x="7514985" y="7873124"/>
            <a:ext cx="2828335" cy="87870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1800">
                <a:solidFill>
                  <a:schemeClr val="dk1"/>
                </a:solidFill>
                <a:latin typeface="DM Sans"/>
                <a:ea typeface="DM Sans"/>
                <a:cs typeface="DM Sans"/>
                <a:sym typeface="DM Sans"/>
              </a:rPr>
              <a:t>Scrum Master(SM)</a:t>
            </a:r>
            <a:endParaRPr sz="2000">
              <a:solidFill>
                <a:schemeClr val="dk1"/>
              </a:solidFill>
              <a:latin typeface="DM Sans"/>
              <a:ea typeface="DM Sans"/>
              <a:cs typeface="DM Sans"/>
              <a:sym typeface="DM Sans"/>
            </a:endParaRPr>
          </a:p>
          <a:p>
            <a:pPr indent="0" lvl="0" marL="0" marR="0" rtl="0" algn="l">
              <a:spcBef>
                <a:spcPts val="0"/>
              </a:spcBef>
              <a:spcAft>
                <a:spcPts val="0"/>
              </a:spcAft>
              <a:buNone/>
            </a:pPr>
            <a:br>
              <a:rPr lang="es-MX" sz="2000">
                <a:solidFill>
                  <a:schemeClr val="dk1"/>
                </a:solidFill>
                <a:latin typeface="Calibri"/>
                <a:ea typeface="Calibri"/>
                <a:cs typeface="Calibri"/>
                <a:sym typeface="Calibri"/>
              </a:rPr>
            </a:br>
            <a:endParaRPr sz="1910">
              <a:solidFill>
                <a:srgbClr val="070605"/>
              </a:solidFill>
              <a:latin typeface="DM Sans"/>
              <a:ea typeface="DM Sans"/>
              <a:cs typeface="DM Sans"/>
              <a:sym typeface="DM Sans"/>
            </a:endParaRPr>
          </a:p>
        </p:txBody>
      </p:sp>
      <p:pic>
        <p:nvPicPr>
          <p:cNvPr descr="Imagen en blanco y negro de un joven con una playera de color negro&#10;&#10;El contenido generado por IA puede ser incorrecto." id="678" name="Google Shape;678;p40"/>
          <p:cNvPicPr preferRelativeResize="0"/>
          <p:nvPr/>
        </p:nvPicPr>
        <p:blipFill rotWithShape="1">
          <a:blip r:embed="rId6">
            <a:alphaModFix/>
          </a:blip>
          <a:srcRect b="0" l="0" r="0" t="0"/>
          <a:stretch/>
        </p:blipFill>
        <p:spPr>
          <a:xfrm>
            <a:off x="11517738" y="3981149"/>
            <a:ext cx="2853889" cy="3550967"/>
          </a:xfrm>
          <a:prstGeom prst="rect">
            <a:avLst/>
          </a:prstGeom>
          <a:noFill/>
          <a:ln>
            <a:noFill/>
          </a:ln>
        </p:spPr>
      </p:pic>
      <p:grpSp>
        <p:nvGrpSpPr>
          <p:cNvPr id="679" name="Google Shape;679;p40"/>
          <p:cNvGrpSpPr/>
          <p:nvPr/>
        </p:nvGrpSpPr>
        <p:grpSpPr>
          <a:xfrm>
            <a:off x="11524843" y="6780369"/>
            <a:ext cx="2856008" cy="755447"/>
            <a:chOff x="0" y="-38100"/>
            <a:chExt cx="911822" cy="241188"/>
          </a:xfrm>
        </p:grpSpPr>
        <p:sp>
          <p:nvSpPr>
            <p:cNvPr id="680" name="Google Shape;680;p40"/>
            <p:cNvSpPr/>
            <p:nvPr/>
          </p:nvSpPr>
          <p:spPr>
            <a:xfrm>
              <a:off x="8835" y="27011"/>
              <a:ext cx="902987" cy="176077"/>
            </a:xfrm>
            <a:custGeom>
              <a:rect b="b" l="l" r="r" t="t"/>
              <a:pathLst>
                <a:path extrusionOk="0" h="176077" w="902987">
                  <a:moveTo>
                    <a:pt x="0" y="0"/>
                  </a:moveTo>
                  <a:lnTo>
                    <a:pt x="902987" y="0"/>
                  </a:lnTo>
                  <a:lnTo>
                    <a:pt x="902987" y="176077"/>
                  </a:lnTo>
                  <a:lnTo>
                    <a:pt x="0" y="176077"/>
                  </a:lnTo>
                  <a:close/>
                </a:path>
              </a:pathLst>
            </a:custGeom>
            <a:solidFill>
              <a:srgbClr val="2139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40"/>
            <p:cNvSpPr txBox="1"/>
            <p:nvPr/>
          </p:nvSpPr>
          <p:spPr>
            <a:xfrm>
              <a:off x="0" y="-38100"/>
              <a:ext cx="902987" cy="214177"/>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lang="es-MX" sz="2630">
                  <a:solidFill>
                    <a:srgbClr val="FFFFFF"/>
                  </a:solidFill>
                  <a:latin typeface="DM Sans"/>
                  <a:ea typeface="DM Sans"/>
                  <a:cs typeface="DM Sans"/>
                  <a:sym typeface="DM Sans"/>
                </a:rPr>
                <a:t>Carlos De Ferrari</a:t>
              </a:r>
              <a:endParaRPr/>
            </a:p>
          </p:txBody>
        </p:sp>
      </p:grpSp>
      <p:sp>
        <p:nvSpPr>
          <p:cNvPr id="682" name="Google Shape;682;p40"/>
          <p:cNvSpPr/>
          <p:nvPr/>
        </p:nvSpPr>
        <p:spPr>
          <a:xfrm>
            <a:off x="13464477" y="6096832"/>
            <a:ext cx="903215" cy="891719"/>
          </a:xfrm>
          <a:custGeom>
            <a:rect b="b" l="l" r="r" t="t"/>
            <a:pathLst>
              <a:path extrusionOk="0" h="891719" w="903215">
                <a:moveTo>
                  <a:pt x="0" y="0"/>
                </a:moveTo>
                <a:lnTo>
                  <a:pt x="903215" y="0"/>
                </a:lnTo>
                <a:lnTo>
                  <a:pt x="903215" y="891719"/>
                </a:lnTo>
                <a:lnTo>
                  <a:pt x="0" y="89171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40"/>
          <p:cNvSpPr/>
          <p:nvPr/>
        </p:nvSpPr>
        <p:spPr>
          <a:xfrm rot="10800000">
            <a:off x="11524843" y="3981149"/>
            <a:ext cx="903215" cy="891719"/>
          </a:xfrm>
          <a:custGeom>
            <a:rect b="b" l="l" r="r" t="t"/>
            <a:pathLst>
              <a:path extrusionOk="0" h="891719" w="903215">
                <a:moveTo>
                  <a:pt x="903214" y="891719"/>
                </a:moveTo>
                <a:lnTo>
                  <a:pt x="0" y="891719"/>
                </a:lnTo>
                <a:lnTo>
                  <a:pt x="0" y="0"/>
                </a:lnTo>
                <a:lnTo>
                  <a:pt x="903214" y="0"/>
                </a:lnTo>
                <a:lnTo>
                  <a:pt x="903214" y="891719"/>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40"/>
          <p:cNvSpPr txBox="1"/>
          <p:nvPr/>
        </p:nvSpPr>
        <p:spPr>
          <a:xfrm>
            <a:off x="11552516" y="7813690"/>
            <a:ext cx="2828335" cy="327440"/>
          </a:xfrm>
          <a:prstGeom prst="rect">
            <a:avLst/>
          </a:prstGeom>
          <a:noFill/>
          <a:ln>
            <a:noFill/>
          </a:ln>
        </p:spPr>
        <p:txBody>
          <a:bodyPr anchorCtr="0" anchor="t" bIns="0" lIns="0" spcFirstLastPara="1" rIns="0" wrap="square" tIns="0">
            <a:spAutoFit/>
          </a:bodyPr>
          <a:lstStyle/>
          <a:p>
            <a:pPr indent="0" lvl="0" marL="0" marR="0" rtl="0" algn="ctr">
              <a:lnSpc>
                <a:spcPct val="148611"/>
              </a:lnSpc>
              <a:spcBef>
                <a:spcPts val="0"/>
              </a:spcBef>
              <a:spcAft>
                <a:spcPts val="0"/>
              </a:spcAft>
              <a:buNone/>
            </a:pPr>
            <a:r>
              <a:rPr lang="es-MX" sz="1800">
                <a:solidFill>
                  <a:schemeClr val="dk1"/>
                </a:solidFill>
                <a:latin typeface="DM Sans"/>
                <a:ea typeface="DM Sans"/>
                <a:cs typeface="DM Sans"/>
                <a:sym typeface="DM Sans"/>
              </a:rPr>
              <a:t>Product Owner(PO)</a:t>
            </a:r>
            <a:endParaRPr sz="1910">
              <a:solidFill>
                <a:srgbClr val="070605"/>
              </a:solidFill>
              <a:latin typeface="DM Sans"/>
              <a:ea typeface="DM Sans"/>
              <a:cs typeface="DM Sans"/>
              <a:sym typeface="DM Sans"/>
            </a:endParaRPr>
          </a:p>
        </p:txBody>
      </p:sp>
      <p:pic>
        <p:nvPicPr>
          <p:cNvPr id="685" name="Google Shape;685;p40" title="WhatsApp Image 2025-12-02 at 9.45.42 PM.jpeg"/>
          <p:cNvPicPr preferRelativeResize="0"/>
          <p:nvPr/>
        </p:nvPicPr>
        <p:blipFill>
          <a:blip r:embed="rId7">
            <a:alphaModFix/>
          </a:blip>
          <a:stretch>
            <a:fillRect/>
          </a:stretch>
        </p:blipFill>
        <p:spPr>
          <a:xfrm>
            <a:off x="4114400" y="4034600"/>
            <a:ext cx="2806425" cy="3469049"/>
          </a:xfrm>
          <a:prstGeom prst="rect">
            <a:avLst/>
          </a:prstGeom>
          <a:noFill/>
          <a:ln>
            <a:noFill/>
          </a:ln>
        </p:spPr>
      </p:pic>
      <p:grpSp>
        <p:nvGrpSpPr>
          <p:cNvPr id="686" name="Google Shape;686;p40"/>
          <p:cNvGrpSpPr/>
          <p:nvPr/>
        </p:nvGrpSpPr>
        <p:grpSpPr>
          <a:xfrm>
            <a:off x="4089560" y="6864659"/>
            <a:ext cx="2842223" cy="670917"/>
            <a:chOff x="745466" y="31408"/>
            <a:chExt cx="907421" cy="214200"/>
          </a:xfrm>
        </p:grpSpPr>
        <p:sp>
          <p:nvSpPr>
            <p:cNvPr id="687" name="Google Shape;687;p40"/>
            <p:cNvSpPr/>
            <p:nvPr/>
          </p:nvSpPr>
          <p:spPr>
            <a:xfrm>
              <a:off x="749900" y="50472"/>
              <a:ext cx="902987" cy="176077"/>
            </a:xfrm>
            <a:custGeom>
              <a:rect b="b" l="l" r="r" t="t"/>
              <a:pathLst>
                <a:path extrusionOk="0" h="176077" w="902987">
                  <a:moveTo>
                    <a:pt x="0" y="0"/>
                  </a:moveTo>
                  <a:lnTo>
                    <a:pt x="902987" y="0"/>
                  </a:lnTo>
                  <a:lnTo>
                    <a:pt x="902987" y="176077"/>
                  </a:lnTo>
                  <a:lnTo>
                    <a:pt x="0" y="176077"/>
                  </a:lnTo>
                  <a:close/>
                </a:path>
              </a:pathLst>
            </a:custGeom>
            <a:solidFill>
              <a:srgbClr val="2139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40"/>
            <p:cNvSpPr txBox="1"/>
            <p:nvPr/>
          </p:nvSpPr>
          <p:spPr>
            <a:xfrm>
              <a:off x="745466" y="31408"/>
              <a:ext cx="903000" cy="2142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lang="es-MX" sz="2630">
                  <a:solidFill>
                    <a:srgbClr val="FFFFFF"/>
                  </a:solidFill>
                  <a:latin typeface="DM Sans"/>
                  <a:ea typeface="DM Sans"/>
                  <a:cs typeface="DM Sans"/>
                  <a:sym typeface="DM Sans"/>
                </a:rPr>
                <a:t>Renzo rios</a:t>
              </a:r>
              <a:endParaRPr/>
            </a:p>
          </p:txBody>
        </p:sp>
      </p:grpSp>
      <p:sp>
        <p:nvSpPr>
          <p:cNvPr id="689" name="Google Shape;689;p40"/>
          <p:cNvSpPr/>
          <p:nvPr/>
        </p:nvSpPr>
        <p:spPr>
          <a:xfrm rot="10800000">
            <a:off x="4120398" y="4034597"/>
            <a:ext cx="903215" cy="891719"/>
          </a:xfrm>
          <a:custGeom>
            <a:rect b="b" l="l" r="r" t="t"/>
            <a:pathLst>
              <a:path extrusionOk="0" h="891719" w="903215">
                <a:moveTo>
                  <a:pt x="903215" y="891719"/>
                </a:moveTo>
                <a:lnTo>
                  <a:pt x="0" y="891719"/>
                </a:lnTo>
                <a:lnTo>
                  <a:pt x="0" y="0"/>
                </a:lnTo>
                <a:lnTo>
                  <a:pt x="903215" y="0"/>
                </a:lnTo>
                <a:lnTo>
                  <a:pt x="903215" y="891719"/>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40"/>
          <p:cNvSpPr/>
          <p:nvPr/>
        </p:nvSpPr>
        <p:spPr>
          <a:xfrm>
            <a:off x="6028555" y="6096832"/>
            <a:ext cx="903215" cy="891719"/>
          </a:xfrm>
          <a:custGeom>
            <a:rect b="b" l="l" r="r" t="t"/>
            <a:pathLst>
              <a:path extrusionOk="0" h="891719" w="903215">
                <a:moveTo>
                  <a:pt x="0" y="0"/>
                </a:moveTo>
                <a:lnTo>
                  <a:pt x="903214" y="0"/>
                </a:lnTo>
                <a:lnTo>
                  <a:pt x="903214" y="891719"/>
                </a:lnTo>
                <a:lnTo>
                  <a:pt x="0" y="89171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41"/>
          <p:cNvSpPr txBox="1"/>
          <p:nvPr/>
        </p:nvSpPr>
        <p:spPr>
          <a:xfrm>
            <a:off x="2895600" y="4152900"/>
            <a:ext cx="11896462" cy="2168671"/>
          </a:xfrm>
          <a:prstGeom prst="rect">
            <a:avLst/>
          </a:prstGeom>
          <a:noFill/>
          <a:ln>
            <a:noFill/>
          </a:ln>
        </p:spPr>
        <p:txBody>
          <a:bodyPr anchorCtr="0" anchor="t" bIns="0" lIns="0" spcFirstLastPara="1" rIns="0" wrap="square" tIns="0">
            <a:spAutoFit/>
          </a:bodyPr>
          <a:lstStyle/>
          <a:p>
            <a:pPr indent="0" lvl="0" marL="0" marR="0" rtl="0" algn="ctr">
              <a:lnSpc>
                <a:spcPct val="190690"/>
              </a:lnSpc>
              <a:spcBef>
                <a:spcPts val="0"/>
              </a:spcBef>
              <a:spcAft>
                <a:spcPts val="0"/>
              </a:spcAft>
              <a:buNone/>
            </a:pPr>
            <a:r>
              <a:rPr lang="es-MX" sz="10000">
                <a:solidFill>
                  <a:schemeClr val="lt1"/>
                </a:solidFill>
                <a:latin typeface="Calibri"/>
                <a:ea typeface="Calibri"/>
                <a:cs typeface="Calibri"/>
                <a:sym typeface="Calibri"/>
              </a:rPr>
              <a:t>Demostración </a:t>
            </a:r>
            <a:endParaRPr b="1" sz="10000">
              <a:solidFill>
                <a:schemeClr val="lt1"/>
              </a:solidFill>
              <a:latin typeface="Arial"/>
              <a:ea typeface="Arial"/>
              <a:cs typeface="Arial"/>
              <a:sym typeface="Arial"/>
            </a:endParaRPr>
          </a:p>
        </p:txBody>
      </p:sp>
      <p:pic>
        <p:nvPicPr>
          <p:cNvPr descr="Logotipo&#10;&#10;El contenido generado por IA puede ser incorrecto." id="697" name="Google Shape;697;p41"/>
          <p:cNvPicPr preferRelativeResize="0"/>
          <p:nvPr/>
        </p:nvPicPr>
        <p:blipFill rotWithShape="1">
          <a:blip r:embed="rId4">
            <a:alphaModFix/>
          </a:blip>
          <a:srcRect b="0" l="0" r="0" t="0"/>
          <a:stretch/>
        </p:blipFill>
        <p:spPr>
          <a:xfrm>
            <a:off x="7087191" y="1778772"/>
            <a:ext cx="4113618" cy="347950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03" name="Google Shape;703;p42"/>
          <p:cNvGrpSpPr/>
          <p:nvPr/>
        </p:nvGrpSpPr>
        <p:grpSpPr>
          <a:xfrm rot="5400000">
            <a:off x="1192511" y="3845012"/>
            <a:ext cx="4742240" cy="5069863"/>
            <a:chOff x="0" y="-38100"/>
            <a:chExt cx="1248985" cy="1335273"/>
          </a:xfrm>
        </p:grpSpPr>
        <p:sp>
          <p:nvSpPr>
            <p:cNvPr id="704" name="Google Shape;704;p42"/>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42"/>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06" name="Google Shape;706;p42"/>
          <p:cNvGrpSpPr/>
          <p:nvPr/>
        </p:nvGrpSpPr>
        <p:grpSpPr>
          <a:xfrm rot="5400000">
            <a:off x="6845210" y="3845012"/>
            <a:ext cx="4742240" cy="5069863"/>
            <a:chOff x="0" y="-38100"/>
            <a:chExt cx="1248985" cy="1335273"/>
          </a:xfrm>
        </p:grpSpPr>
        <p:sp>
          <p:nvSpPr>
            <p:cNvPr id="707" name="Google Shape;707;p42"/>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42"/>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09" name="Google Shape;709;p42"/>
          <p:cNvGrpSpPr/>
          <p:nvPr/>
        </p:nvGrpSpPr>
        <p:grpSpPr>
          <a:xfrm rot="5400000">
            <a:off x="7152352" y="-3379481"/>
            <a:ext cx="4127957" cy="7280430"/>
            <a:chOff x="0" y="-38100"/>
            <a:chExt cx="1087198" cy="1917480"/>
          </a:xfrm>
        </p:grpSpPr>
        <p:sp>
          <p:nvSpPr>
            <p:cNvPr id="710" name="Google Shape;710;p42"/>
            <p:cNvSpPr/>
            <p:nvPr/>
          </p:nvSpPr>
          <p:spPr>
            <a:xfrm>
              <a:off x="0" y="0"/>
              <a:ext cx="1087198" cy="1879380"/>
            </a:xfrm>
            <a:custGeom>
              <a:rect b="b" l="l" r="r" t="t"/>
              <a:pathLst>
                <a:path extrusionOk="0" h="1879380" w="1087198">
                  <a:moveTo>
                    <a:pt x="52514" y="0"/>
                  </a:moveTo>
                  <a:lnTo>
                    <a:pt x="1034685" y="0"/>
                  </a:lnTo>
                  <a:cubicBezTo>
                    <a:pt x="1063687" y="0"/>
                    <a:pt x="1087198" y="23511"/>
                    <a:pt x="1087198" y="52514"/>
                  </a:cubicBezTo>
                  <a:lnTo>
                    <a:pt x="1087198" y="1826866"/>
                  </a:lnTo>
                  <a:cubicBezTo>
                    <a:pt x="1087198" y="1840794"/>
                    <a:pt x="1081666" y="1854151"/>
                    <a:pt x="1071818" y="1863999"/>
                  </a:cubicBezTo>
                  <a:cubicBezTo>
                    <a:pt x="1061969" y="1873847"/>
                    <a:pt x="1048612" y="1879380"/>
                    <a:pt x="1034685" y="1879380"/>
                  </a:cubicBezTo>
                  <a:lnTo>
                    <a:pt x="52514" y="1879380"/>
                  </a:lnTo>
                  <a:cubicBezTo>
                    <a:pt x="23511" y="1879380"/>
                    <a:pt x="0" y="1855869"/>
                    <a:pt x="0" y="1826866"/>
                  </a:cubicBezTo>
                  <a:lnTo>
                    <a:pt x="0" y="52514"/>
                  </a:lnTo>
                  <a:cubicBezTo>
                    <a:pt x="0" y="23511"/>
                    <a:pt x="23511" y="0"/>
                    <a:pt x="52514"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42"/>
            <p:cNvSpPr txBox="1"/>
            <p:nvPr/>
          </p:nvSpPr>
          <p:spPr>
            <a:xfrm>
              <a:off x="0" y="-38100"/>
              <a:ext cx="1087198" cy="1917480"/>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2" name="Google Shape;712;p42"/>
          <p:cNvSpPr txBox="1"/>
          <p:nvPr/>
        </p:nvSpPr>
        <p:spPr>
          <a:xfrm>
            <a:off x="1478816" y="4235469"/>
            <a:ext cx="4169629" cy="5283562"/>
          </a:xfrm>
          <a:prstGeom prst="rect">
            <a:avLst/>
          </a:prstGeom>
          <a:noFill/>
          <a:ln>
            <a:noFill/>
          </a:ln>
        </p:spPr>
        <p:txBody>
          <a:bodyPr anchorCtr="0" anchor="t" bIns="0" lIns="0" spcFirstLastPara="1" rIns="0" wrap="square" tIns="0">
            <a:spAutoFit/>
          </a:bodyPr>
          <a:lstStyle/>
          <a:p>
            <a:pPr indent="0" lvl="0" marL="0" marR="0" rtl="0" algn="ctr">
              <a:lnSpc>
                <a:spcPct val="161005"/>
              </a:lnSpc>
              <a:spcBef>
                <a:spcPts val="0"/>
              </a:spcBef>
              <a:spcAft>
                <a:spcPts val="0"/>
              </a:spcAft>
              <a:buNone/>
            </a:pPr>
            <a:r>
              <a:rPr lang="es-MX" sz="2367">
                <a:solidFill>
                  <a:srgbClr val="FFFFFF"/>
                </a:solidFill>
                <a:latin typeface="Inter"/>
                <a:ea typeface="Inter"/>
                <a:cs typeface="Inter"/>
                <a:sym typeface="Inter"/>
              </a:rPr>
              <a:t>Claudio Escobar</a:t>
            </a:r>
            <a:endParaRPr/>
          </a:p>
          <a:p>
            <a:pPr indent="0" lvl="0" marL="0" marR="0" rtl="0" algn="l">
              <a:spcBef>
                <a:spcPts val="0"/>
              </a:spcBef>
              <a:spcAft>
                <a:spcPts val="0"/>
              </a:spcAft>
              <a:buNone/>
            </a:pPr>
            <a:r>
              <a:rPr lang="es-MX" sz="2400">
                <a:solidFill>
                  <a:schemeClr val="lt1"/>
                </a:solidFill>
                <a:latin typeface="Calibri"/>
                <a:ea typeface="Calibri"/>
                <a:cs typeface="Calibri"/>
                <a:sym typeface="Calibri"/>
              </a:rPr>
              <a:t>Nuestro proyecto, aparte de ser innovador por implementar diversas tecnologías, permite compensar un problema , que afecta a las comunidades más alejadas. Permitiendo la conectividad de una manera más accesible y de una manera mas acorde a los nuevos tiempos </a:t>
            </a:r>
            <a:endParaRPr/>
          </a:p>
          <a:p>
            <a:pPr indent="0" lvl="0" marL="0" marR="0" rtl="0" algn="l">
              <a:spcBef>
                <a:spcPts val="0"/>
              </a:spcBef>
              <a:spcAft>
                <a:spcPts val="0"/>
              </a:spcAft>
              <a:buNone/>
            </a:pPr>
            <a:br>
              <a:rPr lang="es-MX" sz="2400">
                <a:solidFill>
                  <a:schemeClr val="lt1"/>
                </a:solidFill>
                <a:latin typeface="Calibri"/>
                <a:ea typeface="Calibri"/>
                <a:cs typeface="Calibri"/>
                <a:sym typeface="Calibri"/>
              </a:rPr>
            </a:br>
            <a:endParaRPr sz="2400">
              <a:solidFill>
                <a:schemeClr val="lt1"/>
              </a:solidFill>
              <a:latin typeface="Calibri"/>
              <a:ea typeface="Calibri"/>
              <a:cs typeface="Calibri"/>
              <a:sym typeface="Calibri"/>
            </a:endParaRPr>
          </a:p>
          <a:p>
            <a:pPr indent="0" lvl="0" marL="0" marR="0" rtl="0" algn="l">
              <a:spcBef>
                <a:spcPts val="0"/>
              </a:spcBef>
              <a:spcAft>
                <a:spcPts val="0"/>
              </a:spcAft>
              <a:buNone/>
            </a:pPr>
            <a:br>
              <a:rPr lang="es-MX" sz="2400">
                <a:solidFill>
                  <a:schemeClr val="dk1"/>
                </a:solidFill>
                <a:latin typeface="Calibri"/>
                <a:ea typeface="Calibri"/>
                <a:cs typeface="Calibri"/>
                <a:sym typeface="Calibri"/>
              </a:rPr>
            </a:br>
            <a:endParaRPr sz="2367">
              <a:solidFill>
                <a:srgbClr val="FFFFFF"/>
              </a:solidFill>
              <a:latin typeface="Inter"/>
              <a:ea typeface="Inter"/>
              <a:cs typeface="Inter"/>
              <a:sym typeface="Inter"/>
            </a:endParaRPr>
          </a:p>
        </p:txBody>
      </p:sp>
      <p:sp>
        <p:nvSpPr>
          <p:cNvPr id="713" name="Google Shape;713;p42"/>
          <p:cNvSpPr txBox="1"/>
          <p:nvPr/>
        </p:nvSpPr>
        <p:spPr>
          <a:xfrm>
            <a:off x="7059184" y="4255301"/>
            <a:ext cx="4169700" cy="4428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2400">
                <a:solidFill>
                  <a:schemeClr val="lt1"/>
                </a:solidFill>
                <a:latin typeface="Calibri"/>
                <a:ea typeface="Calibri"/>
                <a:cs typeface="Calibri"/>
                <a:sym typeface="Calibri"/>
              </a:rPr>
              <a:t>Carlos De Ferrari</a:t>
            </a:r>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rPr lang="es-MX" sz="2400">
                <a:solidFill>
                  <a:schemeClr val="lt1"/>
                </a:solidFill>
                <a:latin typeface="Calibri"/>
                <a:ea typeface="Calibri"/>
                <a:cs typeface="Calibri"/>
                <a:sym typeface="Calibri"/>
              </a:rPr>
              <a:t>PRAC, se consolida como un proyecto dedicado a situación complejas, lo que permite flexibilizar alternativas en momentos que las conectividades son clave, a pesar de tener que cambiar de stack de desarrollo se </a:t>
            </a:r>
            <a:r>
              <a:rPr lang="es-MX" sz="2400">
                <a:solidFill>
                  <a:schemeClr val="lt1"/>
                </a:solidFill>
                <a:latin typeface="Calibri"/>
                <a:ea typeface="Calibri"/>
                <a:cs typeface="Calibri"/>
                <a:sym typeface="Calibri"/>
              </a:rPr>
              <a:t>logró</a:t>
            </a:r>
            <a:r>
              <a:rPr lang="es-MX" sz="2400">
                <a:solidFill>
                  <a:schemeClr val="lt1"/>
                </a:solidFill>
                <a:latin typeface="Calibri"/>
                <a:ea typeface="Calibri"/>
                <a:cs typeface="Calibri"/>
                <a:sym typeface="Calibri"/>
              </a:rPr>
              <a:t> una </a:t>
            </a:r>
            <a:r>
              <a:rPr lang="es-MX" sz="2400">
                <a:solidFill>
                  <a:schemeClr val="lt1"/>
                </a:solidFill>
                <a:latin typeface="Calibri"/>
                <a:ea typeface="Calibri"/>
                <a:cs typeface="Calibri"/>
                <a:sym typeface="Calibri"/>
              </a:rPr>
              <a:t>aplicación</a:t>
            </a:r>
            <a:r>
              <a:rPr lang="es-MX" sz="2400">
                <a:solidFill>
                  <a:schemeClr val="lt1"/>
                </a:solidFill>
                <a:latin typeface="Calibri"/>
                <a:ea typeface="Calibri"/>
                <a:cs typeface="Calibri"/>
                <a:sym typeface="Calibri"/>
              </a:rPr>
              <a:t> funcional y eficiente.</a:t>
            </a:r>
            <a:br>
              <a:rPr lang="es-MX" sz="2400">
                <a:solidFill>
                  <a:schemeClr val="dk1"/>
                </a:solidFill>
                <a:latin typeface="Calibri"/>
                <a:ea typeface="Calibri"/>
                <a:cs typeface="Calibri"/>
                <a:sym typeface="Calibri"/>
              </a:rPr>
            </a:br>
            <a:endParaRPr sz="2367">
              <a:solidFill>
                <a:srgbClr val="FFFFFF"/>
              </a:solidFill>
              <a:latin typeface="Inter"/>
              <a:ea typeface="Inter"/>
              <a:cs typeface="Inter"/>
              <a:sym typeface="Inter"/>
            </a:endParaRPr>
          </a:p>
        </p:txBody>
      </p:sp>
      <p:sp>
        <p:nvSpPr>
          <p:cNvPr id="714" name="Google Shape;714;p42"/>
          <p:cNvSpPr txBox="1"/>
          <p:nvPr/>
        </p:nvSpPr>
        <p:spPr>
          <a:xfrm>
            <a:off x="5795706" y="513908"/>
            <a:ext cx="6696587" cy="1157433"/>
          </a:xfrm>
          <a:prstGeom prst="rect">
            <a:avLst/>
          </a:prstGeom>
          <a:noFill/>
          <a:ln>
            <a:noFill/>
          </a:ln>
        </p:spPr>
        <p:txBody>
          <a:bodyPr anchorCtr="0" anchor="t" bIns="0" lIns="0" spcFirstLastPara="1" rIns="0" wrap="square" tIns="0">
            <a:spAutoFit/>
          </a:bodyPr>
          <a:lstStyle/>
          <a:p>
            <a:pPr indent="0" lvl="0" marL="0" marR="0" rtl="0" algn="ctr">
              <a:lnSpc>
                <a:spcPct val="131263"/>
              </a:lnSpc>
              <a:spcBef>
                <a:spcPts val="0"/>
              </a:spcBef>
              <a:spcAft>
                <a:spcPts val="0"/>
              </a:spcAft>
              <a:buNone/>
            </a:pPr>
            <a:r>
              <a:rPr b="1" lang="es-MX" sz="7200">
                <a:solidFill>
                  <a:schemeClr val="lt1"/>
                </a:solidFill>
                <a:latin typeface="Calibri"/>
                <a:ea typeface="Calibri"/>
                <a:cs typeface="Calibri"/>
                <a:sym typeface="Calibri"/>
              </a:rPr>
              <a:t>Conclusión</a:t>
            </a:r>
            <a:endParaRPr b="1" sz="7200">
              <a:solidFill>
                <a:schemeClr val="lt1"/>
              </a:solidFill>
              <a:latin typeface="Calibri"/>
              <a:ea typeface="Calibri"/>
              <a:cs typeface="Calibri"/>
              <a:sym typeface="Calibri"/>
            </a:endParaRPr>
          </a:p>
        </p:txBody>
      </p:sp>
      <p:grpSp>
        <p:nvGrpSpPr>
          <p:cNvPr id="715" name="Google Shape;715;p42"/>
          <p:cNvGrpSpPr/>
          <p:nvPr/>
        </p:nvGrpSpPr>
        <p:grpSpPr>
          <a:xfrm rot="5400000">
            <a:off x="12497909" y="3845012"/>
            <a:ext cx="4742240" cy="5069863"/>
            <a:chOff x="0" y="-38100"/>
            <a:chExt cx="1248985" cy="1335273"/>
          </a:xfrm>
        </p:grpSpPr>
        <p:sp>
          <p:nvSpPr>
            <p:cNvPr id="716" name="Google Shape;716;p42"/>
            <p:cNvSpPr/>
            <p:nvPr/>
          </p:nvSpPr>
          <p:spPr>
            <a:xfrm>
              <a:off x="0" y="0"/>
              <a:ext cx="1248985" cy="1297173"/>
            </a:xfrm>
            <a:custGeom>
              <a:rect b="b" l="l" r="r" t="t"/>
              <a:pathLst>
                <a:path extrusionOk="0" h="1297173" w="1248985">
                  <a:moveTo>
                    <a:pt x="45711" y="0"/>
                  </a:moveTo>
                  <a:lnTo>
                    <a:pt x="1203274" y="0"/>
                  </a:lnTo>
                  <a:cubicBezTo>
                    <a:pt x="1215397" y="0"/>
                    <a:pt x="1227024" y="4816"/>
                    <a:pt x="1235597" y="13389"/>
                  </a:cubicBezTo>
                  <a:cubicBezTo>
                    <a:pt x="1244169" y="21961"/>
                    <a:pt x="1248985" y="33588"/>
                    <a:pt x="1248985" y="45711"/>
                  </a:cubicBezTo>
                  <a:lnTo>
                    <a:pt x="1248985" y="1251461"/>
                  </a:lnTo>
                  <a:cubicBezTo>
                    <a:pt x="1248985" y="1276707"/>
                    <a:pt x="1228519" y="1297173"/>
                    <a:pt x="1203274" y="1297173"/>
                  </a:cubicBezTo>
                  <a:lnTo>
                    <a:pt x="45711" y="1297173"/>
                  </a:lnTo>
                  <a:cubicBezTo>
                    <a:pt x="33588" y="1297173"/>
                    <a:pt x="21961" y="1292357"/>
                    <a:pt x="13389" y="1283784"/>
                  </a:cubicBezTo>
                  <a:cubicBezTo>
                    <a:pt x="4816" y="1275212"/>
                    <a:pt x="0" y="1263585"/>
                    <a:pt x="0" y="1251461"/>
                  </a:cubicBezTo>
                  <a:lnTo>
                    <a:pt x="0" y="45711"/>
                  </a:lnTo>
                  <a:cubicBezTo>
                    <a:pt x="0" y="33588"/>
                    <a:pt x="4816" y="21961"/>
                    <a:pt x="13389" y="13389"/>
                  </a:cubicBezTo>
                  <a:cubicBezTo>
                    <a:pt x="21961" y="4816"/>
                    <a:pt x="33588" y="0"/>
                    <a:pt x="45711" y="0"/>
                  </a:cubicBezTo>
                  <a:close/>
                </a:path>
              </a:pathLst>
            </a:custGeom>
            <a:solidFill>
              <a:srgbClr val="000A1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42"/>
            <p:cNvSpPr txBox="1"/>
            <p:nvPr/>
          </p:nvSpPr>
          <p:spPr>
            <a:xfrm>
              <a:off x="0" y="-38100"/>
              <a:ext cx="1248985" cy="1335273"/>
            </a:xfrm>
            <a:prstGeom prst="rect">
              <a:avLst/>
            </a:prstGeom>
            <a:noFill/>
            <a:ln>
              <a:noFill/>
            </a:ln>
          </p:spPr>
          <p:txBody>
            <a:bodyPr anchorCtr="0" anchor="ctr" bIns="50800" lIns="50800" spcFirstLastPara="1" rIns="50800" wrap="square" tIns="50800">
              <a:noAutofit/>
            </a:bodyPr>
            <a:lstStyle/>
            <a:p>
              <a:pPr indent="0" lvl="0" marL="0" marR="0" rtl="0" algn="ctr">
                <a:lnSpc>
                  <a:spcPct val="98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8" name="Google Shape;718;p42"/>
          <p:cNvSpPr txBox="1"/>
          <p:nvPr/>
        </p:nvSpPr>
        <p:spPr>
          <a:xfrm>
            <a:off x="12711884" y="4166484"/>
            <a:ext cx="4169700" cy="5536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s-MX" sz="2400">
                <a:solidFill>
                  <a:schemeClr val="lt1"/>
                </a:solidFill>
                <a:latin typeface="Calibri"/>
                <a:ea typeface="Calibri"/>
                <a:cs typeface="Calibri"/>
                <a:sym typeface="Calibri"/>
              </a:rPr>
              <a:t>Renzo RIos</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br>
              <a:rPr lang="es-MX" sz="2400">
                <a:solidFill>
                  <a:schemeClr val="lt1"/>
                </a:solidFill>
                <a:latin typeface="Calibri"/>
                <a:ea typeface="Calibri"/>
                <a:cs typeface="Calibri"/>
                <a:sym typeface="Calibri"/>
              </a:rPr>
            </a:br>
            <a:endParaRPr sz="24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MX" sz="2400">
                <a:solidFill>
                  <a:schemeClr val="lt1"/>
                </a:solidFill>
                <a:latin typeface="Calibri"/>
                <a:ea typeface="Calibri"/>
                <a:cs typeface="Calibri"/>
                <a:sym typeface="Calibri"/>
              </a:rPr>
              <a:t>La integración de LoRaMesh con una aplicación móvil es un proyecto desafiante que ofrece una solución innovadora para conectividad en emergencias, aunque la mayor dificultad fue que los tiempos no coinciden entre los integrantes del equipo.</a:t>
            </a:r>
            <a:endParaRPr sz="24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br>
              <a:rPr lang="es-MX" sz="2400">
                <a:solidFill>
                  <a:schemeClr val="dk1"/>
                </a:solidFill>
                <a:latin typeface="Calibri"/>
                <a:ea typeface="Calibri"/>
                <a:cs typeface="Calibri"/>
                <a:sym typeface="Calibri"/>
              </a:rPr>
            </a:br>
            <a:endParaRPr sz="2367">
              <a:solidFill>
                <a:srgbClr val="FFFFFF"/>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866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43"/>
          <p:cNvSpPr txBox="1"/>
          <p:nvPr/>
        </p:nvSpPr>
        <p:spPr>
          <a:xfrm>
            <a:off x="3195769" y="5676900"/>
            <a:ext cx="11896462" cy="2398362"/>
          </a:xfrm>
          <a:prstGeom prst="rect">
            <a:avLst/>
          </a:prstGeom>
          <a:noFill/>
          <a:ln>
            <a:noFill/>
          </a:ln>
        </p:spPr>
        <p:txBody>
          <a:bodyPr anchorCtr="0" anchor="t" bIns="0" lIns="0" spcFirstLastPara="1" rIns="0" wrap="square" tIns="0">
            <a:spAutoFit/>
          </a:bodyPr>
          <a:lstStyle/>
          <a:p>
            <a:pPr indent="0" lvl="0" marL="0" marR="0" rtl="0" algn="ctr">
              <a:lnSpc>
                <a:spcPct val="124001"/>
              </a:lnSpc>
              <a:spcBef>
                <a:spcPts val="0"/>
              </a:spcBef>
              <a:spcAft>
                <a:spcPts val="0"/>
              </a:spcAft>
              <a:buNone/>
            </a:pPr>
            <a:r>
              <a:rPr b="1" lang="es-MX" sz="15378">
                <a:solidFill>
                  <a:srgbClr val="FFFFFF"/>
                </a:solidFill>
                <a:latin typeface="Arial"/>
                <a:ea typeface="Arial"/>
                <a:cs typeface="Arial"/>
                <a:sym typeface="Arial"/>
              </a:rPr>
              <a:t>GRACIAS</a:t>
            </a:r>
            <a:endParaRPr/>
          </a:p>
        </p:txBody>
      </p:sp>
      <p:pic>
        <p:nvPicPr>
          <p:cNvPr descr="Logotipo&#10;&#10;El contenido generado por IA puede ser incorrecto." id="725" name="Google Shape;725;p43"/>
          <p:cNvPicPr preferRelativeResize="0"/>
          <p:nvPr/>
        </p:nvPicPr>
        <p:blipFill rotWithShape="1">
          <a:blip r:embed="rId4">
            <a:alphaModFix/>
          </a:blip>
          <a:srcRect b="0" l="0" r="0" t="0"/>
          <a:stretch/>
        </p:blipFill>
        <p:spPr>
          <a:xfrm>
            <a:off x="6934200" y="2211738"/>
            <a:ext cx="4113618" cy="34795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